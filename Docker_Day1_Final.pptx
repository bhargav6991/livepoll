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xml" ContentType="application/vnd.openxmlformats-officedocument.drawingml.chart+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Welcome" id="{F2897B93-ACB0-F407-B2F5-70E3A4C4F5EA}">
          <p14:sldIdLst>
            <p14:sldId id="256"/>
            <p14:sldId id="257"/>
            <p14:sldId id="258"/>
            <p14:sldId id="259"/>
            <p14:sldId id="260"/>
          </p14:sldIdLst>
        </p14:section>
        <p14:section name="2 · Why containers?" id="{6F9D7375-2D62-56FB-8496-FE74E33CBB2C}">
          <p14:sldIdLst>
            <p14:sldId id="261"/>
            <p14:sldId id="262"/>
            <p14:sldId id="263"/>
            <p14:sldId id="264"/>
            <p14:sldId id="265"/>
          </p14:sldIdLst>
        </p14:section>
        <p14:section name="3 · Containers and VMs" id="{AC450E63-739F-9C04-E5B3-601B7AA5A414}">
          <p14:sldIdLst>
            <p14:sldId id="266"/>
            <p14:sldId id="267"/>
            <p14:sldId id="268"/>
            <p14:sldId id="269"/>
            <p14:sldId id="270"/>
            <p14:sldId id="271"/>
          </p14:sldIdLst>
        </p14:section>
        <p14:section name="4 · Docker fundamentals" id="{B2E338B3-0927-3D0A-9138-7196961D12D4}">
          <p14:sldIdLst>
            <p14:sldId id="272"/>
            <p14:sldId id="273"/>
            <p14:sldId id="274"/>
            <p14:sldId id="275"/>
            <p14:sldId id="276"/>
            <p14:sldId id="277"/>
            <p14:sldId id="278"/>
            <p14:sldId id="279"/>
            <p14:sldId id="280"/>
          </p14:sldIdLst>
        </p14:section>
        <p14:section name="5 · Container lifecycle" id="{D58F370F-3B8E-BB73-409C-499B4FBFA545}">
          <p14:sldIdLst>
            <p14:sldId id="281"/>
            <p14:sldId id="282"/>
            <p14:sldId id="283"/>
            <p14:sldId id="284"/>
          </p14:sldIdLst>
        </p14:section>
        <p14:section name="6 · Docker images" id="{C5151560-ADA9-0E4A-9961-9DF901427E65}">
          <p14:sldIdLst>
            <p14:sldId id="285"/>
            <p14:sldId id="286"/>
            <p14:sldId id="287"/>
            <p14:sldId id="288"/>
            <p14:sldId id="289"/>
            <p14:sldId id="290"/>
            <p14:sldId id="291"/>
            <p14:sldId id="292"/>
          </p14:sldIdLst>
        </p14:section>
        <p14:section name="7 · Git and GitHub" id="{0A65697F-FAEC-E42C-5427-B422BC476A85}">
          <p14:sldIdLst>
            <p14:sldId id="293"/>
            <p14:sldId id="294"/>
            <p14:sldId id="295"/>
            <p14:sldId id="296"/>
            <p14:sldId id="297"/>
            <p14:sldId id="298"/>
          </p14:sldIdLst>
        </p14:section>
        <p14:section name="8 · Image optimization" id="{8A2B83A0-E8D1-93F3-27E0-F46565404CBD}">
          <p14:sldIdLst>
            <p14:sldId id="299"/>
            <p14:sldId id="300"/>
            <p14:sldId id="301"/>
            <p14:sldId id="302"/>
            <p14:sldId id="303"/>
          </p14:sldIdLst>
        </p14:section>
        <p14:section name="9 · Wrap-up" id="{964334A7-DC2A-0F63-A1A4-44F0E9BD38AC}">
          <p14:sldIdLst>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F1F5FB"/>
                </a:solidFill>
                <a:latin typeface="+mn-lt"/>
              </a:defRPr>
            </a:pPr>
            <a:r>
              <a:rPr lang="en-US" sz="1300" b="0" i="0" u="none" strike="noStrike">
                <a:solidFill>
                  <a:srgbClr val="F1F5FB"/>
                </a:solidFill>
                <a:latin typeface="+mn-lt"/>
              </a:rPr>
              <a:t>Same Python, three base images (approx.)</a:t>
            </a:r>
          </a:p>
        </c:rich>
      </c:tx>
      <c:overlay val="0"/>
    </c:title>
    <c:autoTitleDeleted val="0"/>
    <c:plotArea>
      <c:layout/>
      <c:barChart>
        <c:barDir val="bar"/>
        <c:grouping val="clustered"/>
        <c:varyColors val="0"/>
        <c:ser>
          <c:idx val="0"/>
          <c:order val="0"/>
          <c:tx>
            <c:strRef>
              <c:f>Sheet1!$B$1</c:f>
              <c:strCache>
                <c:ptCount val="1"/>
                <c:pt idx="0">
                  <c:v>Approx. size (MB)</c:v>
                </c:pt>
              </c:strCache>
            </c:strRef>
          </c:tx>
          <c:spPr>
            <a:solidFill>
              <a:srgbClr val="2496ED"/>
            </a:solidFill>
            <a:effectLst/>
          </c:spPr>
          <c:invertIfNegative val="0"/>
          <c:dLbls>
            <c:numFmt formatCode="#,##0&quot; MB&quot;" sourceLinked="0"/>
            <c:spPr>
              <a:noFill/>
              <a:ln>
                <a:noFill/>
              </a:ln>
              <a:effectLst/>
            </c:spPr>
            <c:txPr>
              <a:bodyPr/>
              <a:lstStyle/>
              <a:p>
                <a:pPr>
                  <a:defRPr sz="1200" b="0" i="0" u="none" strike="noStrike">
                    <a:solidFill>
                      <a:srgbClr val="F1F5F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python:3.12</c:v>
                </c:pt>
                <c:pt idx="1">
                  <c:v>python:3.12-slim</c:v>
                </c:pt>
                <c:pt idx="2">
                  <c:v>python:3.12-alpine</c:v>
                </c:pt>
              </c:strCache>
            </c:strRef>
          </c:cat>
          <c:val>
            <c:numRef>
              <c:f>Sheet1!$B$2:$B$4</c:f>
              <c:numCache>
                <c:formatCode>General</c:formatCode>
                <c:ptCount val="3"/>
                <c:pt idx="0">
                  <c:v>1000</c:v>
                </c:pt>
                <c:pt idx="1">
                  <c:v>150</c:v>
                </c:pt>
                <c:pt idx="2">
                  <c:v>60</c:v>
                </c:pt>
              </c:numCache>
            </c:numRef>
          </c:val>
          <c:extLst>
            <c:ext xmlns:c16="http://schemas.microsoft.com/office/drawing/2014/chart" uri="{C3380CC4-5D6E-409C-BE32-E72D297353CC}">
              <c16:uniqueId val="{00000000-D3F4-477B-AE29-4C1906F55C80}"/>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763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hands-on: by the end of the day every one of you will have built, run, broken and fixed your own containers, and shipped an image to a registry. Keep Docker Desktop running; we start typing commands within the first hour.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briefly; keep it under two minutes. The quote sets the tone for the day: students should expect to type, break things and fix them. Ask two or three students what they hope to get out of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hands for each question and note the numbers on the whiteboard; you will ask similar questions at the end of the day.
Expected answers: (1) VMs are heavy, slow to start and each carries a full OS; containers are lighter and start in seconds. (2) Docker packages an app with everything it needs so it runs the same everywhere. (3) A VM is a full computer emulated in software, with its own OS, on a hypervisor. (4) An isolated environment for an app and its dependencies that shares the host OS kernel.
If most hands go up, move faster through Sections 2 and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left to right, top then bottom. The story of the day: problem, evolution, containers, Docker, architecture, images, lifecycle, hands-on, then optimization. Section 1 is this welcome, so the path starts at 02.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verbs on the left aloud: run it, build it, ship it. These outcomes map one-to-one to the sections. At the wrap-up you will come back to this 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the question and let two or three students answer before moving on. Do not give the answer yet: the next four slides build it up from the problems teams faced.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dashed line: every app on this server shares one operating system and one set of libraries. Ask: “What happens when App B needs Java 11 but App A needs Java 17?” Expected answer: one of them breaks, or you need a second server.
Real-world: before containers, companies often ran one application per server just to avoid these conflicts, leaving servers 10–15% utilized.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chain left to right; the colours go from fine (teal) to risky (amber) to broken (coral). Ask: “Who has installed something that worked for a friend but not for you?” Almost every hand goes up.
Key point: the code was never the problem. The environment around the code was different. Containers ship the environment together with the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generations on the same physical server. Bare metal: apps share one OS and fight over libraries. VMs fixed isolation, but each VM carries a full guest OS (the coral boxes), so they are heavy and slow to boot. Containers keep the isolation but share the host kernel, so they only carry the app and its libraries.
Clarification for advanced students: VMs are not obsolete. Most cloud containers actually run inside VMs.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Myth-buster slide. Linux namespaces arrived across the 2000s (mount namespaces in 2002, more over the next years) and cgroups around 2007–2008. Docker’s first public release was March 2013; version 1.0 followed in June 2014.
Ask: “If containers existed since 2008, why did nobody use them?” Answer: they were hard to configure, package and share. Docker solved the developer experience.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define a container in one sentence before showing the next slide. Collect two or three answers and compare them with the definition.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Unpack the definition word by word: isolated (it can’t see other containers), application and dependencies (everything travels together), shares the host kernel (no separate OS). The last part is what makes containers light.
Simple test question: “Does a container have its own operating system kernel?” Expected answer: no, it uses the host’s.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arrows are system calls: every container talks to the same kernel. Isolation comes from Linux namespaces (what a process can see) and cgroups (how much CPU and memory it may use).
Technical clarification: on Windows and macOS, Docker Desktop runs a small Linux VM, and containers share that VM’s kernel. That is why Linux containers run on a Windows laptop.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row by row. The coral Guest OS layer is what containers remove: each VM boots its own kernel; containers reuse the host’s. That is why a laptop can run three VMs but dozens of containers.
Ask: “Which would you choose to run Windows software on a Linux server?” Expected answer: a VM, because containers must share the host kernel family.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 the analogy: if the building’s water supply fails (the kernel), every apartment is affected; a separate house would not be. That is the trade-off: VMs give stronger isolation, containers give density and speed.
Ask: “Which one would a bank use for two customers who must never see each other’s data?” Good discussion: often both, containers inside separate VMs.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row. Pick three: startup time (minutes vs seconds), density (how many fit on one host) and OS requirement (containers must share the host kernel family).
Storage point from the source material: a VM disk holds a full guest OS, libraries, services and the app; a container image has no separate kernel and shares common layers, so images are generally much smaller.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 timeline: chroot, jails and LXC worked, but few developers used them. This section explains what Docker added and how its pieces fit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then walk the example. The left side breaks because the server has a different Node.js version. On the right, Node.js 20 travels inside the container, so the server’s own version no longer matters.
Ask: “What does the production server need installed in the Docker version?” Expected answer: only Docker.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Docker’s real innovation was the workflow: one file (the Dockerfile) describes the environment, one command builds an image, one registry shares it, one command runs it anywhere.
Real-world example: a new developer joining a team used to spend days setting up a laptop; with Docker it can be a single command.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part and its job. A useful way to remember: you talk to the CLI, the CLI talks to the Engine, the Engine turns images into containers, and the registry is the shared library of images.
Ask: “Which part is actually doing the work when you type docker run?” Expected answer: the Engine (daemon), not the CLI.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docker run in your terminal is an HTTP request to the Docker API; dockerd receives it, asks containerd to create the container, and runc sets up the namespaces and cgroups.
Accuracy note: the source slide shows “Container runtime” as one box; in today’s Docker that is containerd (manages containers) plus runc (creates them). Both labels are correct.
Demo idea: run docker version and point out the separate Client and Server sections.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vote, then reveal: C, it depends.
By default, stopping the daemon stops all running containers (B). If the daemon is configured with "live-restore": true, containers keep running while dockerd is down or being upgraded (A). Either way, docker CLI commands fail because nothing is answering the API.
Images, volumes and stopped containers are files on disk, so they are safe. When dockerd starts again, containers with a restart policy such as --restart unless-stopped come back automatically.
This question came from the source material as “If Docker engine goes down, what happens?”.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delivery pipeline in four commands. Emphasise that the image is built once and the same bytes run everywhere; nobody rebuilds it on the server.
Correction to the source flow: pushing to Docker Hub needs your account name in the image name (&lt;you&gt;/myapp), otherwise the push is denied. We practise this in the images section.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memorise; this is a reference slide. The pairs to stress: image vs container (template vs running instance), repository vs tag (myapp vs myapp:1.0.0), and volume (data that survives the container).
Correction to the source: the registry example “docker push myapp” fails on Docker Hub; it must include your account name, so it is shown as docker push &lt;you&gt;/myapp.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ask “Is Docker dead?” No. Kubernetes removed dockershim (its adapter for Docker Engine) in version 1.24, and now talks to containerd or CRI-O directly; images built with Docker still run unchanged.
Podman is the closest drop-in alternative: most commands are identical (alias docker=podman).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“Is a stopped container the same as a deleted one?” Most beginners say yes. The next slides show the difference.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key distinction: a stopped container still exists, with all its files, until you remove it; docker ps -a still lists it. Paused freezes the processes in memory (the page just hangs); stopped ends them.
Ask: “I stopped and started a container. Is it the same container?” Expected answer: yes, same ID and same files.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students will use it in the next lab. Pause and Restart were added to the source table so it matches the lifecycle diagram.
Common mistake: docker rm on a running container fails with “cannot remove a running container”. Either docker stop first, or use docker rm -f.</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every command. After docker run, open http://localhost:8080. After docker stop, refresh (fails). After docker ps -a, point out it still exists. After pause, the page hangs. Inside exec, try cat /etc/os-release, then exit.
Common errors: “port is already allocated” (another process uses 8080, pick 8090); “Cannot connect to the Docker daemon” (start Docker Desktop).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 the last lab every container started from nginx:alpine. That is an image someone else built. Now we learn what is inside one and how to build our own.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an image is a frozen meal, sealed and identical every time; a container is that meal heated on your plate. Spill on the plate and the meal in the freezer is untouched.
This explains the lifecycle lab: changes made inside a container live in the writable layer and disappear when the container is removed.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lifecycle, separate from the container lifecycle. Build and tag happen on your laptop; push sends it to the registry; pull and run happen anywhere.
Correction to the source slide: it tagged and pushed myapp:1.0.0 without an account name. Docker would try to push to docker.io/library/myapp, which is reserved for official images, and the push is denied. The tag must include your Docker Hub username, as shown here. Run docker login once before pushing.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methods produce the same kind of image; the difference is how it was made. A Dockerfile is code: it can be read, reviewed in a pull request and rebuilt. A committed image is a snapshot nobody can reproduce.
Then the sharing path is identical for both: tag, push, pull, run.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context is the final dot: the folder Docker sends to the engine. The tag after -t is name:version.
If students have no index.html, they can create one with any text. The commands are the ones from the source document; docker commit appears on the next slides as Method 2.
The four demo labs later in this section use exactly this pattern.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commit is a snapshot, not a conversion: the original container stays as it was. Analogy: fill in a form, then photocopy it; every copy comes with your answers already filled in.
What is not saved: running processes or memory, and data in volumes. Docker pauses a running container briefly during the commit.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 document’s commands. The three lines in step 2 run inside the container (the prompt changes to root@…), so they are shown without the $ prompt. The source split apt-get update and install onto two lines; combining them with &amp;&amp; is equivalent.
After the lab, run docker history my-ubuntu:custom: the committed layer shows no record of apt-get install, which is why Dockerfiles win for real work. Clean up: docker rm temp; docker rmi my-ubuntu:custom.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README embedded in the source document (docker-fun-lab). Run one demo at a time and ask the room question for each:
1. Whale: “How long would installing cowsay, figlet, fortune and lolcat take on Windows?”
2. Game: open localhost:8080. “Did anyone install a web server?”
3. Scale me: start app2 and app3 on ports 8002 and 8003; three colours, one image. Then docker rm -f app2: the others keep working. “It’s a Big Billion Days sale: how do you handle 10x traffic?”
4. Time machine: also build pytime:new with PY_VERSION=3.13 and compare. “Your laptop has 3.13, the server has 3.8. What happens on deploy day?”
Before the workshop, pre-pull base images on venue Wi-Fi: docker pull debian:bookworm-slim nginx:alpine python:3.12-slim python:3.8-slim python:3.13-slim. Clean up: docker rm -f game app1 app2 app3; docker rmi whale-says whack-a-bug scale-me pytime:old pytime:new.</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do you share code with a classmate today?” Typical answers: WhatsApp, email, pen drive. Then ask what happens when two people edit the same file. Git solves this.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staging area confuses beginners most. Analogy: staging is packing a box; commit is sealing and labelling it; push is posting it to the shared warehouse.
Ask: “I committed but my teammate can’t see my change. Why?” Expected answer: you didn’t push; commits are local until pushed.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clone copies an existing GitHub repo and links it automatically; git init + git remote add is for a folder you already have. You need one or the other, not both.
gh auth login: choose GitHub.com → HTTPS → Yes → Login with a web browser. Without the GitHub CLI, create a personal access token in GitHub settings and paste it when Git asks for a password.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in the docker-fun-lab folder: change one line in a file, run git status (red), git add (green), git commit, git push, then refresh GitHub to show the commit.
Good commit message rule: say what the change does, in the present tense: “Add login page”, not “changes”.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GitHub, a teammate pushes the branch, opens a pull request, the team reviews the changes, then clicks Merge; afterwards everyone runs git pull. Companies usually protect main so changes can only arrive through reviewed pull requests.
Warning on --amend: it rewrites history; never amend a commit that is already pushed and shared.
Older tutorials use git checkout -b instead of git switch -c; both work.</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industry loop students will meet in their first job. Git covers the left half (code and review), Docker the right half (build, ship, run). The two meet at the CI build: a tool such as GitHub Actions or Jenkins runs docker build whenever main changes.
Example tag command: docker build -t &lt;you&gt;/myapp:$(git rev-parse --short HEAD) . (on PowerShell, type the short commit ID instead).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 image is 1 GB and you deploy to 50 servers. How much data moves on every release?” Answer: 50 GB. That is the motivation for this section.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benefits: faster pulls (deploys and autoscaling), less registry storage and cost, and a smaller attack surface (fewer packages means fewer vulnerabilities to patch).
Alpine is the smallest but uses musl instead of glibc, which occasionally breaks Python packages with compiled parts; slim is the safe default. Bonus habit for security: run as a non-root USER.</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Dockerfiles are in the lab kit (05-optimize-me). Build both and compare: docker build -f Dockerfile.fat -t optimize:fat . and docker build -f Dockerfile.slim -t optimize:slim . then docker images optimize.
Then edit app.py and rebuild both: the fat build re-runs pip install (COPY . . broke the cache), the slim build reuses the cached layer. Sizes are approximate.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FROM lines in one Dockerfile. Stage 1 has everything needed to build; stage 2 receives only the compiled program through COPY --from=builder. The compiler, source code and caches never ship.
Where it is used: Go and Rust (single binary), Java (Maven builds a .jar, a JRE runs it), React and Angular (Node builds static files, nginx serves them). Sizes are approximate.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source document’s example, unchanged. It assumes a Go project with a go.mod file in the folder; the full lab version (05-optimize-me/go-multistage) adds a non-root user and a health check.
Demo: docker build -t go-api . then docker images, and compare with docker pull golang:1.23-alpine.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line and ask a student to give an example from today’s labs. Then return to the learning outcomes slide if time allows and tick them off together.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(do not show on screen):
Q1: An image is a read-only template; a container is a running instance of it.
Q2: Containers have no guest OS; they share the host kernel, so they use far less memory and disk.
Q3: Stopped (exited) containers as well as running ones.
Q4: A Dockerfile is written down, version-controlled, reviewable and rebuilds identically; a committed image has no record of how it was made.
Q5: It copies only the named file from the builder stage into the final image, leaving compilers and source behind.
Compare the number of hands with the opening poll.</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Remind students that the lab repository and their Docker Hub images are theirs to keep.</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42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142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48840"/>
            <a:ext cx="7315200" cy="365760"/>
          </a:xfrm>
          <a:prstGeom prst="rect">
            <a:avLst/>
          </a:prstGeom>
          <a:noFill/>
          <a:ln/>
        </p:spPr>
        <p:txBody>
          <a:bodyPr wrap="square" rtlCol="0"/>
          <a:lstStyle>
            <a:lvl1pPr marL="0" indent="0">
              <a:buNone/>
              <a:defRPr lang="en-US" sz="1400" b="1" kern="0" spc="400" dirty="0">
                <a:solidFill>
                  <a:schemeClr val="accent2"/>
                </a:solidFill>
              </a:defRPr>
            </a:lvl1pPr>
          </a:lstStyle>
          <a:p>
            <a:pPr marL="0" indent="0">
              <a:buNone/>
            </a:pPr>
            <a:endParaRPr lang="en-US" sz="1400" dirty="0"/>
          </a:p>
        </p:txBody>
      </p:sp>
      <p:sp>
        <p:nvSpPr>
          <p:cNvPr id="3" name="Text 0"/>
          <p:cNvSpPr>
            <a:spLocks noGrp="1"/>
          </p:cNvSpPr>
          <p:nvPr>
            <p:ph type="title" idx="101" hasCustomPrompt="1"/>
          </p:nvPr>
        </p:nvSpPr>
        <p:spPr>
          <a:xfrm>
            <a:off x="731520" y="2560320"/>
            <a:ext cx="676656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731520" y="4069080"/>
            <a:ext cx="6583680" cy="1280160"/>
          </a:xfrm>
          <a:prstGeom prst="rect">
            <a:avLst/>
          </a:prstGeom>
          <a:noFill/>
          <a:ln/>
        </p:spPr>
        <p:txBody>
          <a:bodyPr wrap="square" rtlCol="0"/>
          <a:lstStyle>
            <a:lvl1pPr marL="0" indent="0" algn="l">
              <a:buNone/>
              <a:defRPr lang="en-US" sz="2200" i="1" dirty="0">
                <a:solidFill>
                  <a:schemeClr val="bg2"/>
                </a:solidFill>
              </a:defRPr>
            </a:lvl1pPr>
          </a:lstStyle>
          <a:p>
            <a:pPr marL="0" indent="0" algn="l">
              <a:buNone/>
            </a:pPr>
            <a:endParaRPr lang="en-US" sz="2200" dirty="0"/>
          </a:p>
        </p:txBody>
      </p:sp>
      <p:sp>
        <p:nvSpPr>
          <p:cNvPr id="5" name="Text 0"/>
          <p:cNvSpPr/>
          <p:nvPr/>
        </p:nvSpPr>
        <p:spPr>
          <a:xfrm>
            <a:off x="731520" y="6355080"/>
            <a:ext cx="4572000" cy="274320"/>
          </a:xfrm>
          <a:prstGeom prst="rect">
            <a:avLst/>
          </a:prstGeom>
          <a:noFill/>
          <a:ln/>
        </p:spPr>
        <p:txBody>
          <a:bodyPr wrap="square" lIns="0" tIns="0" rIns="0" bIns="0" rtlCol="0" anchor="ctr"/>
          <a:lstStyle/>
          <a:p>
            <a:pPr marL="0" indent="0">
              <a:buNone/>
            </a:pPr>
            <a:r>
              <a:rPr lang="en-US" sz="1000" kern="0" spc="200" dirty="0">
                <a:solidFill>
                  <a:srgbClr val="6F80A0"/>
                </a:solidFill>
              </a:rPr>
              <a:t>DOCKER WORKSHOP · DAY 1</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42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rtlCol="0"/>
          <a:lstStyle>
            <a:lvl1pPr marL="0" indent="0">
              <a:buNone/>
              <a:defRPr lang="en-US" sz="1200" b="1" kern="0" spc="300" dirty="0">
                <a:solidFill>
                  <a:schemeClr val="accent2"/>
                </a:solidFill>
              </a:defRPr>
            </a:lvl1pPr>
          </a:lstStyle>
          <a:p>
            <a:pPr marL="0" indent="0">
              <a:buNone/>
            </a:pP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4" name="Text 0"/>
          <p:cNvSpPr/>
          <p:nvPr/>
        </p:nvSpPr>
        <p:spPr>
          <a:xfrm>
            <a:off x="640080" y="6400800"/>
            <a:ext cx="4572000" cy="256032"/>
          </a:xfrm>
          <a:prstGeom prst="rect">
            <a:avLst/>
          </a:prstGeom>
          <a:noFill/>
          <a:ln/>
        </p:spPr>
        <p:txBody>
          <a:bodyPr wrap="square" lIns="0" tIns="0" rIns="0" bIns="0" rtlCol="0" anchor="ctr"/>
          <a:lstStyle/>
          <a:p>
            <a:pPr marL="0" indent="0">
              <a:buNone/>
            </a:pPr>
            <a:r>
              <a:rPr lang="en-US" sz="1000" kern="0" spc="200" dirty="0">
                <a:solidFill>
                  <a:srgbClr val="6F80A0"/>
                </a:solidFill>
              </a:rPr>
              <a:t>DOCKER WORKSHOP · DAY 1</a:t>
            </a:r>
            <a:endParaRPr lang="en-US" sz="10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0"/>
          <p:cNvSpPr/>
          <p:nvPr/>
        </p:nvSpPr>
        <p:spPr>
          <a:xfrm>
            <a:off x="8823960" y="1417320"/>
            <a:ext cx="1051560" cy="713232"/>
          </a:xfrm>
          <a:prstGeom prst="roundRect">
            <a:avLst>
              <a:gd name="adj" fmla="val 10256"/>
            </a:avLst>
          </a:prstGeom>
          <a:solidFill>
            <a:srgbClr val="0B1426"/>
          </a:solidFill>
          <a:ln w="28575">
            <a:solidFill>
              <a:schemeClr val="accent6"/>
            </a:solidFill>
            <a:prstDash val="solid"/>
          </a:ln>
        </p:spPr>
      </p:sp>
      <p:sp>
        <p:nvSpPr>
          <p:cNvPr id="3" name="motif-1"/>
          <p:cNvSpPr/>
          <p:nvPr/>
        </p:nvSpPr>
        <p:spPr>
          <a:xfrm>
            <a:off x="8229600" y="2286000"/>
            <a:ext cx="1051560" cy="713232"/>
          </a:xfrm>
          <a:prstGeom prst="roundRect">
            <a:avLst>
              <a:gd name="adj" fmla="val 10256"/>
            </a:avLst>
          </a:prstGeom>
          <a:solidFill>
            <a:srgbClr val="0B1426"/>
          </a:solidFill>
          <a:ln w="28575">
            <a:solidFill>
              <a:schemeClr val="accent6"/>
            </a:solidFill>
            <a:prstDash val="solid"/>
          </a:ln>
        </p:spPr>
      </p:sp>
      <p:sp>
        <p:nvSpPr>
          <p:cNvPr id="4" name="motif-2"/>
          <p:cNvSpPr/>
          <p:nvPr/>
        </p:nvSpPr>
        <p:spPr>
          <a:xfrm>
            <a:off x="9418320" y="2286000"/>
            <a:ext cx="1051560" cy="713232"/>
          </a:xfrm>
          <a:prstGeom prst="roundRect">
            <a:avLst>
              <a:gd name="adj" fmla="val 10256"/>
            </a:avLst>
          </a:prstGeom>
          <a:solidFill>
            <a:schemeClr val="accent5"/>
          </a:solidFill>
          <a:ln w="28575">
            <a:solidFill>
              <a:schemeClr val="accent1"/>
            </a:solidFill>
            <a:prstDash val="solid"/>
          </a:ln>
        </p:spPr>
      </p:sp>
      <p:sp>
        <p:nvSpPr>
          <p:cNvPr id="5" name="motif-3"/>
          <p:cNvSpPr/>
          <p:nvPr/>
        </p:nvSpPr>
        <p:spPr>
          <a:xfrm>
            <a:off x="7635240" y="3154680"/>
            <a:ext cx="1051560" cy="713232"/>
          </a:xfrm>
          <a:prstGeom prst="roundRect">
            <a:avLst>
              <a:gd name="adj" fmla="val 10256"/>
            </a:avLst>
          </a:prstGeom>
          <a:solidFill>
            <a:srgbClr val="0B1426"/>
          </a:solidFill>
          <a:ln w="28575">
            <a:solidFill>
              <a:schemeClr val="accent6"/>
            </a:solidFill>
            <a:prstDash val="solid"/>
          </a:ln>
        </p:spPr>
      </p:sp>
      <p:sp>
        <p:nvSpPr>
          <p:cNvPr id="6" name="motif-4"/>
          <p:cNvSpPr/>
          <p:nvPr/>
        </p:nvSpPr>
        <p:spPr>
          <a:xfrm>
            <a:off x="8823960" y="3154680"/>
            <a:ext cx="1051560" cy="713232"/>
          </a:xfrm>
          <a:prstGeom prst="roundRect">
            <a:avLst>
              <a:gd name="adj" fmla="val 10256"/>
            </a:avLst>
          </a:prstGeom>
          <a:solidFill>
            <a:srgbClr val="0B1426"/>
          </a:solidFill>
          <a:ln w="28575">
            <a:solidFill>
              <a:schemeClr val="accent6"/>
            </a:solidFill>
            <a:prstDash val="solid"/>
          </a:ln>
        </p:spPr>
      </p:sp>
      <p:sp>
        <p:nvSpPr>
          <p:cNvPr id="7" name="motif-5"/>
          <p:cNvSpPr/>
          <p:nvPr/>
        </p:nvSpPr>
        <p:spPr>
          <a:xfrm>
            <a:off x="10012680" y="3154680"/>
            <a:ext cx="1051560" cy="713232"/>
          </a:xfrm>
          <a:prstGeom prst="roundRect">
            <a:avLst>
              <a:gd name="adj" fmla="val 10256"/>
            </a:avLst>
          </a:prstGeom>
          <a:solidFill>
            <a:srgbClr val="0B1426"/>
          </a:solidFill>
          <a:ln w="28575">
            <a:solidFill>
              <a:schemeClr val="accent2"/>
            </a:solidFill>
            <a:prstDash val="solid"/>
          </a:ln>
        </p:spPr>
      </p:sp>
      <p:sp>
        <p:nvSpPr>
          <p:cNvPr id="8" name="Shape 6"/>
          <p:cNvSpPr/>
          <p:nvPr/>
        </p:nvSpPr>
        <p:spPr>
          <a:xfrm>
            <a:off x="7635240" y="4023360"/>
            <a:ext cx="3429000" cy="64008"/>
          </a:xfrm>
          <a:prstGeom prst="roundRect">
            <a:avLst>
              <a:gd name="adj" fmla="val 42857"/>
            </a:avLst>
          </a:prstGeom>
          <a:solidFill>
            <a:schemeClr val="accent6"/>
          </a:solidFill>
          <a:ln w="12700">
            <a:solidFill>
              <a:schemeClr val="accent6"/>
            </a:solidFill>
            <a:prstDash val="solid"/>
          </a:ln>
        </p:spPr>
      </p:sp>
      <p:sp>
        <p:nvSpPr>
          <p:cNvPr id="9" name="Text 7"/>
          <p:cNvSpPr txBox="1"/>
          <p:nvPr/>
        </p:nvSpPr>
        <p:spPr>
          <a:xfrm>
            <a:off x="731520" y="1554480"/>
            <a:ext cx="5486400" cy="365760"/>
          </a:xfrm>
          <a:prstGeom prst="rect">
            <a:avLst/>
          </a:prstGeom>
          <a:noFill/>
          <a:ln/>
        </p:spPr>
        <p:txBody>
          <a:bodyPr wrap="square" lIns="0" tIns="0" rIns="0" bIns="0" rtlCol="0" anchor="t"/>
          <a:lstStyle/>
          <a:p>
            <a:pPr marL="0" indent="0">
              <a:buNone/>
            </a:pPr>
            <a:r>
              <a:rPr lang="en-US" sz="1400" b="1" kern="0" spc="400" dirty="0">
                <a:solidFill>
                  <a:schemeClr val="accent2"/>
                </a:solidFill>
              </a:rPr>
              <a:t>DAY 1 WORKSHOP</a:t>
            </a:r>
            <a:endParaRPr lang="en-US" sz="1400" dirty="0"/>
          </a:p>
        </p:txBody>
      </p:sp>
      <p:sp>
        <p:nvSpPr>
          <p:cNvPr id="10" name="Text 8"/>
          <p:cNvSpPr txBox="1"/>
          <p:nvPr/>
        </p:nvSpPr>
        <p:spPr>
          <a:xfrm>
            <a:off x="731520" y="1965960"/>
            <a:ext cx="6949440" cy="1920240"/>
          </a:xfrm>
          <a:prstGeom prst="rect">
            <a:avLst/>
          </a:prstGeom>
          <a:noFill/>
          <a:ln/>
        </p:spPr>
        <p:txBody>
          <a:bodyPr wrap="square" lIns="0" tIns="0" rIns="0" bIns="0" rtlCol="0" anchor="t"/>
          <a:lstStyle/>
          <a:p>
            <a:pPr marL="0" indent="0">
              <a:buNone/>
            </a:pPr>
            <a:r>
              <a:rPr lang="en-US" sz="4600" b="1" dirty="0">
                <a:solidFill>
                  <a:schemeClr val="bg1"/>
                </a:solidFill>
                <a:latin typeface="Segoe UI Semibold" pitchFamily="34" charset="0"/>
                <a:ea typeface="Segoe UI Semibold" pitchFamily="34" charset="-122"/>
                <a:cs typeface="Segoe UI Semibold" pitchFamily="34" charset="-120"/>
              </a:rPr>
              <a:t>Docker,</a:t>
            </a:r>
            <a:endParaRPr lang="en-US" sz="4600" dirty="0"/>
          </a:p>
          <a:p>
            <a:pPr marL="0" indent="0">
              <a:buNone/>
            </a:pPr>
            <a:r>
              <a:rPr lang="en-US" sz="4600" b="1" dirty="0">
                <a:solidFill>
                  <a:schemeClr val="accent1"/>
                </a:solidFill>
                <a:latin typeface="Segoe UI Semibold" pitchFamily="34" charset="0"/>
                <a:ea typeface="Segoe UI Semibold" pitchFamily="34" charset="-122"/>
                <a:cs typeface="Segoe UI Semibold" pitchFamily="34" charset="-120"/>
              </a:rPr>
              <a:t>from Zero to Container.</a:t>
            </a:r>
            <a:endParaRPr lang="en-US" sz="4600" dirty="0"/>
          </a:p>
        </p:txBody>
      </p:sp>
      <p:sp>
        <p:nvSpPr>
          <p:cNvPr id="11" name="Text 9"/>
          <p:cNvSpPr txBox="1"/>
          <p:nvPr/>
        </p:nvSpPr>
        <p:spPr>
          <a:xfrm>
            <a:off x="731520" y="4114800"/>
            <a:ext cx="6217920" cy="822960"/>
          </a:xfrm>
          <a:prstGeom prst="rect">
            <a:avLst/>
          </a:prstGeom>
          <a:noFill/>
          <a:ln/>
        </p:spPr>
        <p:txBody>
          <a:bodyPr wrap="square" lIns="0" tIns="0" rIns="0" bIns="0" rtlCol="0" anchor="t"/>
          <a:lstStyle/>
          <a:p>
            <a:pPr marL="0" indent="0">
              <a:buNone/>
            </a:pPr>
            <a:r>
              <a:rPr lang="en-US" sz="1800" dirty="0">
                <a:solidFill>
                  <a:schemeClr val="bg2"/>
                </a:solidFill>
              </a:rPr>
              <a:t>Why containers exist, how Docker works, and how to run, break and fix your own containers, live.</a:t>
            </a:r>
            <a:endParaRPr lang="en-US" sz="1800" dirty="0"/>
          </a:p>
        </p:txBody>
      </p:sp>
      <p:sp>
        <p:nvSpPr>
          <p:cNvPr id="12" name="Text 10"/>
          <p:cNvSpPr txBox="1"/>
          <p:nvPr/>
        </p:nvSpPr>
        <p:spPr>
          <a:xfrm>
            <a:off x="731520" y="5349240"/>
            <a:ext cx="6400800" cy="685800"/>
          </a:xfrm>
          <a:prstGeom prst="rect">
            <a:avLst/>
          </a:prstGeom>
          <a:noFill/>
          <a:ln/>
        </p:spPr>
        <p:txBody>
          <a:bodyPr wrap="square" lIns="0" tIns="0" rIns="0" bIns="0" rtlCol="0" anchor="t"/>
          <a:lstStyle/>
          <a:p>
            <a:pPr marL="0" indent="0">
              <a:buNone/>
            </a:pPr>
            <a:r>
              <a:rPr lang="en-US" sz="1500" b="1" dirty="0">
                <a:solidFill>
                  <a:schemeClr val="bg1"/>
                </a:solidFill>
              </a:rPr>
              <a:t>Vijay Inguva</a:t>
            </a:r>
            <a:endParaRPr lang="en-US" sz="1500" dirty="0"/>
          </a:p>
          <a:p>
            <a:pPr marL="0" indent="0">
              <a:buNone/>
            </a:pPr>
            <a:r>
              <a:rPr lang="en-US" sz="1500" dirty="0">
                <a:solidFill>
                  <a:schemeClr val="bg2"/>
                </a:solidFill>
              </a:rPr>
              <a:t>IT Architect  |  DevOps Lead  |  Deployment SME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BEFORE WE BEGIN</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About Me</a:t>
            </a:r>
            <a:endParaRPr lang="en-US" sz="3000" dirty="0"/>
          </a:p>
        </p:txBody>
      </p:sp>
      <p:sp>
        <p:nvSpPr>
          <p:cNvPr id="4" name="Shape 2"/>
          <p:cNvSpPr/>
          <p:nvPr/>
        </p:nvSpPr>
        <p:spPr>
          <a:xfrm>
            <a:off x="731520" y="1783080"/>
            <a:ext cx="1554480" cy="1554480"/>
          </a:xfrm>
          <a:prstGeom prst="ellipse">
            <a:avLst/>
          </a:prstGeom>
          <a:solidFill>
            <a:schemeClr val="accent1"/>
          </a:solidFill>
          <a:ln w="12700">
            <a:solidFill>
              <a:schemeClr val="accent1"/>
            </a:solidFill>
            <a:prstDash val="solid"/>
          </a:ln>
        </p:spPr>
      </p:sp>
      <p:sp>
        <p:nvSpPr>
          <p:cNvPr id="5" name="Text 3"/>
          <p:cNvSpPr txBox="1"/>
          <p:nvPr/>
        </p:nvSpPr>
        <p:spPr>
          <a:xfrm>
            <a:off x="731520" y="1783080"/>
            <a:ext cx="1554480" cy="1554480"/>
          </a:xfrm>
          <a:prstGeom prst="rect">
            <a:avLst/>
          </a:prstGeom>
          <a:noFill/>
          <a:ln/>
        </p:spPr>
        <p:txBody>
          <a:bodyPr wrap="square" lIns="0" tIns="0" rIns="0" bIns="0" rtlCol="0" anchor="ctr"/>
          <a:lstStyle/>
          <a:p>
            <a:pPr marL="0" indent="0" algn="ctr">
              <a:buNone/>
            </a:pPr>
            <a:r>
              <a:rPr lang="en-US" sz="4400" b="1" dirty="0">
                <a:solidFill>
                  <a:schemeClr val="bg1"/>
                </a:solidFill>
              </a:rPr>
              <a:t>VI</a:t>
            </a:r>
            <a:endParaRPr lang="en-US" sz="4400" dirty="0"/>
          </a:p>
        </p:txBody>
      </p:sp>
      <p:sp>
        <p:nvSpPr>
          <p:cNvPr id="6" name="Text 4"/>
          <p:cNvSpPr txBox="1"/>
          <p:nvPr/>
        </p:nvSpPr>
        <p:spPr>
          <a:xfrm>
            <a:off x="2697480" y="1737360"/>
            <a:ext cx="7315200" cy="548640"/>
          </a:xfrm>
          <a:prstGeom prst="rect">
            <a:avLst/>
          </a:prstGeom>
          <a:noFill/>
          <a:ln/>
        </p:spPr>
        <p:txBody>
          <a:bodyPr wrap="square" lIns="0" tIns="0" rIns="0" bIns="0" rtlCol="0" anchor="t"/>
          <a:lstStyle/>
          <a:p>
            <a:pPr marL="0" indent="0">
              <a:buNone/>
            </a:pPr>
            <a:r>
              <a:rPr lang="en-US" sz="3000" b="1" dirty="0">
                <a:solidFill>
                  <a:schemeClr val="bg1"/>
                </a:solidFill>
                <a:latin typeface="Segoe UI Semibold" pitchFamily="34" charset="0"/>
                <a:ea typeface="Segoe UI Semibold" pitchFamily="34" charset="-122"/>
                <a:cs typeface="Segoe UI Semibold" pitchFamily="34" charset="-120"/>
              </a:rPr>
              <a:t>Vijay Inguva</a:t>
            </a:r>
            <a:endParaRPr lang="en-US" sz="3000" dirty="0"/>
          </a:p>
        </p:txBody>
      </p:sp>
      <p:sp>
        <p:nvSpPr>
          <p:cNvPr id="7" name="Text 5"/>
          <p:cNvSpPr txBox="1"/>
          <p:nvPr/>
        </p:nvSpPr>
        <p:spPr>
          <a:xfrm>
            <a:off x="2697480" y="2286000"/>
            <a:ext cx="7315200" cy="365760"/>
          </a:xfrm>
          <a:prstGeom prst="rect">
            <a:avLst/>
          </a:prstGeom>
          <a:noFill/>
          <a:ln/>
        </p:spPr>
        <p:txBody>
          <a:bodyPr wrap="square" lIns="0" tIns="0" rIns="0" bIns="0" rtlCol="0" anchor="t"/>
          <a:lstStyle/>
          <a:p>
            <a:pPr marL="0" indent="0">
              <a:buNone/>
            </a:pPr>
            <a:r>
              <a:rPr lang="en-US" sz="1700" b="1" dirty="0">
                <a:solidFill>
                  <a:schemeClr val="accent1"/>
                </a:solidFill>
              </a:rPr>
              <a:t>IT Architect  |  DevOps Lead  |  Deployment SME</a:t>
            </a:r>
            <a:endParaRPr lang="en-US" sz="1700" dirty="0"/>
          </a:p>
        </p:txBody>
      </p:sp>
      <p:sp>
        <p:nvSpPr>
          <p:cNvPr id="8" name="Text 6"/>
          <p:cNvSpPr txBox="1"/>
          <p:nvPr/>
        </p:nvSpPr>
        <p:spPr>
          <a:xfrm>
            <a:off x="2697480" y="2834640"/>
            <a:ext cx="8595360" cy="1737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MTech + MBA, currently pursuing a PhD</a:t>
            </a:r>
            <a:endParaRPr lang="en-US" sz="1700" dirty="0"/>
          </a:p>
          <a:p>
            <a:pPr marL="342900" indent="-342900">
              <a:spcAft>
                <a:spcPts val="800"/>
              </a:spcAft>
              <a:buSzPct val="100000"/>
              <a:buChar char="•"/>
            </a:pPr>
            <a:r>
              <a:rPr lang="en-US" sz="1700" dirty="0">
                <a:solidFill>
                  <a:schemeClr val="bg1"/>
                </a:solidFill>
              </a:rPr>
              <a:t>16+ years across Linux, SQL &amp; NoSQL, Cloud, DevOps and Automation</a:t>
            </a:r>
            <a:endParaRPr lang="en-US" sz="1700" dirty="0"/>
          </a:p>
          <a:p>
            <a:pPr marL="342900" indent="-342900">
              <a:spcAft>
                <a:spcPts val="800"/>
              </a:spcAft>
              <a:buSzPct val="100000"/>
              <a:buChar char="•"/>
            </a:pPr>
            <a:r>
              <a:rPr lang="en-US" sz="1700" dirty="0">
                <a:solidFill>
                  <a:schemeClr val="bg1"/>
                </a:solidFill>
              </a:rPr>
              <a:t>Hands-on with Docker, Kubernetes, AWS, Azure, CI/CD and enterprise deployments</a:t>
            </a:r>
            <a:endParaRPr lang="en-US" sz="1700" dirty="0"/>
          </a:p>
          <a:p>
            <a:pPr marL="342900" indent="-342900">
              <a:spcAft>
                <a:spcPts val="800"/>
              </a:spcAft>
              <a:buSzPct val="100000"/>
              <a:buChar char="•"/>
            </a:pPr>
            <a:r>
              <a:rPr lang="en-US" sz="1700" dirty="0">
                <a:solidFill>
                  <a:schemeClr val="bg1"/>
                </a:solidFill>
              </a:rPr>
              <a:t>Off duty: singer by passion, plays cricket and badminton</a:t>
            </a:r>
            <a:endParaRPr lang="en-US" sz="1700" dirty="0"/>
          </a:p>
        </p:txBody>
      </p:sp>
      <p:sp>
        <p:nvSpPr>
          <p:cNvPr id="9" name="Shape 7"/>
          <p:cNvSpPr/>
          <p:nvPr/>
        </p:nvSpPr>
        <p:spPr>
          <a:xfrm>
            <a:off x="731520" y="4892040"/>
            <a:ext cx="10698480" cy="1051560"/>
          </a:xfrm>
          <a:prstGeom prst="roundRect">
            <a:avLst>
              <a:gd name="adj" fmla="val 8696"/>
            </a:avLst>
          </a:prstGeom>
          <a:solidFill>
            <a:schemeClr val="tx2"/>
          </a:solidFill>
          <a:ln w="12700">
            <a:solidFill>
              <a:schemeClr val="accent6"/>
            </a:solidFill>
            <a:prstDash val="solid"/>
          </a:ln>
        </p:spPr>
      </p:sp>
      <p:sp>
        <p:nvSpPr>
          <p:cNvPr id="10" name="Text 8"/>
          <p:cNvSpPr txBox="1"/>
          <p:nvPr/>
        </p:nvSpPr>
        <p:spPr>
          <a:xfrm>
            <a:off x="1051560" y="4892040"/>
            <a:ext cx="10058400" cy="1051560"/>
          </a:xfrm>
          <a:prstGeom prst="rect">
            <a:avLst/>
          </a:prstGeom>
          <a:noFill/>
          <a:ln/>
        </p:spPr>
        <p:txBody>
          <a:bodyPr wrap="square" lIns="0" tIns="0" rIns="0" bIns="0" rtlCol="0" anchor="ctr"/>
          <a:lstStyle/>
          <a:p>
            <a:pPr marL="0" indent="0">
              <a:buNone/>
            </a:pPr>
            <a:r>
              <a:rPr lang="en-US" sz="2000" i="1" dirty="0">
                <a:solidFill>
                  <a:schemeClr val="bg1"/>
                </a:solidFill>
              </a:rPr>
              <a:t>“I have never seen Docker fully understood by only listening. You learn it by breaking it.”</a:t>
            </a:r>
            <a:endParaRPr lang="en-US" sz="20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QUICK POLL · RAISE YOUR HAND</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What do you already know?</a:t>
            </a:r>
            <a:endParaRPr lang="en-US" sz="3000" dirty="0"/>
          </a:p>
        </p:txBody>
      </p:sp>
      <p:sp>
        <p:nvSpPr>
          <p:cNvPr id="4" name="Text 2"/>
          <p:cNvSpPr txBox="1"/>
          <p:nvPr/>
        </p:nvSpPr>
        <p:spPr>
          <a:xfrm>
            <a:off x="731520" y="1737360"/>
            <a:ext cx="1005840" cy="822960"/>
          </a:xfrm>
          <a:prstGeom prst="rect">
            <a:avLst/>
          </a:prstGeom>
          <a:noFill/>
          <a:ln/>
        </p:spPr>
        <p:txBody>
          <a:bodyPr wrap="square" lIns="0" tIns="0" rIns="0" bIns="0" rtlCol="0" anchor="ctr"/>
          <a:lstStyle/>
          <a:p>
            <a:pPr marL="0" indent="0">
              <a:buNone/>
            </a:pPr>
            <a:r>
              <a:rPr lang="en-US" sz="4000" b="1" dirty="0">
                <a:solidFill>
                  <a:schemeClr val="accent2"/>
                </a:solidFill>
              </a:rPr>
              <a:t>01</a:t>
            </a:r>
            <a:endParaRPr lang="en-US" sz="4000" dirty="0"/>
          </a:p>
        </p:txBody>
      </p:sp>
      <p:sp>
        <p:nvSpPr>
          <p:cNvPr id="5" name="Text 3"/>
          <p:cNvSpPr txBox="1"/>
          <p:nvPr/>
        </p:nvSpPr>
        <p:spPr>
          <a:xfrm>
            <a:off x="1828800" y="1737360"/>
            <a:ext cx="9418320" cy="822960"/>
          </a:xfrm>
          <a:prstGeom prst="rect">
            <a:avLst/>
          </a:prstGeom>
          <a:noFill/>
          <a:ln/>
        </p:spPr>
        <p:txBody>
          <a:bodyPr wrap="square" lIns="0" tIns="0" rIns="0" bIns="0" rtlCol="0" anchor="ctr"/>
          <a:lstStyle/>
          <a:p>
            <a:pPr marL="0" indent="0">
              <a:buNone/>
            </a:pPr>
            <a:r>
              <a:rPr lang="en-US" sz="2000" dirty="0">
                <a:solidFill>
                  <a:schemeClr val="bg1"/>
                </a:solidFill>
              </a:rPr>
              <a:t>Why did the IT industry move towards containers when virtual machines were already available?</a:t>
            </a:r>
            <a:endParaRPr lang="en-US" sz="2000" dirty="0"/>
          </a:p>
        </p:txBody>
      </p:sp>
      <p:sp>
        <p:nvSpPr>
          <p:cNvPr id="6" name="Text 4"/>
          <p:cNvSpPr txBox="1"/>
          <p:nvPr/>
        </p:nvSpPr>
        <p:spPr>
          <a:xfrm>
            <a:off x="731520" y="2816352"/>
            <a:ext cx="1005840" cy="822960"/>
          </a:xfrm>
          <a:prstGeom prst="rect">
            <a:avLst/>
          </a:prstGeom>
          <a:noFill/>
          <a:ln/>
        </p:spPr>
        <p:txBody>
          <a:bodyPr wrap="square" lIns="0" tIns="0" rIns="0" bIns="0" rtlCol="0" anchor="ctr"/>
          <a:lstStyle/>
          <a:p>
            <a:pPr marL="0" indent="0">
              <a:buNone/>
            </a:pPr>
            <a:r>
              <a:rPr lang="en-US" sz="4000" b="1" dirty="0">
                <a:solidFill>
                  <a:schemeClr val="accent1"/>
                </a:solidFill>
              </a:rPr>
              <a:t>02</a:t>
            </a:r>
            <a:endParaRPr lang="en-US" sz="4000" dirty="0"/>
          </a:p>
        </p:txBody>
      </p:sp>
      <p:sp>
        <p:nvSpPr>
          <p:cNvPr id="7" name="Text 5"/>
          <p:cNvSpPr txBox="1"/>
          <p:nvPr/>
        </p:nvSpPr>
        <p:spPr>
          <a:xfrm>
            <a:off x="1828800" y="2816352"/>
            <a:ext cx="9418320" cy="822960"/>
          </a:xfrm>
          <a:prstGeom prst="rect">
            <a:avLst/>
          </a:prstGeom>
          <a:noFill/>
          <a:ln/>
        </p:spPr>
        <p:txBody>
          <a:bodyPr wrap="square" lIns="0" tIns="0" rIns="0" bIns="0" rtlCol="0" anchor="ctr"/>
          <a:lstStyle/>
          <a:p>
            <a:pPr marL="0" indent="0">
              <a:buNone/>
            </a:pPr>
            <a:r>
              <a:rPr lang="en-US" sz="2000" dirty="0">
                <a:solidFill>
                  <a:schemeClr val="bg1"/>
                </a:solidFill>
              </a:rPr>
              <a:t>Have you heard of Docker before? What do you think Docker is used for?</a:t>
            </a:r>
            <a:endParaRPr lang="en-US" sz="2000" dirty="0"/>
          </a:p>
        </p:txBody>
      </p:sp>
      <p:sp>
        <p:nvSpPr>
          <p:cNvPr id="8" name="Text 6"/>
          <p:cNvSpPr txBox="1"/>
          <p:nvPr/>
        </p:nvSpPr>
        <p:spPr>
          <a:xfrm>
            <a:off x="731520" y="3895344"/>
            <a:ext cx="1005840" cy="822960"/>
          </a:xfrm>
          <a:prstGeom prst="rect">
            <a:avLst/>
          </a:prstGeom>
          <a:noFill/>
          <a:ln/>
        </p:spPr>
        <p:txBody>
          <a:bodyPr wrap="square" lIns="0" tIns="0" rIns="0" bIns="0" rtlCol="0" anchor="ctr"/>
          <a:lstStyle/>
          <a:p>
            <a:pPr marL="0" indent="0">
              <a:buNone/>
            </a:pPr>
            <a:r>
              <a:rPr lang="en-US" sz="4000" b="1" dirty="0">
                <a:solidFill>
                  <a:schemeClr val="accent1"/>
                </a:solidFill>
              </a:rPr>
              <a:t>03</a:t>
            </a:r>
            <a:endParaRPr lang="en-US" sz="4000" dirty="0"/>
          </a:p>
        </p:txBody>
      </p:sp>
      <p:sp>
        <p:nvSpPr>
          <p:cNvPr id="9" name="Text 7"/>
          <p:cNvSpPr txBox="1"/>
          <p:nvPr/>
        </p:nvSpPr>
        <p:spPr>
          <a:xfrm>
            <a:off x="1828800" y="3895344"/>
            <a:ext cx="9418320" cy="822960"/>
          </a:xfrm>
          <a:prstGeom prst="rect">
            <a:avLst/>
          </a:prstGeom>
          <a:noFill/>
          <a:ln/>
        </p:spPr>
        <p:txBody>
          <a:bodyPr wrap="square" lIns="0" tIns="0" rIns="0" bIns="0" rtlCol="0" anchor="ctr"/>
          <a:lstStyle/>
          <a:p>
            <a:pPr marL="0" indent="0">
              <a:buNone/>
            </a:pPr>
            <a:r>
              <a:rPr lang="en-US" sz="2000" dirty="0">
                <a:solidFill>
                  <a:schemeClr val="bg1"/>
                </a:solidFill>
              </a:rPr>
              <a:t>What is a virtual machine (VM)? Have you ever worked with one?</a:t>
            </a:r>
            <a:endParaRPr lang="en-US" sz="2000" dirty="0"/>
          </a:p>
        </p:txBody>
      </p:sp>
      <p:sp>
        <p:nvSpPr>
          <p:cNvPr id="10" name="Text 8"/>
          <p:cNvSpPr txBox="1"/>
          <p:nvPr/>
        </p:nvSpPr>
        <p:spPr>
          <a:xfrm>
            <a:off x="731520" y="4974336"/>
            <a:ext cx="1005840" cy="822960"/>
          </a:xfrm>
          <a:prstGeom prst="rect">
            <a:avLst/>
          </a:prstGeom>
          <a:noFill/>
          <a:ln/>
        </p:spPr>
        <p:txBody>
          <a:bodyPr wrap="square" lIns="0" tIns="0" rIns="0" bIns="0" rtlCol="0" anchor="ctr"/>
          <a:lstStyle/>
          <a:p>
            <a:pPr marL="0" indent="0">
              <a:buNone/>
            </a:pPr>
            <a:r>
              <a:rPr lang="en-US" sz="4000" b="1" dirty="0">
                <a:solidFill>
                  <a:schemeClr val="accent1"/>
                </a:solidFill>
              </a:rPr>
              <a:t>04</a:t>
            </a:r>
            <a:endParaRPr lang="en-US" sz="4000" dirty="0"/>
          </a:p>
        </p:txBody>
      </p:sp>
      <p:sp>
        <p:nvSpPr>
          <p:cNvPr id="11" name="Text 9"/>
          <p:cNvSpPr txBox="1"/>
          <p:nvPr/>
        </p:nvSpPr>
        <p:spPr>
          <a:xfrm>
            <a:off x="1828800" y="4974336"/>
            <a:ext cx="9418320" cy="822960"/>
          </a:xfrm>
          <a:prstGeom prst="rect">
            <a:avLst/>
          </a:prstGeom>
          <a:noFill/>
          <a:ln/>
        </p:spPr>
        <p:txBody>
          <a:bodyPr wrap="square" lIns="0" tIns="0" rIns="0" bIns="0" rtlCol="0" anchor="ctr"/>
          <a:lstStyle/>
          <a:p>
            <a:pPr marL="0" indent="0">
              <a:buNone/>
            </a:pPr>
            <a:r>
              <a:rPr lang="en-US" sz="2000" dirty="0">
                <a:solidFill>
                  <a:schemeClr val="bg1"/>
                </a:solidFill>
              </a:rPr>
              <a:t>What do you understand by the word “container” in IT?</a:t>
            </a:r>
            <a:endParaRPr lang="en-US" sz="20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TODAY'S ROADMAP</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From the problem to a working, optimized container</a:t>
            </a:r>
            <a:endParaRPr lang="en-US" sz="3000" dirty="0"/>
          </a:p>
        </p:txBody>
      </p:sp>
      <p:sp>
        <p:nvSpPr>
          <p:cNvPr id="4" name="Shape 2"/>
          <p:cNvSpPr/>
          <p:nvPr/>
        </p:nvSpPr>
        <p:spPr>
          <a:xfrm>
            <a:off x="1051560" y="2240280"/>
            <a:ext cx="9555480" cy="0"/>
          </a:xfrm>
          <a:prstGeom prst="line">
            <a:avLst/>
          </a:prstGeom>
          <a:noFill/>
          <a:ln w="19050">
            <a:solidFill>
              <a:schemeClr val="accent6"/>
            </a:solidFill>
            <a:prstDash val="solid"/>
          </a:ln>
        </p:spPr>
      </p:sp>
      <p:sp>
        <p:nvSpPr>
          <p:cNvPr id="5" name="Shape 3"/>
          <p:cNvSpPr/>
          <p:nvPr/>
        </p:nvSpPr>
        <p:spPr>
          <a:xfrm>
            <a:off x="1051560" y="4343400"/>
            <a:ext cx="9555480" cy="0"/>
          </a:xfrm>
          <a:prstGeom prst="line">
            <a:avLst/>
          </a:prstGeom>
          <a:noFill/>
          <a:ln w="19050">
            <a:solidFill>
              <a:schemeClr val="accent6"/>
            </a:solidFill>
            <a:prstDash val="solid"/>
          </a:ln>
        </p:spPr>
      </p:sp>
      <p:sp>
        <p:nvSpPr>
          <p:cNvPr id="6" name="Shape 4"/>
          <p:cNvSpPr/>
          <p:nvPr/>
        </p:nvSpPr>
        <p:spPr>
          <a:xfrm>
            <a:off x="777240" y="1874520"/>
            <a:ext cx="731520" cy="731520"/>
          </a:xfrm>
          <a:prstGeom prst="ellipse">
            <a:avLst/>
          </a:prstGeom>
          <a:solidFill>
            <a:schemeClr val="accent1"/>
          </a:solidFill>
          <a:ln w="38100">
            <a:solidFill>
              <a:srgbClr val="0B1426"/>
            </a:solidFill>
            <a:prstDash val="solid"/>
          </a:ln>
        </p:spPr>
      </p:sp>
      <p:sp>
        <p:nvSpPr>
          <p:cNvPr id="7" name="Text 5"/>
          <p:cNvSpPr txBox="1"/>
          <p:nvPr/>
        </p:nvSpPr>
        <p:spPr>
          <a:xfrm>
            <a:off x="777240" y="1847625"/>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02</a:t>
            </a:r>
            <a:endParaRPr lang="en-US" sz="1600" dirty="0"/>
          </a:p>
        </p:txBody>
      </p:sp>
      <p:sp>
        <p:nvSpPr>
          <p:cNvPr id="8" name="Text 6"/>
          <p:cNvSpPr txBox="1"/>
          <p:nvPr/>
        </p:nvSpPr>
        <p:spPr>
          <a:xfrm>
            <a:off x="731520" y="2743200"/>
            <a:ext cx="2514600" cy="365760"/>
          </a:xfrm>
          <a:prstGeom prst="rect">
            <a:avLst/>
          </a:prstGeom>
          <a:noFill/>
          <a:ln/>
        </p:spPr>
        <p:txBody>
          <a:bodyPr wrap="square" lIns="0" tIns="0" rIns="0" bIns="0" rtlCol="0" anchor="t"/>
          <a:lstStyle/>
          <a:p>
            <a:pPr marL="0" indent="0">
              <a:buNone/>
            </a:pPr>
            <a:r>
              <a:rPr lang="en-US" sz="1700" b="1" dirty="0">
                <a:solidFill>
                  <a:schemeClr val="bg1"/>
                </a:solidFill>
              </a:rPr>
              <a:t>Why containers?</a:t>
            </a:r>
            <a:endParaRPr lang="en-US" sz="1700" dirty="0"/>
          </a:p>
        </p:txBody>
      </p:sp>
      <p:sp>
        <p:nvSpPr>
          <p:cNvPr id="9" name="Text 7"/>
          <p:cNvSpPr txBox="1"/>
          <p:nvPr/>
        </p:nvSpPr>
        <p:spPr>
          <a:xfrm>
            <a:off x="731520" y="3108960"/>
            <a:ext cx="2514600" cy="548640"/>
          </a:xfrm>
          <a:prstGeom prst="rect">
            <a:avLst/>
          </a:prstGeom>
          <a:noFill/>
          <a:ln/>
        </p:spPr>
        <p:txBody>
          <a:bodyPr wrap="square" lIns="0" tIns="0" rIns="0" bIns="0" rtlCol="0" anchor="t"/>
          <a:lstStyle/>
          <a:p>
            <a:pPr marL="0" indent="0">
              <a:buNone/>
            </a:pPr>
            <a:r>
              <a:rPr lang="en-US" sz="1400" dirty="0">
                <a:solidFill>
                  <a:schemeClr val="bg2"/>
                </a:solidFill>
              </a:rPr>
              <a:t>The problems before containers</a:t>
            </a:r>
            <a:endParaRPr lang="en-US" sz="1400" dirty="0"/>
          </a:p>
        </p:txBody>
      </p:sp>
      <p:sp>
        <p:nvSpPr>
          <p:cNvPr id="10" name="Shape 8"/>
          <p:cNvSpPr/>
          <p:nvPr/>
        </p:nvSpPr>
        <p:spPr>
          <a:xfrm>
            <a:off x="3474720" y="1874520"/>
            <a:ext cx="731520" cy="731520"/>
          </a:xfrm>
          <a:prstGeom prst="ellipse">
            <a:avLst/>
          </a:prstGeom>
          <a:solidFill>
            <a:schemeClr val="accent1"/>
          </a:solidFill>
          <a:ln w="38100">
            <a:solidFill>
              <a:srgbClr val="0B1426"/>
            </a:solidFill>
            <a:prstDash val="solid"/>
          </a:ln>
        </p:spPr>
      </p:sp>
      <p:sp>
        <p:nvSpPr>
          <p:cNvPr id="11" name="Text 9"/>
          <p:cNvSpPr txBox="1"/>
          <p:nvPr/>
        </p:nvSpPr>
        <p:spPr>
          <a:xfrm>
            <a:off x="3474720" y="1874520"/>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03</a:t>
            </a:r>
            <a:endParaRPr lang="en-US" sz="1600" dirty="0"/>
          </a:p>
        </p:txBody>
      </p:sp>
      <p:sp>
        <p:nvSpPr>
          <p:cNvPr id="12" name="Text 10"/>
          <p:cNvSpPr txBox="1"/>
          <p:nvPr/>
        </p:nvSpPr>
        <p:spPr>
          <a:xfrm>
            <a:off x="3429000" y="2743200"/>
            <a:ext cx="2514600" cy="365760"/>
          </a:xfrm>
          <a:prstGeom prst="rect">
            <a:avLst/>
          </a:prstGeom>
          <a:noFill/>
          <a:ln/>
        </p:spPr>
        <p:txBody>
          <a:bodyPr wrap="square" lIns="0" tIns="0" rIns="0" bIns="0" rtlCol="0" anchor="t"/>
          <a:lstStyle/>
          <a:p>
            <a:pPr marL="0" indent="0">
              <a:buNone/>
            </a:pPr>
            <a:r>
              <a:rPr lang="en-US" sz="1700" b="1" dirty="0">
                <a:solidFill>
                  <a:schemeClr val="bg1"/>
                </a:solidFill>
              </a:rPr>
              <a:t>Containers vs VMs</a:t>
            </a:r>
            <a:endParaRPr lang="en-US" sz="1700" dirty="0"/>
          </a:p>
        </p:txBody>
      </p:sp>
      <p:sp>
        <p:nvSpPr>
          <p:cNvPr id="13" name="Text 11"/>
          <p:cNvSpPr txBox="1"/>
          <p:nvPr/>
        </p:nvSpPr>
        <p:spPr>
          <a:xfrm>
            <a:off x="3429000" y="3108960"/>
            <a:ext cx="2514600" cy="548640"/>
          </a:xfrm>
          <a:prstGeom prst="rect">
            <a:avLst/>
          </a:prstGeom>
          <a:noFill/>
          <a:ln/>
        </p:spPr>
        <p:txBody>
          <a:bodyPr wrap="square" lIns="0" tIns="0" rIns="0" bIns="0" rtlCol="0" anchor="t"/>
          <a:lstStyle/>
          <a:p>
            <a:pPr marL="0" indent="0">
              <a:buNone/>
            </a:pPr>
            <a:r>
              <a:rPr lang="en-US" sz="1400" dirty="0">
                <a:solidFill>
                  <a:schemeClr val="bg2"/>
                </a:solidFill>
              </a:rPr>
              <a:t>Shared kernel, architecture, analogies</a:t>
            </a:r>
            <a:endParaRPr lang="en-US" sz="1400" dirty="0"/>
          </a:p>
        </p:txBody>
      </p:sp>
      <p:sp>
        <p:nvSpPr>
          <p:cNvPr id="14" name="Shape 12"/>
          <p:cNvSpPr/>
          <p:nvPr/>
        </p:nvSpPr>
        <p:spPr>
          <a:xfrm>
            <a:off x="6172200" y="1874520"/>
            <a:ext cx="731520" cy="731520"/>
          </a:xfrm>
          <a:prstGeom prst="ellipse">
            <a:avLst/>
          </a:prstGeom>
          <a:solidFill>
            <a:schemeClr val="accent1"/>
          </a:solidFill>
          <a:ln w="38100">
            <a:solidFill>
              <a:srgbClr val="0B1426"/>
            </a:solidFill>
            <a:prstDash val="solid"/>
          </a:ln>
        </p:spPr>
      </p:sp>
      <p:sp>
        <p:nvSpPr>
          <p:cNvPr id="15" name="Text 13"/>
          <p:cNvSpPr txBox="1"/>
          <p:nvPr/>
        </p:nvSpPr>
        <p:spPr>
          <a:xfrm>
            <a:off x="6172200" y="1874520"/>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04</a:t>
            </a:r>
            <a:endParaRPr lang="en-US" sz="1600" dirty="0"/>
          </a:p>
        </p:txBody>
      </p:sp>
      <p:sp>
        <p:nvSpPr>
          <p:cNvPr id="16" name="Text 14"/>
          <p:cNvSpPr txBox="1"/>
          <p:nvPr/>
        </p:nvSpPr>
        <p:spPr>
          <a:xfrm>
            <a:off x="6126480" y="2743200"/>
            <a:ext cx="2514600" cy="365760"/>
          </a:xfrm>
          <a:prstGeom prst="rect">
            <a:avLst/>
          </a:prstGeom>
          <a:noFill/>
          <a:ln/>
        </p:spPr>
        <p:txBody>
          <a:bodyPr wrap="square" lIns="0" tIns="0" rIns="0" bIns="0" rtlCol="0" anchor="t"/>
          <a:lstStyle/>
          <a:p>
            <a:pPr marL="0" indent="0">
              <a:buNone/>
            </a:pPr>
            <a:r>
              <a:rPr lang="en-US" sz="1700" b="1" dirty="0">
                <a:solidFill>
                  <a:schemeClr val="bg1"/>
                </a:solidFill>
              </a:rPr>
              <a:t>Docker fundamentals</a:t>
            </a:r>
            <a:endParaRPr lang="en-US" sz="1700" dirty="0"/>
          </a:p>
        </p:txBody>
      </p:sp>
      <p:sp>
        <p:nvSpPr>
          <p:cNvPr id="17" name="Text 15"/>
          <p:cNvSpPr txBox="1"/>
          <p:nvPr/>
        </p:nvSpPr>
        <p:spPr>
          <a:xfrm>
            <a:off x="6126480" y="3108960"/>
            <a:ext cx="2514600" cy="548640"/>
          </a:xfrm>
          <a:prstGeom prst="rect">
            <a:avLst/>
          </a:prstGeom>
          <a:noFill/>
          <a:ln/>
        </p:spPr>
        <p:txBody>
          <a:bodyPr wrap="square" lIns="0" tIns="0" rIns="0" bIns="0" rtlCol="0" anchor="t"/>
          <a:lstStyle/>
          <a:p>
            <a:pPr marL="0" indent="0">
              <a:buNone/>
            </a:pPr>
            <a:r>
              <a:rPr lang="en-US" sz="1400" dirty="0">
                <a:solidFill>
                  <a:schemeClr val="bg2"/>
                </a:solidFill>
              </a:rPr>
              <a:t>Platform, architecture, terms</a:t>
            </a:r>
            <a:endParaRPr lang="en-US" sz="1400" dirty="0"/>
          </a:p>
        </p:txBody>
      </p:sp>
      <p:sp>
        <p:nvSpPr>
          <p:cNvPr id="18" name="Shape 16"/>
          <p:cNvSpPr/>
          <p:nvPr/>
        </p:nvSpPr>
        <p:spPr>
          <a:xfrm>
            <a:off x="8869680" y="1874520"/>
            <a:ext cx="731520" cy="731520"/>
          </a:xfrm>
          <a:prstGeom prst="ellipse">
            <a:avLst/>
          </a:prstGeom>
          <a:solidFill>
            <a:schemeClr val="accent1"/>
          </a:solidFill>
          <a:ln w="38100">
            <a:solidFill>
              <a:srgbClr val="0B1426"/>
            </a:solidFill>
            <a:prstDash val="solid"/>
          </a:ln>
        </p:spPr>
      </p:sp>
      <p:sp>
        <p:nvSpPr>
          <p:cNvPr id="19" name="Text 17"/>
          <p:cNvSpPr txBox="1"/>
          <p:nvPr/>
        </p:nvSpPr>
        <p:spPr>
          <a:xfrm>
            <a:off x="8869680" y="1874520"/>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05</a:t>
            </a:r>
            <a:endParaRPr lang="en-US" sz="1600" dirty="0"/>
          </a:p>
        </p:txBody>
      </p:sp>
      <p:sp>
        <p:nvSpPr>
          <p:cNvPr id="20" name="Text 18"/>
          <p:cNvSpPr txBox="1"/>
          <p:nvPr/>
        </p:nvSpPr>
        <p:spPr>
          <a:xfrm>
            <a:off x="8823960" y="2743200"/>
            <a:ext cx="2514600" cy="365760"/>
          </a:xfrm>
          <a:prstGeom prst="rect">
            <a:avLst/>
          </a:prstGeom>
          <a:noFill/>
          <a:ln/>
        </p:spPr>
        <p:txBody>
          <a:bodyPr wrap="square" lIns="0" tIns="0" rIns="0" bIns="0" rtlCol="0" anchor="t"/>
          <a:lstStyle/>
          <a:p>
            <a:pPr marL="0" indent="0">
              <a:buNone/>
            </a:pPr>
            <a:r>
              <a:rPr lang="en-US" sz="1700" b="1" dirty="0">
                <a:solidFill>
                  <a:schemeClr val="bg1"/>
                </a:solidFill>
              </a:rPr>
              <a:t>Container lifecycle</a:t>
            </a:r>
            <a:endParaRPr lang="en-US" sz="1700" dirty="0"/>
          </a:p>
        </p:txBody>
      </p:sp>
      <p:sp>
        <p:nvSpPr>
          <p:cNvPr id="21" name="Text 19"/>
          <p:cNvSpPr txBox="1"/>
          <p:nvPr/>
        </p:nvSpPr>
        <p:spPr>
          <a:xfrm>
            <a:off x="8823960" y="3108960"/>
            <a:ext cx="2514600" cy="548640"/>
          </a:xfrm>
          <a:prstGeom prst="rect">
            <a:avLst/>
          </a:prstGeom>
          <a:noFill/>
          <a:ln/>
        </p:spPr>
        <p:txBody>
          <a:bodyPr wrap="square" lIns="0" tIns="0" rIns="0" bIns="0" rtlCol="0" anchor="t"/>
          <a:lstStyle/>
          <a:p>
            <a:pPr marL="0" indent="0">
              <a:buNone/>
            </a:pPr>
            <a:r>
              <a:rPr lang="en-US" sz="1400" dirty="0">
                <a:solidFill>
                  <a:schemeClr val="bg2"/>
                </a:solidFill>
              </a:rPr>
              <a:t>Create, run, stop, pause, remove</a:t>
            </a:r>
            <a:endParaRPr lang="en-US" sz="1400" dirty="0"/>
          </a:p>
        </p:txBody>
      </p:sp>
      <p:sp>
        <p:nvSpPr>
          <p:cNvPr id="22" name="Shape 20"/>
          <p:cNvSpPr/>
          <p:nvPr/>
        </p:nvSpPr>
        <p:spPr>
          <a:xfrm>
            <a:off x="777240" y="3977640"/>
            <a:ext cx="731520" cy="731520"/>
          </a:xfrm>
          <a:prstGeom prst="ellipse">
            <a:avLst/>
          </a:prstGeom>
          <a:solidFill>
            <a:schemeClr val="accent1"/>
          </a:solidFill>
          <a:ln w="38100">
            <a:solidFill>
              <a:srgbClr val="0B1426"/>
            </a:solidFill>
            <a:prstDash val="solid"/>
          </a:ln>
        </p:spPr>
      </p:sp>
      <p:sp>
        <p:nvSpPr>
          <p:cNvPr id="23" name="Text 21"/>
          <p:cNvSpPr txBox="1"/>
          <p:nvPr/>
        </p:nvSpPr>
        <p:spPr>
          <a:xfrm>
            <a:off x="777240" y="3977640"/>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06</a:t>
            </a:r>
            <a:endParaRPr lang="en-US" sz="1600" dirty="0"/>
          </a:p>
        </p:txBody>
      </p:sp>
      <p:sp>
        <p:nvSpPr>
          <p:cNvPr id="24" name="Text 22"/>
          <p:cNvSpPr txBox="1"/>
          <p:nvPr/>
        </p:nvSpPr>
        <p:spPr>
          <a:xfrm>
            <a:off x="731520" y="4846320"/>
            <a:ext cx="2514600" cy="365760"/>
          </a:xfrm>
          <a:prstGeom prst="rect">
            <a:avLst/>
          </a:prstGeom>
          <a:noFill/>
          <a:ln/>
        </p:spPr>
        <p:txBody>
          <a:bodyPr wrap="square" lIns="0" tIns="0" rIns="0" bIns="0" rtlCol="0" anchor="t"/>
          <a:lstStyle/>
          <a:p>
            <a:pPr marL="0" indent="0">
              <a:buNone/>
            </a:pPr>
            <a:r>
              <a:rPr lang="en-US" sz="1700" b="1" dirty="0">
                <a:solidFill>
                  <a:schemeClr val="bg1"/>
                </a:solidFill>
              </a:rPr>
              <a:t>Docker images</a:t>
            </a:r>
            <a:endParaRPr lang="en-US" sz="1700" dirty="0"/>
          </a:p>
        </p:txBody>
      </p:sp>
      <p:sp>
        <p:nvSpPr>
          <p:cNvPr id="25" name="Text 23"/>
          <p:cNvSpPr txBox="1"/>
          <p:nvPr/>
        </p:nvSpPr>
        <p:spPr>
          <a:xfrm>
            <a:off x="731520" y="5212080"/>
            <a:ext cx="2514600" cy="548640"/>
          </a:xfrm>
          <a:prstGeom prst="rect">
            <a:avLst/>
          </a:prstGeom>
          <a:noFill/>
          <a:ln/>
        </p:spPr>
        <p:txBody>
          <a:bodyPr wrap="square" lIns="0" tIns="0" rIns="0" bIns="0" rtlCol="0" anchor="t"/>
          <a:lstStyle/>
          <a:p>
            <a:pPr marL="0" indent="0">
              <a:buNone/>
            </a:pPr>
            <a:r>
              <a:rPr lang="en-US" sz="1400" dirty="0">
                <a:solidFill>
                  <a:schemeClr val="bg2"/>
                </a:solidFill>
              </a:rPr>
              <a:t>Dockerfile, commit, push and pull</a:t>
            </a:r>
            <a:endParaRPr lang="en-US" sz="1400" dirty="0"/>
          </a:p>
        </p:txBody>
      </p:sp>
      <p:sp>
        <p:nvSpPr>
          <p:cNvPr id="26" name="Shape 24"/>
          <p:cNvSpPr/>
          <p:nvPr/>
        </p:nvSpPr>
        <p:spPr>
          <a:xfrm>
            <a:off x="3474720" y="3977640"/>
            <a:ext cx="731520" cy="731520"/>
          </a:xfrm>
          <a:prstGeom prst="ellipse">
            <a:avLst/>
          </a:prstGeom>
          <a:solidFill>
            <a:schemeClr val="accent1"/>
          </a:solidFill>
          <a:ln w="38100">
            <a:solidFill>
              <a:srgbClr val="0B1426"/>
            </a:solidFill>
            <a:prstDash val="solid"/>
          </a:ln>
        </p:spPr>
      </p:sp>
      <p:sp>
        <p:nvSpPr>
          <p:cNvPr id="27" name="Text 25"/>
          <p:cNvSpPr txBox="1"/>
          <p:nvPr/>
        </p:nvSpPr>
        <p:spPr>
          <a:xfrm>
            <a:off x="3474720" y="3977640"/>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07</a:t>
            </a:r>
            <a:endParaRPr lang="en-US" sz="1600" dirty="0"/>
          </a:p>
        </p:txBody>
      </p:sp>
      <p:sp>
        <p:nvSpPr>
          <p:cNvPr id="28" name="Text 26"/>
          <p:cNvSpPr txBox="1"/>
          <p:nvPr/>
        </p:nvSpPr>
        <p:spPr>
          <a:xfrm>
            <a:off x="3429000" y="4846320"/>
            <a:ext cx="2514600" cy="365760"/>
          </a:xfrm>
          <a:prstGeom prst="rect">
            <a:avLst/>
          </a:prstGeom>
          <a:noFill/>
          <a:ln/>
        </p:spPr>
        <p:txBody>
          <a:bodyPr wrap="square" lIns="0" tIns="0" rIns="0" bIns="0" rtlCol="0" anchor="t"/>
          <a:lstStyle/>
          <a:p>
            <a:pPr marL="0" indent="0">
              <a:buNone/>
            </a:pPr>
            <a:r>
              <a:rPr lang="en-US" sz="1700" b="1" dirty="0">
                <a:solidFill>
                  <a:schemeClr val="bg1"/>
                </a:solidFill>
              </a:rPr>
              <a:t>Git and GitHub</a:t>
            </a:r>
            <a:endParaRPr lang="en-US" sz="1700" dirty="0"/>
          </a:p>
        </p:txBody>
      </p:sp>
      <p:sp>
        <p:nvSpPr>
          <p:cNvPr id="29" name="Text 27"/>
          <p:cNvSpPr txBox="1"/>
          <p:nvPr/>
        </p:nvSpPr>
        <p:spPr>
          <a:xfrm>
            <a:off x="3429000" y="5212080"/>
            <a:ext cx="2514600" cy="548640"/>
          </a:xfrm>
          <a:prstGeom prst="rect">
            <a:avLst/>
          </a:prstGeom>
          <a:noFill/>
          <a:ln/>
        </p:spPr>
        <p:txBody>
          <a:bodyPr wrap="square" lIns="0" tIns="0" rIns="0" bIns="0" rtlCol="0" anchor="t"/>
          <a:lstStyle/>
          <a:p>
            <a:pPr marL="0" indent="0">
              <a:buNone/>
            </a:pPr>
            <a:r>
              <a:rPr lang="en-US" sz="1400" dirty="0">
                <a:solidFill>
                  <a:schemeClr val="bg2"/>
                </a:solidFill>
              </a:rPr>
              <a:t>Add, commit, push, pull, branches</a:t>
            </a:r>
            <a:endParaRPr lang="en-US" sz="1400" dirty="0"/>
          </a:p>
        </p:txBody>
      </p:sp>
      <p:sp>
        <p:nvSpPr>
          <p:cNvPr id="30" name="Shape 28"/>
          <p:cNvSpPr/>
          <p:nvPr/>
        </p:nvSpPr>
        <p:spPr>
          <a:xfrm>
            <a:off x="6172200" y="3977640"/>
            <a:ext cx="731520" cy="731520"/>
          </a:xfrm>
          <a:prstGeom prst="ellipse">
            <a:avLst/>
          </a:prstGeom>
          <a:solidFill>
            <a:schemeClr val="accent1"/>
          </a:solidFill>
          <a:ln w="38100">
            <a:solidFill>
              <a:srgbClr val="0B1426"/>
            </a:solidFill>
            <a:prstDash val="solid"/>
          </a:ln>
        </p:spPr>
      </p:sp>
      <p:sp>
        <p:nvSpPr>
          <p:cNvPr id="31" name="Text 29"/>
          <p:cNvSpPr txBox="1"/>
          <p:nvPr/>
        </p:nvSpPr>
        <p:spPr>
          <a:xfrm>
            <a:off x="6172200" y="3977640"/>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08</a:t>
            </a:r>
            <a:endParaRPr lang="en-US" sz="1600" dirty="0"/>
          </a:p>
        </p:txBody>
      </p:sp>
      <p:sp>
        <p:nvSpPr>
          <p:cNvPr id="32" name="Text 30"/>
          <p:cNvSpPr txBox="1"/>
          <p:nvPr/>
        </p:nvSpPr>
        <p:spPr>
          <a:xfrm>
            <a:off x="6126480" y="4846320"/>
            <a:ext cx="2514600" cy="365760"/>
          </a:xfrm>
          <a:prstGeom prst="rect">
            <a:avLst/>
          </a:prstGeom>
          <a:noFill/>
          <a:ln/>
        </p:spPr>
        <p:txBody>
          <a:bodyPr wrap="square" lIns="0" tIns="0" rIns="0" bIns="0" rtlCol="0" anchor="t"/>
          <a:lstStyle/>
          <a:p>
            <a:pPr marL="0" indent="0">
              <a:buNone/>
            </a:pPr>
            <a:r>
              <a:rPr lang="en-US" sz="1700" b="1" dirty="0">
                <a:solidFill>
                  <a:schemeClr val="bg1"/>
                </a:solidFill>
              </a:rPr>
              <a:t>Image optimization</a:t>
            </a:r>
            <a:endParaRPr lang="en-US" sz="1700" dirty="0"/>
          </a:p>
        </p:txBody>
      </p:sp>
      <p:sp>
        <p:nvSpPr>
          <p:cNvPr id="33" name="Text 31"/>
          <p:cNvSpPr txBox="1"/>
          <p:nvPr/>
        </p:nvSpPr>
        <p:spPr>
          <a:xfrm>
            <a:off x="6126480" y="5212080"/>
            <a:ext cx="2514600" cy="548640"/>
          </a:xfrm>
          <a:prstGeom prst="rect">
            <a:avLst/>
          </a:prstGeom>
          <a:noFill/>
          <a:ln/>
        </p:spPr>
        <p:txBody>
          <a:bodyPr wrap="square" lIns="0" tIns="0" rIns="0" bIns="0" rtlCol="0" anchor="t"/>
          <a:lstStyle/>
          <a:p>
            <a:pPr marL="0" indent="0">
              <a:buNone/>
            </a:pPr>
            <a:r>
              <a:rPr lang="en-US" sz="1400" dirty="0">
                <a:solidFill>
                  <a:schemeClr val="bg2"/>
                </a:solidFill>
              </a:rPr>
              <a:t>Slim bases, layers, multi-stage</a:t>
            </a:r>
            <a:endParaRPr lang="en-US" sz="1400" dirty="0"/>
          </a:p>
        </p:txBody>
      </p:sp>
      <p:sp>
        <p:nvSpPr>
          <p:cNvPr id="34" name="Shape 32"/>
          <p:cNvSpPr/>
          <p:nvPr/>
        </p:nvSpPr>
        <p:spPr>
          <a:xfrm>
            <a:off x="8869680" y="3977640"/>
            <a:ext cx="731520" cy="731520"/>
          </a:xfrm>
          <a:prstGeom prst="ellipse">
            <a:avLst/>
          </a:prstGeom>
          <a:solidFill>
            <a:schemeClr val="accent2"/>
          </a:solidFill>
          <a:ln w="38100">
            <a:solidFill>
              <a:srgbClr val="0B1426"/>
            </a:solidFill>
            <a:prstDash val="solid"/>
          </a:ln>
        </p:spPr>
      </p:sp>
      <p:sp>
        <p:nvSpPr>
          <p:cNvPr id="35" name="Text 33"/>
          <p:cNvSpPr txBox="1"/>
          <p:nvPr/>
        </p:nvSpPr>
        <p:spPr>
          <a:xfrm>
            <a:off x="8869680" y="3977640"/>
            <a:ext cx="731520" cy="731520"/>
          </a:xfrm>
          <a:prstGeom prst="rect">
            <a:avLst/>
          </a:prstGeom>
          <a:noFill/>
          <a:ln/>
        </p:spPr>
        <p:txBody>
          <a:bodyPr wrap="square" lIns="0" tIns="0" rIns="0" bIns="0" rtlCol="0" anchor="ctr"/>
          <a:lstStyle/>
          <a:p>
            <a:pPr marL="0" indent="0" algn="ctr">
              <a:buNone/>
            </a:pPr>
            <a:r>
              <a:rPr lang="en-US" sz="1600" b="1" dirty="0">
                <a:solidFill>
                  <a:schemeClr val="tx1"/>
                </a:solidFill>
              </a:rPr>
              <a:t>09</a:t>
            </a:r>
            <a:endParaRPr lang="en-US" sz="1600" dirty="0"/>
          </a:p>
        </p:txBody>
      </p:sp>
      <p:sp>
        <p:nvSpPr>
          <p:cNvPr id="36" name="Text 34"/>
          <p:cNvSpPr txBox="1"/>
          <p:nvPr/>
        </p:nvSpPr>
        <p:spPr>
          <a:xfrm>
            <a:off x="8823960" y="4846320"/>
            <a:ext cx="2514600" cy="365760"/>
          </a:xfrm>
          <a:prstGeom prst="rect">
            <a:avLst/>
          </a:prstGeom>
          <a:noFill/>
          <a:ln/>
        </p:spPr>
        <p:txBody>
          <a:bodyPr wrap="square" lIns="0" tIns="0" rIns="0" bIns="0" rtlCol="0" anchor="t"/>
          <a:lstStyle/>
          <a:p>
            <a:pPr marL="0" indent="0">
              <a:buNone/>
            </a:pPr>
            <a:r>
              <a:rPr lang="en-US" sz="1700" b="1" dirty="0">
                <a:solidFill>
                  <a:schemeClr val="bg1"/>
                </a:solidFill>
              </a:rPr>
              <a:t>Wrap-up</a:t>
            </a:r>
            <a:endParaRPr lang="en-US" sz="1700" dirty="0"/>
          </a:p>
        </p:txBody>
      </p:sp>
      <p:sp>
        <p:nvSpPr>
          <p:cNvPr id="37" name="Text 35"/>
          <p:cNvSpPr txBox="1"/>
          <p:nvPr/>
        </p:nvSpPr>
        <p:spPr>
          <a:xfrm>
            <a:off x="8823960" y="5212080"/>
            <a:ext cx="2514600" cy="548640"/>
          </a:xfrm>
          <a:prstGeom prst="rect">
            <a:avLst/>
          </a:prstGeom>
          <a:noFill/>
          <a:ln/>
        </p:spPr>
        <p:txBody>
          <a:bodyPr wrap="square" lIns="0" tIns="0" rIns="0" bIns="0" rtlCol="0" anchor="t"/>
          <a:lstStyle/>
          <a:p>
            <a:pPr marL="0" indent="0">
              <a:buNone/>
            </a:pPr>
            <a:r>
              <a:rPr lang="en-US" sz="1400" dirty="0">
                <a:solidFill>
                  <a:schemeClr val="bg2"/>
                </a:solidFill>
              </a:rPr>
              <a:t>Takeaways, knowledge check, Q&amp;A</a:t>
            </a:r>
            <a:endParaRPr lang="en-US" sz="1400" dirty="0"/>
          </a:p>
        </p:txBody>
      </p:sp>
      <p:sp>
        <p:nvSpPr>
          <p:cNvPr id="38"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LEARNING OUTCOMES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By the end of today, you will be able to…</a:t>
            </a:r>
            <a:endParaRPr lang="en-US" sz="3000" dirty="0"/>
          </a:p>
        </p:txBody>
      </p:sp>
      <p:sp>
        <p:nvSpPr>
          <p:cNvPr id="4" name="Text 2"/>
          <p:cNvSpPr txBox="1"/>
          <p:nvPr/>
        </p:nvSpPr>
        <p:spPr>
          <a:xfrm>
            <a:off x="731520" y="1783080"/>
            <a:ext cx="3291840" cy="2926080"/>
          </a:xfrm>
          <a:prstGeom prst="rect">
            <a:avLst/>
          </a:prstGeom>
          <a:noFill/>
          <a:ln/>
        </p:spPr>
        <p:txBody>
          <a:bodyPr wrap="square" lIns="0" tIns="0" rIns="0" bIns="0" rtlCol="0" anchor="t"/>
          <a:lstStyle/>
          <a:p>
            <a:pPr marL="0" indent="0">
              <a:lnSpc>
                <a:spcPct val="105000"/>
              </a:lnSpc>
              <a:buNone/>
            </a:pPr>
            <a:r>
              <a:rPr lang="en-US" sz="4400" b="1" dirty="0">
                <a:solidFill>
                  <a:schemeClr val="accent1"/>
                </a:solidFill>
                <a:latin typeface="Segoe UI Semibold" pitchFamily="34" charset="0"/>
                <a:ea typeface="Segoe UI Semibold" pitchFamily="34" charset="-122"/>
                <a:cs typeface="Segoe UI Semibold" pitchFamily="34" charset="-120"/>
              </a:rPr>
              <a:t>Run it.</a:t>
            </a:r>
            <a:endParaRPr lang="en-US" sz="4400" dirty="0"/>
          </a:p>
          <a:p>
            <a:pPr marL="0" indent="0">
              <a:lnSpc>
                <a:spcPct val="105000"/>
              </a:lnSpc>
              <a:buNone/>
            </a:pPr>
            <a:r>
              <a:rPr lang="en-US" sz="4400" b="1" dirty="0">
                <a:solidFill>
                  <a:schemeClr val="accent1"/>
                </a:solidFill>
                <a:latin typeface="Segoe UI Semibold" pitchFamily="34" charset="0"/>
                <a:ea typeface="Segoe UI Semibold" pitchFamily="34" charset="-122"/>
                <a:cs typeface="Segoe UI Semibold" pitchFamily="34" charset="-120"/>
              </a:rPr>
              <a:t>Build it.</a:t>
            </a:r>
            <a:endParaRPr lang="en-US" sz="4400" dirty="0"/>
          </a:p>
          <a:p>
            <a:pPr marL="0" indent="0">
              <a:lnSpc>
                <a:spcPct val="105000"/>
              </a:lnSpc>
              <a:buNone/>
            </a:pPr>
            <a:r>
              <a:rPr lang="en-US" sz="4400" b="1" dirty="0">
                <a:solidFill>
                  <a:schemeClr val="accent1"/>
                </a:solidFill>
                <a:latin typeface="Segoe UI Semibold" pitchFamily="34" charset="0"/>
                <a:ea typeface="Segoe UI Semibold" pitchFamily="34" charset="-122"/>
                <a:cs typeface="Segoe UI Semibold" pitchFamily="34" charset="-120"/>
              </a:rPr>
              <a:t>Ship it.</a:t>
            </a:r>
            <a:endParaRPr lang="en-US" sz="4400" dirty="0"/>
          </a:p>
        </p:txBody>
      </p:sp>
      <p:sp>
        <p:nvSpPr>
          <p:cNvPr id="5" name="Text 3"/>
          <p:cNvSpPr txBox="1"/>
          <p:nvPr/>
        </p:nvSpPr>
        <p:spPr>
          <a:xfrm>
            <a:off x="731520" y="4846320"/>
            <a:ext cx="3108960" cy="822960"/>
          </a:xfrm>
          <a:prstGeom prst="rect">
            <a:avLst/>
          </a:prstGeom>
          <a:noFill/>
          <a:ln/>
        </p:spPr>
        <p:txBody>
          <a:bodyPr wrap="square" lIns="0" tIns="0" rIns="0" bIns="0" rtlCol="0" anchor="t"/>
          <a:lstStyle/>
          <a:p>
            <a:pPr marL="0" indent="0">
              <a:buNone/>
            </a:pPr>
            <a:r>
              <a:rPr lang="en-US" sz="1500" dirty="0">
                <a:solidFill>
                  <a:schemeClr val="bg2"/>
                </a:solidFill>
              </a:rPr>
              <a:t>Every outcome is practised in a lab, not just explained.</a:t>
            </a:r>
            <a:endParaRPr lang="en-US" sz="1500" dirty="0"/>
          </a:p>
        </p:txBody>
      </p:sp>
      <p:sp>
        <p:nvSpPr>
          <p:cNvPr id="6" name="Shape 4"/>
          <p:cNvSpPr/>
          <p:nvPr/>
        </p:nvSpPr>
        <p:spPr>
          <a:xfrm>
            <a:off x="4480560" y="1856232"/>
            <a:ext cx="292608" cy="292608"/>
          </a:xfrm>
          <a:prstGeom prst="ellipse">
            <a:avLst/>
          </a:prstGeom>
          <a:solidFill>
            <a:schemeClr val="accent2"/>
          </a:solidFill>
          <a:ln w="12700">
            <a:solidFill>
              <a:schemeClr val="accent2"/>
            </a:solidFill>
            <a:prstDash val="solid"/>
          </a:ln>
        </p:spPr>
      </p:sp>
      <p:sp>
        <p:nvSpPr>
          <p:cNvPr id="7" name="Text 5"/>
          <p:cNvSpPr txBox="1"/>
          <p:nvPr/>
        </p:nvSpPr>
        <p:spPr>
          <a:xfrm>
            <a:off x="4480560" y="1856232"/>
            <a:ext cx="292608" cy="292608"/>
          </a:xfrm>
          <a:prstGeom prst="rect">
            <a:avLst/>
          </a:prstGeom>
          <a:noFill/>
          <a:ln/>
        </p:spPr>
        <p:txBody>
          <a:bodyPr wrap="square" lIns="0" tIns="0" rIns="0" bIns="0" rtlCol="0" anchor="ctr"/>
          <a:lstStyle/>
          <a:p>
            <a:pPr marL="0" indent="0" algn="ctr">
              <a:buNone/>
            </a:pPr>
            <a:r>
              <a:rPr lang="en-US" sz="1100" b="1" dirty="0">
                <a:solidFill>
                  <a:schemeClr val="tx1"/>
                </a:solidFill>
              </a:rPr>
              <a:t>1</a:t>
            </a:r>
            <a:endParaRPr lang="en-US" sz="1100" dirty="0"/>
          </a:p>
        </p:txBody>
      </p:sp>
      <p:sp>
        <p:nvSpPr>
          <p:cNvPr id="8" name="Text 6"/>
          <p:cNvSpPr txBox="1"/>
          <p:nvPr/>
        </p:nvSpPr>
        <p:spPr>
          <a:xfrm>
            <a:off x="4937760" y="1783080"/>
            <a:ext cx="6583680" cy="457200"/>
          </a:xfrm>
          <a:prstGeom prst="rect">
            <a:avLst/>
          </a:prstGeom>
          <a:noFill/>
          <a:ln/>
        </p:spPr>
        <p:txBody>
          <a:bodyPr wrap="square" lIns="0" tIns="0" rIns="0" bIns="0" rtlCol="0" anchor="ctr"/>
          <a:lstStyle/>
          <a:p>
            <a:pPr marL="0" indent="0">
              <a:buNone/>
            </a:pPr>
            <a:r>
              <a:rPr lang="en-US" sz="1700" dirty="0">
                <a:solidFill>
                  <a:schemeClr val="bg1"/>
                </a:solidFill>
              </a:rPr>
              <a:t>Explain why containers solved “it works on my machine”</a:t>
            </a:r>
            <a:endParaRPr lang="en-US" sz="1700" dirty="0"/>
          </a:p>
        </p:txBody>
      </p:sp>
      <p:sp>
        <p:nvSpPr>
          <p:cNvPr id="9" name="Shape 7"/>
          <p:cNvSpPr/>
          <p:nvPr/>
        </p:nvSpPr>
        <p:spPr>
          <a:xfrm>
            <a:off x="4480560" y="2459736"/>
            <a:ext cx="292608" cy="292608"/>
          </a:xfrm>
          <a:prstGeom prst="ellipse">
            <a:avLst/>
          </a:prstGeom>
          <a:solidFill>
            <a:schemeClr val="accent2"/>
          </a:solidFill>
          <a:ln w="12700">
            <a:solidFill>
              <a:schemeClr val="accent2"/>
            </a:solidFill>
            <a:prstDash val="solid"/>
          </a:ln>
        </p:spPr>
      </p:sp>
      <p:sp>
        <p:nvSpPr>
          <p:cNvPr id="10" name="Text 8"/>
          <p:cNvSpPr txBox="1"/>
          <p:nvPr/>
        </p:nvSpPr>
        <p:spPr>
          <a:xfrm>
            <a:off x="4480560" y="2459736"/>
            <a:ext cx="292608" cy="292608"/>
          </a:xfrm>
          <a:prstGeom prst="rect">
            <a:avLst/>
          </a:prstGeom>
          <a:noFill/>
          <a:ln/>
        </p:spPr>
        <p:txBody>
          <a:bodyPr wrap="square" lIns="0" tIns="0" rIns="0" bIns="0" rtlCol="0" anchor="ctr"/>
          <a:lstStyle/>
          <a:p>
            <a:pPr marL="0" indent="0" algn="ctr">
              <a:buNone/>
            </a:pPr>
            <a:r>
              <a:rPr lang="en-US" sz="1100" b="1" dirty="0">
                <a:solidFill>
                  <a:schemeClr val="tx1"/>
                </a:solidFill>
              </a:rPr>
              <a:t>2</a:t>
            </a:r>
            <a:endParaRPr lang="en-US" sz="1100" dirty="0"/>
          </a:p>
        </p:txBody>
      </p:sp>
      <p:sp>
        <p:nvSpPr>
          <p:cNvPr id="11" name="Text 9"/>
          <p:cNvSpPr txBox="1"/>
          <p:nvPr/>
        </p:nvSpPr>
        <p:spPr>
          <a:xfrm>
            <a:off x="4937760" y="2386584"/>
            <a:ext cx="6583680" cy="457200"/>
          </a:xfrm>
          <a:prstGeom prst="rect">
            <a:avLst/>
          </a:prstGeom>
          <a:noFill/>
          <a:ln/>
        </p:spPr>
        <p:txBody>
          <a:bodyPr wrap="square" lIns="0" tIns="0" rIns="0" bIns="0" rtlCol="0" anchor="ctr"/>
          <a:lstStyle/>
          <a:p>
            <a:pPr marL="0" indent="0">
              <a:buNone/>
            </a:pPr>
            <a:r>
              <a:rPr lang="en-US" sz="1700" dirty="0">
                <a:solidFill>
                  <a:schemeClr val="bg1"/>
                </a:solidFill>
              </a:rPr>
              <a:t>Compare virtual machines and containers, and choose between them</a:t>
            </a:r>
            <a:endParaRPr lang="en-US" sz="1700" dirty="0"/>
          </a:p>
        </p:txBody>
      </p:sp>
      <p:sp>
        <p:nvSpPr>
          <p:cNvPr id="12" name="Shape 10"/>
          <p:cNvSpPr/>
          <p:nvPr/>
        </p:nvSpPr>
        <p:spPr>
          <a:xfrm>
            <a:off x="4480560" y="3063240"/>
            <a:ext cx="292608" cy="292608"/>
          </a:xfrm>
          <a:prstGeom prst="ellipse">
            <a:avLst/>
          </a:prstGeom>
          <a:solidFill>
            <a:schemeClr val="accent2"/>
          </a:solidFill>
          <a:ln w="12700">
            <a:solidFill>
              <a:schemeClr val="accent2"/>
            </a:solidFill>
            <a:prstDash val="solid"/>
          </a:ln>
        </p:spPr>
      </p:sp>
      <p:sp>
        <p:nvSpPr>
          <p:cNvPr id="13" name="Text 11"/>
          <p:cNvSpPr txBox="1"/>
          <p:nvPr/>
        </p:nvSpPr>
        <p:spPr>
          <a:xfrm>
            <a:off x="4480560" y="3063240"/>
            <a:ext cx="292608" cy="292608"/>
          </a:xfrm>
          <a:prstGeom prst="rect">
            <a:avLst/>
          </a:prstGeom>
          <a:noFill/>
          <a:ln/>
        </p:spPr>
        <p:txBody>
          <a:bodyPr wrap="square" lIns="0" tIns="0" rIns="0" bIns="0" rtlCol="0" anchor="ctr"/>
          <a:lstStyle/>
          <a:p>
            <a:pPr marL="0" indent="0" algn="ctr">
              <a:buNone/>
            </a:pPr>
            <a:r>
              <a:rPr lang="en-US" sz="1100" b="1" dirty="0">
                <a:solidFill>
                  <a:schemeClr val="tx1"/>
                </a:solidFill>
              </a:rPr>
              <a:t>3</a:t>
            </a:r>
            <a:endParaRPr lang="en-US" sz="1100" dirty="0"/>
          </a:p>
        </p:txBody>
      </p:sp>
      <p:sp>
        <p:nvSpPr>
          <p:cNvPr id="14" name="Text 12"/>
          <p:cNvSpPr txBox="1"/>
          <p:nvPr/>
        </p:nvSpPr>
        <p:spPr>
          <a:xfrm>
            <a:off x="4937760" y="2990088"/>
            <a:ext cx="6583680" cy="457200"/>
          </a:xfrm>
          <a:prstGeom prst="rect">
            <a:avLst/>
          </a:prstGeom>
          <a:noFill/>
          <a:ln/>
        </p:spPr>
        <p:txBody>
          <a:bodyPr wrap="square" lIns="0" tIns="0" rIns="0" bIns="0" rtlCol="0" anchor="ctr"/>
          <a:lstStyle/>
          <a:p>
            <a:pPr marL="0" indent="0">
              <a:buNone/>
            </a:pPr>
            <a:r>
              <a:rPr lang="en-US" sz="1700" dirty="0">
                <a:solidFill>
                  <a:schemeClr val="bg1"/>
                </a:solidFill>
              </a:rPr>
              <a:t>Describe Docker’s architecture: CLI, API, daemon, registry</a:t>
            </a:r>
            <a:endParaRPr lang="en-US" sz="1700" dirty="0"/>
          </a:p>
        </p:txBody>
      </p:sp>
      <p:sp>
        <p:nvSpPr>
          <p:cNvPr id="15" name="Shape 13"/>
          <p:cNvSpPr/>
          <p:nvPr/>
        </p:nvSpPr>
        <p:spPr>
          <a:xfrm>
            <a:off x="4480560" y="3666744"/>
            <a:ext cx="292608" cy="292608"/>
          </a:xfrm>
          <a:prstGeom prst="ellipse">
            <a:avLst/>
          </a:prstGeom>
          <a:solidFill>
            <a:schemeClr val="accent2"/>
          </a:solidFill>
          <a:ln w="12700">
            <a:solidFill>
              <a:schemeClr val="accent2"/>
            </a:solidFill>
            <a:prstDash val="solid"/>
          </a:ln>
        </p:spPr>
      </p:sp>
      <p:sp>
        <p:nvSpPr>
          <p:cNvPr id="16" name="Text 14"/>
          <p:cNvSpPr txBox="1"/>
          <p:nvPr/>
        </p:nvSpPr>
        <p:spPr>
          <a:xfrm>
            <a:off x="4480560" y="3666744"/>
            <a:ext cx="292608" cy="292608"/>
          </a:xfrm>
          <a:prstGeom prst="rect">
            <a:avLst/>
          </a:prstGeom>
          <a:noFill/>
          <a:ln/>
        </p:spPr>
        <p:txBody>
          <a:bodyPr wrap="square" lIns="0" tIns="0" rIns="0" bIns="0" rtlCol="0" anchor="ctr"/>
          <a:lstStyle/>
          <a:p>
            <a:pPr marL="0" indent="0" algn="ctr">
              <a:buNone/>
            </a:pPr>
            <a:r>
              <a:rPr lang="en-US" sz="1100" b="1" dirty="0">
                <a:solidFill>
                  <a:schemeClr val="tx1"/>
                </a:solidFill>
              </a:rPr>
              <a:t>4</a:t>
            </a:r>
            <a:endParaRPr lang="en-US" sz="1100" dirty="0"/>
          </a:p>
        </p:txBody>
      </p:sp>
      <p:sp>
        <p:nvSpPr>
          <p:cNvPr id="17" name="Text 15"/>
          <p:cNvSpPr txBox="1"/>
          <p:nvPr/>
        </p:nvSpPr>
        <p:spPr>
          <a:xfrm>
            <a:off x="4937760" y="3593592"/>
            <a:ext cx="6583680" cy="457200"/>
          </a:xfrm>
          <a:prstGeom prst="rect">
            <a:avLst/>
          </a:prstGeom>
          <a:noFill/>
          <a:ln/>
        </p:spPr>
        <p:txBody>
          <a:bodyPr wrap="square" lIns="0" tIns="0" rIns="0" bIns="0" rtlCol="0" anchor="ctr"/>
          <a:lstStyle/>
          <a:p>
            <a:pPr marL="0" indent="0">
              <a:buNone/>
            </a:pPr>
            <a:r>
              <a:rPr lang="en-US" sz="1700" dirty="0">
                <a:solidFill>
                  <a:schemeClr val="bg1"/>
                </a:solidFill>
              </a:rPr>
              <a:t>Run and manage containers through their whole lifecycle</a:t>
            </a:r>
            <a:endParaRPr lang="en-US" sz="1700" dirty="0"/>
          </a:p>
        </p:txBody>
      </p:sp>
      <p:sp>
        <p:nvSpPr>
          <p:cNvPr id="18" name="Shape 16"/>
          <p:cNvSpPr/>
          <p:nvPr/>
        </p:nvSpPr>
        <p:spPr>
          <a:xfrm>
            <a:off x="4480560" y="4270248"/>
            <a:ext cx="292608" cy="292608"/>
          </a:xfrm>
          <a:prstGeom prst="ellipse">
            <a:avLst/>
          </a:prstGeom>
          <a:solidFill>
            <a:schemeClr val="accent2"/>
          </a:solidFill>
          <a:ln w="12700">
            <a:solidFill>
              <a:schemeClr val="accent2"/>
            </a:solidFill>
            <a:prstDash val="solid"/>
          </a:ln>
        </p:spPr>
      </p:sp>
      <p:sp>
        <p:nvSpPr>
          <p:cNvPr id="19" name="Text 17"/>
          <p:cNvSpPr txBox="1"/>
          <p:nvPr/>
        </p:nvSpPr>
        <p:spPr>
          <a:xfrm>
            <a:off x="4480560" y="4270248"/>
            <a:ext cx="292608" cy="292608"/>
          </a:xfrm>
          <a:prstGeom prst="rect">
            <a:avLst/>
          </a:prstGeom>
          <a:noFill/>
          <a:ln/>
        </p:spPr>
        <p:txBody>
          <a:bodyPr wrap="square" lIns="0" tIns="0" rIns="0" bIns="0" rtlCol="0" anchor="ctr"/>
          <a:lstStyle/>
          <a:p>
            <a:pPr marL="0" indent="0" algn="ctr">
              <a:buNone/>
            </a:pPr>
            <a:r>
              <a:rPr lang="en-US" sz="1100" b="1" dirty="0">
                <a:solidFill>
                  <a:schemeClr val="tx1"/>
                </a:solidFill>
              </a:rPr>
              <a:t>5</a:t>
            </a:r>
            <a:endParaRPr lang="en-US" sz="1100" dirty="0"/>
          </a:p>
        </p:txBody>
      </p:sp>
      <p:sp>
        <p:nvSpPr>
          <p:cNvPr id="20" name="Text 18"/>
          <p:cNvSpPr txBox="1"/>
          <p:nvPr/>
        </p:nvSpPr>
        <p:spPr>
          <a:xfrm>
            <a:off x="4937760" y="4197096"/>
            <a:ext cx="6583680" cy="457200"/>
          </a:xfrm>
          <a:prstGeom prst="rect">
            <a:avLst/>
          </a:prstGeom>
          <a:noFill/>
          <a:ln/>
        </p:spPr>
        <p:txBody>
          <a:bodyPr wrap="square" lIns="0" tIns="0" rIns="0" bIns="0" rtlCol="0" anchor="ctr"/>
          <a:lstStyle/>
          <a:p>
            <a:pPr marL="0" indent="0">
              <a:buNone/>
            </a:pPr>
            <a:r>
              <a:rPr lang="en-US" sz="1700" dirty="0">
                <a:solidFill>
                  <a:schemeClr val="bg1"/>
                </a:solidFill>
              </a:rPr>
              <a:t>Build images with a Dockerfile and docker commit, then push and pull them</a:t>
            </a:r>
            <a:endParaRPr lang="en-US" sz="1700" dirty="0"/>
          </a:p>
        </p:txBody>
      </p:sp>
      <p:sp>
        <p:nvSpPr>
          <p:cNvPr id="21" name="Shape 19"/>
          <p:cNvSpPr/>
          <p:nvPr/>
        </p:nvSpPr>
        <p:spPr>
          <a:xfrm>
            <a:off x="4480560" y="4873752"/>
            <a:ext cx="292608" cy="292608"/>
          </a:xfrm>
          <a:prstGeom prst="ellipse">
            <a:avLst/>
          </a:prstGeom>
          <a:solidFill>
            <a:schemeClr val="accent2"/>
          </a:solidFill>
          <a:ln w="12700">
            <a:solidFill>
              <a:schemeClr val="accent2"/>
            </a:solidFill>
            <a:prstDash val="solid"/>
          </a:ln>
        </p:spPr>
      </p:sp>
      <p:sp>
        <p:nvSpPr>
          <p:cNvPr id="22" name="Text 20"/>
          <p:cNvSpPr txBox="1"/>
          <p:nvPr/>
        </p:nvSpPr>
        <p:spPr>
          <a:xfrm>
            <a:off x="4480560" y="4873752"/>
            <a:ext cx="292608" cy="292608"/>
          </a:xfrm>
          <a:prstGeom prst="rect">
            <a:avLst/>
          </a:prstGeom>
          <a:noFill/>
          <a:ln/>
        </p:spPr>
        <p:txBody>
          <a:bodyPr wrap="square" lIns="0" tIns="0" rIns="0" bIns="0" rtlCol="0" anchor="ctr"/>
          <a:lstStyle/>
          <a:p>
            <a:pPr marL="0" indent="0" algn="ctr">
              <a:buNone/>
            </a:pPr>
            <a:r>
              <a:rPr lang="en-US" sz="1100" b="1" dirty="0">
                <a:solidFill>
                  <a:schemeClr val="tx1"/>
                </a:solidFill>
              </a:rPr>
              <a:t>6</a:t>
            </a:r>
            <a:endParaRPr lang="en-US" sz="1100" dirty="0"/>
          </a:p>
        </p:txBody>
      </p:sp>
      <p:sp>
        <p:nvSpPr>
          <p:cNvPr id="23" name="Text 21"/>
          <p:cNvSpPr txBox="1"/>
          <p:nvPr/>
        </p:nvSpPr>
        <p:spPr>
          <a:xfrm>
            <a:off x="4937760" y="4800600"/>
            <a:ext cx="6583680" cy="457200"/>
          </a:xfrm>
          <a:prstGeom prst="rect">
            <a:avLst/>
          </a:prstGeom>
          <a:noFill/>
          <a:ln/>
        </p:spPr>
        <p:txBody>
          <a:bodyPr wrap="square" lIns="0" tIns="0" rIns="0" bIns="0" rtlCol="0" anchor="ctr"/>
          <a:lstStyle/>
          <a:p>
            <a:pPr marL="0" indent="0">
              <a:buNone/>
            </a:pPr>
            <a:r>
              <a:rPr lang="en-US" sz="1700" dirty="0">
                <a:solidFill>
                  <a:schemeClr val="bg1"/>
                </a:solidFill>
              </a:rPr>
              <a:t>Version Dockerfiles with Git and GitHub using branches</a:t>
            </a:r>
            <a:endParaRPr lang="en-US" sz="1700" dirty="0"/>
          </a:p>
        </p:txBody>
      </p:sp>
      <p:sp>
        <p:nvSpPr>
          <p:cNvPr id="24" name="Shape 22"/>
          <p:cNvSpPr/>
          <p:nvPr/>
        </p:nvSpPr>
        <p:spPr>
          <a:xfrm>
            <a:off x="4480560" y="5477256"/>
            <a:ext cx="292608" cy="292608"/>
          </a:xfrm>
          <a:prstGeom prst="ellipse">
            <a:avLst/>
          </a:prstGeom>
          <a:solidFill>
            <a:schemeClr val="accent2"/>
          </a:solidFill>
          <a:ln w="12700">
            <a:solidFill>
              <a:schemeClr val="accent2"/>
            </a:solidFill>
            <a:prstDash val="solid"/>
          </a:ln>
        </p:spPr>
      </p:sp>
      <p:sp>
        <p:nvSpPr>
          <p:cNvPr id="25" name="Text 23"/>
          <p:cNvSpPr txBox="1"/>
          <p:nvPr/>
        </p:nvSpPr>
        <p:spPr>
          <a:xfrm>
            <a:off x="4480560" y="5477256"/>
            <a:ext cx="292608" cy="292608"/>
          </a:xfrm>
          <a:prstGeom prst="rect">
            <a:avLst/>
          </a:prstGeom>
          <a:noFill/>
          <a:ln/>
        </p:spPr>
        <p:txBody>
          <a:bodyPr wrap="square" lIns="0" tIns="0" rIns="0" bIns="0" rtlCol="0" anchor="ctr"/>
          <a:lstStyle/>
          <a:p>
            <a:pPr marL="0" indent="0" algn="ctr">
              <a:buNone/>
            </a:pPr>
            <a:r>
              <a:rPr lang="en-US" sz="1100" b="1" dirty="0">
                <a:solidFill>
                  <a:schemeClr val="tx1"/>
                </a:solidFill>
              </a:rPr>
              <a:t>7</a:t>
            </a:r>
            <a:endParaRPr lang="en-US" sz="1100" dirty="0"/>
          </a:p>
        </p:txBody>
      </p:sp>
      <p:sp>
        <p:nvSpPr>
          <p:cNvPr id="26" name="Text 24"/>
          <p:cNvSpPr txBox="1"/>
          <p:nvPr/>
        </p:nvSpPr>
        <p:spPr>
          <a:xfrm>
            <a:off x="4937760" y="5404104"/>
            <a:ext cx="6583680" cy="457200"/>
          </a:xfrm>
          <a:prstGeom prst="rect">
            <a:avLst/>
          </a:prstGeom>
          <a:noFill/>
          <a:ln/>
        </p:spPr>
        <p:txBody>
          <a:bodyPr wrap="square" lIns="0" tIns="0" rIns="0" bIns="0" rtlCol="0" anchor="ctr"/>
          <a:lstStyle/>
          <a:p>
            <a:pPr marL="0" indent="0">
              <a:buNone/>
            </a:pPr>
            <a:r>
              <a:rPr lang="en-US" sz="1700" dirty="0">
                <a:solidFill>
                  <a:schemeClr val="bg1"/>
                </a:solidFill>
              </a:rPr>
              <a:t>Shrink images with slim bases, layer ordering and multi-stage builds</a:t>
            </a:r>
            <a:endParaRPr lang="en-US" sz="1700" dirty="0"/>
          </a:p>
        </p:txBody>
      </p:sp>
      <p:sp>
        <p:nvSpPr>
          <p:cNvPr id="27"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863840" y="1280160"/>
            <a:ext cx="3840480" cy="3291840"/>
          </a:xfrm>
          <a:prstGeom prst="rect">
            <a:avLst/>
          </a:prstGeom>
          <a:noFill/>
          <a:ln/>
        </p:spPr>
        <p:txBody>
          <a:bodyPr wrap="square" lIns="0" tIns="0" rIns="0" bIns="0" rtlCol="0" anchor="ctr"/>
          <a:lstStyle/>
          <a:p>
            <a:pPr marL="0" indent="0" algn="r">
              <a:buNone/>
            </a:pPr>
            <a:r>
              <a:rPr lang="en-US" sz="22000" b="1" dirty="0">
                <a:solidFill>
                  <a:schemeClr val="accent5"/>
                </a:solidFill>
              </a:rPr>
              <a:t>02</a:t>
            </a:r>
            <a:endParaRPr lang="en-US" sz="22000" dirty="0"/>
          </a:p>
        </p:txBody>
      </p:sp>
      <p:sp>
        <p:nvSpPr>
          <p:cNvPr id="3" name="Text 0"/>
          <p:cNvSpPr>
            <a:spLocks noGrp="1"/>
          </p:cNvSpPr>
          <p:nvPr>
            <p:ph type="body" idx="100" hasCustomPrompt="1"/>
          </p:nvPr>
        </p:nvSpPr>
        <p:spPr>
          <a:xfrm>
            <a:off x="731520" y="2148840"/>
            <a:ext cx="7315200" cy="365760"/>
          </a:xfrm>
          <a:prstGeom prst="rect">
            <a:avLst/>
          </a:prstGeom>
          <a:noFill/>
          <a:ln/>
        </p:spPr>
        <p:txBody>
          <a:bodyPr wrap="square" lIns="0" tIns="0" rIns="0" bIns="0" rtlCol="0"/>
          <a:lstStyle/>
          <a:p>
            <a:pPr marL="0" indent="0">
              <a:buNone/>
            </a:pPr>
            <a:r>
              <a:rPr lang="en-US" sz="1400" b="1" kern="0" spc="400" dirty="0">
                <a:solidFill>
                  <a:schemeClr val="accent2"/>
                </a:solidFill>
              </a:rPr>
              <a:t>SECTION 02</a:t>
            </a:r>
            <a:endParaRPr lang="en-US" sz="1400" dirty="0"/>
          </a:p>
        </p:txBody>
      </p:sp>
      <p:sp>
        <p:nvSpPr>
          <p:cNvPr id="4" name="Text 0"/>
          <p:cNvSpPr>
            <a:spLocks noGrp="1"/>
          </p:cNvSpPr>
          <p:nvPr>
            <p:ph type="title" idx="101" hasCustomPrompt="1"/>
          </p:nvPr>
        </p:nvSpPr>
        <p:spPr>
          <a:xfrm>
            <a:off x="731520" y="2560320"/>
            <a:ext cx="6766560" cy="1371600"/>
          </a:xfrm>
          <a:prstGeom prst="rect">
            <a:avLst/>
          </a:prstGeom>
          <a:noFill/>
          <a:ln/>
        </p:spPr>
        <p:txBody>
          <a:bodyPr wrap="square" lIns="0" tIns="0" rIns="0" bIns="0" rtlCol="0" anchor="t"/>
          <a:lstStyle/>
          <a:p>
            <a:pPr marL="0" indent="0" algn="l">
              <a:buNone/>
            </a:pPr>
            <a:r>
              <a:rPr lang="en-US" sz="4000" b="1" dirty="0">
                <a:solidFill>
                  <a:schemeClr val="bg1"/>
                </a:solidFill>
              </a:rPr>
              <a:t>Why containers?</a:t>
            </a:r>
            <a:endParaRPr lang="en-US" sz="4000" dirty="0"/>
          </a:p>
        </p:txBody>
      </p:sp>
      <p:sp>
        <p:nvSpPr>
          <p:cNvPr id="5" name="Text 0"/>
          <p:cNvSpPr>
            <a:spLocks noGrp="1"/>
          </p:cNvSpPr>
          <p:nvPr>
            <p:ph type="body" idx="102" hasCustomPrompt="1"/>
          </p:nvPr>
        </p:nvSpPr>
        <p:spPr>
          <a:xfrm>
            <a:off x="731520" y="4069080"/>
            <a:ext cx="6583680" cy="1280160"/>
          </a:xfrm>
          <a:prstGeom prst="rect">
            <a:avLst/>
          </a:prstGeom>
          <a:noFill/>
          <a:ln/>
        </p:spPr>
        <p:txBody>
          <a:bodyPr wrap="square" lIns="0" tIns="0" rIns="0" bIns="0" rtlCol="0" anchor="t"/>
          <a:lstStyle/>
          <a:p>
            <a:pPr marL="0" indent="0" algn="l">
              <a:buNone/>
            </a:pPr>
            <a:r>
              <a:rPr lang="en-US" sz="2200" i="1" dirty="0">
                <a:solidFill>
                  <a:schemeClr val="bg2"/>
                </a:solidFill>
              </a:rPr>
              <a:t>Why did the IT industry move to containers when virtual machines were already available?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THE PROBLEM</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One server, many apps, many headaches</a:t>
            </a:r>
            <a:endParaRPr lang="en-US" sz="3000" dirty="0"/>
          </a:p>
        </p:txBody>
      </p:sp>
      <p:sp>
        <p:nvSpPr>
          <p:cNvPr id="4" name="Text 2"/>
          <p:cNvSpPr txBox="1"/>
          <p:nvPr/>
        </p:nvSpPr>
        <p:spPr>
          <a:xfrm>
            <a:off x="731520" y="1463040"/>
            <a:ext cx="10698480" cy="548640"/>
          </a:xfrm>
          <a:prstGeom prst="rect">
            <a:avLst/>
          </a:prstGeom>
          <a:noFill/>
          <a:ln/>
        </p:spPr>
        <p:txBody>
          <a:bodyPr wrap="square" lIns="0" tIns="0" rIns="0" bIns="0" rtlCol="0" anchor="t"/>
          <a:lstStyle/>
          <a:p>
            <a:pPr marL="0" indent="0">
              <a:buNone/>
            </a:pPr>
            <a:r>
              <a:rPr lang="en-US" sz="1600" dirty="0">
                <a:solidFill>
                  <a:schemeClr val="bg2"/>
                </a:solidFill>
              </a:rPr>
              <a:t>Traditionally, teams ran many applications directly on one physical server, each with its own runtime, libraries and configuration.</a:t>
            </a:r>
            <a:endParaRPr lang="en-US" sz="1600" dirty="0"/>
          </a:p>
        </p:txBody>
      </p:sp>
      <p:sp>
        <p:nvSpPr>
          <p:cNvPr id="5" name="Shape 3"/>
          <p:cNvSpPr/>
          <p:nvPr/>
        </p:nvSpPr>
        <p:spPr>
          <a:xfrm>
            <a:off x="731520" y="2148840"/>
            <a:ext cx="10698480" cy="1783080"/>
          </a:xfrm>
          <a:prstGeom prst="roundRect">
            <a:avLst>
              <a:gd name="adj" fmla="val 5128"/>
            </a:avLst>
          </a:prstGeom>
          <a:solidFill>
            <a:schemeClr val="tx2"/>
          </a:solidFill>
          <a:ln w="12700">
            <a:solidFill>
              <a:schemeClr val="accent6"/>
            </a:solidFill>
            <a:prstDash val="solid"/>
          </a:ln>
        </p:spPr>
      </p:sp>
      <p:sp>
        <p:nvSpPr>
          <p:cNvPr id="6" name="Text 4"/>
          <p:cNvSpPr txBox="1"/>
          <p:nvPr/>
        </p:nvSpPr>
        <p:spPr>
          <a:xfrm>
            <a:off x="1005840" y="2286000"/>
            <a:ext cx="3657600" cy="274320"/>
          </a:xfrm>
          <a:prstGeom prst="rect">
            <a:avLst/>
          </a:prstGeom>
          <a:noFill/>
          <a:ln/>
        </p:spPr>
        <p:txBody>
          <a:bodyPr wrap="square" lIns="0" tIns="0" rIns="0" bIns="0" rtlCol="0" anchor="t"/>
          <a:lstStyle/>
          <a:p>
            <a:pPr marL="0" indent="0">
              <a:buNone/>
            </a:pPr>
            <a:r>
              <a:rPr lang="en-US" sz="1100" b="1" kern="0" spc="300" dirty="0">
                <a:solidFill>
                  <a:schemeClr val="bg2"/>
                </a:solidFill>
              </a:rPr>
              <a:t>PHYSICAL SERVER</a:t>
            </a:r>
            <a:endParaRPr lang="en-US" sz="1100" dirty="0"/>
          </a:p>
        </p:txBody>
      </p:sp>
      <p:sp>
        <p:nvSpPr>
          <p:cNvPr id="7" name="Shape 5"/>
          <p:cNvSpPr/>
          <p:nvPr/>
        </p:nvSpPr>
        <p:spPr>
          <a:xfrm>
            <a:off x="1005840" y="2651760"/>
            <a:ext cx="2331720" cy="457200"/>
          </a:xfrm>
          <a:prstGeom prst="roundRect">
            <a:avLst>
              <a:gd name="adj" fmla="val 50000"/>
            </a:avLst>
          </a:prstGeom>
          <a:solidFill>
            <a:schemeClr val="accent5"/>
          </a:solidFill>
          <a:ln w="12700">
            <a:solidFill>
              <a:schemeClr val="accent5"/>
            </a:solidFill>
            <a:prstDash val="solid"/>
          </a:ln>
        </p:spPr>
      </p:sp>
      <p:sp>
        <p:nvSpPr>
          <p:cNvPr id="8" name="Text 6"/>
          <p:cNvSpPr txBox="1"/>
          <p:nvPr/>
        </p:nvSpPr>
        <p:spPr>
          <a:xfrm>
            <a:off x="1005840" y="2651760"/>
            <a:ext cx="2331720" cy="457200"/>
          </a:xfrm>
          <a:prstGeom prst="rect">
            <a:avLst/>
          </a:prstGeom>
          <a:noFill/>
          <a:ln/>
        </p:spPr>
        <p:txBody>
          <a:bodyPr wrap="square" lIns="0" tIns="0" rIns="0" bIns="0" rtlCol="0" anchor="ctr"/>
          <a:lstStyle/>
          <a:p>
            <a:pPr marL="0" indent="0" algn="ctr">
              <a:buNone/>
            </a:pPr>
            <a:r>
              <a:rPr lang="en-US" sz="1400" b="1" dirty="0">
                <a:solidFill>
                  <a:schemeClr val="bg1"/>
                </a:solidFill>
              </a:rPr>
              <a:t>App A · Java 17</a:t>
            </a:r>
            <a:endParaRPr lang="en-US" sz="1400" dirty="0"/>
          </a:p>
        </p:txBody>
      </p:sp>
      <p:sp>
        <p:nvSpPr>
          <p:cNvPr id="9" name="Shape 7"/>
          <p:cNvSpPr/>
          <p:nvPr/>
        </p:nvSpPr>
        <p:spPr>
          <a:xfrm>
            <a:off x="3611880" y="2651760"/>
            <a:ext cx="2331720" cy="457200"/>
          </a:xfrm>
          <a:prstGeom prst="roundRect">
            <a:avLst>
              <a:gd name="adj" fmla="val 50000"/>
            </a:avLst>
          </a:prstGeom>
          <a:solidFill>
            <a:schemeClr val="accent5"/>
          </a:solidFill>
          <a:ln w="12700">
            <a:solidFill>
              <a:schemeClr val="accent5"/>
            </a:solidFill>
            <a:prstDash val="solid"/>
          </a:ln>
        </p:spPr>
      </p:sp>
      <p:sp>
        <p:nvSpPr>
          <p:cNvPr id="10" name="Text 8"/>
          <p:cNvSpPr txBox="1"/>
          <p:nvPr/>
        </p:nvSpPr>
        <p:spPr>
          <a:xfrm>
            <a:off x="3611880" y="2651760"/>
            <a:ext cx="2331720" cy="457200"/>
          </a:xfrm>
          <a:prstGeom prst="rect">
            <a:avLst/>
          </a:prstGeom>
          <a:noFill/>
          <a:ln/>
        </p:spPr>
        <p:txBody>
          <a:bodyPr wrap="square" lIns="0" tIns="0" rIns="0" bIns="0" rtlCol="0" anchor="ctr"/>
          <a:lstStyle/>
          <a:p>
            <a:pPr marL="0" indent="0" algn="ctr">
              <a:buNone/>
            </a:pPr>
            <a:r>
              <a:rPr lang="en-US" sz="1400" b="1" dirty="0">
                <a:solidFill>
                  <a:schemeClr val="bg1"/>
                </a:solidFill>
              </a:rPr>
              <a:t>App B · Java 11</a:t>
            </a:r>
            <a:endParaRPr lang="en-US" sz="1400" dirty="0"/>
          </a:p>
        </p:txBody>
      </p:sp>
      <p:sp>
        <p:nvSpPr>
          <p:cNvPr id="11" name="Shape 9"/>
          <p:cNvSpPr/>
          <p:nvPr/>
        </p:nvSpPr>
        <p:spPr>
          <a:xfrm>
            <a:off x="6217920" y="2651760"/>
            <a:ext cx="2331720" cy="457200"/>
          </a:xfrm>
          <a:prstGeom prst="roundRect">
            <a:avLst>
              <a:gd name="adj" fmla="val 50000"/>
            </a:avLst>
          </a:prstGeom>
          <a:solidFill>
            <a:schemeClr val="accent5"/>
          </a:solidFill>
          <a:ln w="12700">
            <a:solidFill>
              <a:schemeClr val="accent5"/>
            </a:solidFill>
            <a:prstDash val="solid"/>
          </a:ln>
        </p:spPr>
      </p:sp>
      <p:sp>
        <p:nvSpPr>
          <p:cNvPr id="12" name="Text 10"/>
          <p:cNvSpPr txBox="1"/>
          <p:nvPr/>
        </p:nvSpPr>
        <p:spPr>
          <a:xfrm>
            <a:off x="6217920" y="2651760"/>
            <a:ext cx="2331720" cy="457200"/>
          </a:xfrm>
          <a:prstGeom prst="rect">
            <a:avLst/>
          </a:prstGeom>
          <a:noFill/>
          <a:ln/>
        </p:spPr>
        <p:txBody>
          <a:bodyPr wrap="square" lIns="0" tIns="0" rIns="0" bIns="0" rtlCol="0" anchor="ctr"/>
          <a:lstStyle/>
          <a:p>
            <a:pPr marL="0" indent="0" algn="ctr">
              <a:buNone/>
            </a:pPr>
            <a:r>
              <a:rPr lang="en-US" sz="1400" b="1" dirty="0">
                <a:solidFill>
                  <a:schemeClr val="bg1"/>
                </a:solidFill>
              </a:rPr>
              <a:t>App C · Python 2.7</a:t>
            </a:r>
            <a:endParaRPr lang="en-US" sz="1400" dirty="0"/>
          </a:p>
        </p:txBody>
      </p:sp>
      <p:sp>
        <p:nvSpPr>
          <p:cNvPr id="13" name="Shape 11"/>
          <p:cNvSpPr/>
          <p:nvPr/>
        </p:nvSpPr>
        <p:spPr>
          <a:xfrm>
            <a:off x="8823960" y="2651760"/>
            <a:ext cx="2331720" cy="457200"/>
          </a:xfrm>
          <a:prstGeom prst="roundRect">
            <a:avLst>
              <a:gd name="adj" fmla="val 50000"/>
            </a:avLst>
          </a:prstGeom>
          <a:solidFill>
            <a:schemeClr val="accent5"/>
          </a:solidFill>
          <a:ln w="12700">
            <a:solidFill>
              <a:schemeClr val="accent5"/>
            </a:solidFill>
            <a:prstDash val="solid"/>
          </a:ln>
        </p:spPr>
      </p:sp>
      <p:sp>
        <p:nvSpPr>
          <p:cNvPr id="14" name="Text 12"/>
          <p:cNvSpPr txBox="1"/>
          <p:nvPr/>
        </p:nvSpPr>
        <p:spPr>
          <a:xfrm>
            <a:off x="8823960" y="2651760"/>
            <a:ext cx="2331720" cy="457200"/>
          </a:xfrm>
          <a:prstGeom prst="rect">
            <a:avLst/>
          </a:prstGeom>
          <a:noFill/>
          <a:ln/>
        </p:spPr>
        <p:txBody>
          <a:bodyPr wrap="square" lIns="0" tIns="0" rIns="0" bIns="0" rtlCol="0" anchor="ctr"/>
          <a:lstStyle/>
          <a:p>
            <a:pPr marL="0" indent="0" algn="ctr">
              <a:buNone/>
            </a:pPr>
            <a:r>
              <a:rPr lang="en-US" sz="1400" b="1" dirty="0">
                <a:solidFill>
                  <a:schemeClr val="bg1"/>
                </a:solidFill>
              </a:rPr>
              <a:t>App D · Node 14</a:t>
            </a:r>
            <a:endParaRPr lang="en-US" sz="1400" dirty="0"/>
          </a:p>
        </p:txBody>
      </p:sp>
      <p:sp>
        <p:nvSpPr>
          <p:cNvPr id="15" name="Shape 13"/>
          <p:cNvSpPr/>
          <p:nvPr/>
        </p:nvSpPr>
        <p:spPr>
          <a:xfrm>
            <a:off x="1005840" y="3291840"/>
            <a:ext cx="10149840" cy="457200"/>
          </a:xfrm>
          <a:prstGeom prst="roundRect">
            <a:avLst>
              <a:gd name="adj" fmla="val 20000"/>
            </a:avLst>
          </a:prstGeom>
          <a:solidFill>
            <a:srgbClr val="0B1426"/>
          </a:solidFill>
          <a:ln w="15875">
            <a:solidFill>
              <a:schemeClr val="accent4"/>
            </a:solidFill>
            <a:prstDash val="solid"/>
          </a:ln>
        </p:spPr>
      </p:sp>
      <p:sp>
        <p:nvSpPr>
          <p:cNvPr id="16" name="Text 14"/>
          <p:cNvSpPr txBox="1"/>
          <p:nvPr/>
        </p:nvSpPr>
        <p:spPr>
          <a:xfrm>
            <a:off x="1005840" y="3291840"/>
            <a:ext cx="10149840" cy="457200"/>
          </a:xfrm>
          <a:prstGeom prst="rect">
            <a:avLst/>
          </a:prstGeom>
          <a:noFill/>
          <a:ln/>
        </p:spPr>
        <p:txBody>
          <a:bodyPr wrap="square" lIns="0" tIns="0" rIns="0" bIns="0" rtlCol="0" anchor="ctr"/>
          <a:lstStyle/>
          <a:p>
            <a:pPr marL="0" indent="0" algn="ctr">
              <a:buNone/>
            </a:pPr>
            <a:r>
              <a:rPr lang="en-US" sz="1400" b="1" dirty="0">
                <a:solidFill>
                  <a:schemeClr val="accent4"/>
                </a:solidFill>
              </a:rPr>
              <a:t>One shared OS · one Java version · one set of libraries for everyone</a:t>
            </a:r>
            <a:endParaRPr lang="en-US" sz="1400" dirty="0"/>
          </a:p>
        </p:txBody>
      </p:sp>
      <p:sp>
        <p:nvSpPr>
          <p:cNvPr id="17" name="Text 15"/>
          <p:cNvSpPr txBox="1"/>
          <p:nvPr/>
        </p:nvSpPr>
        <p:spPr>
          <a:xfrm>
            <a:off x="731520" y="4206240"/>
            <a:ext cx="2560320" cy="640080"/>
          </a:xfrm>
          <a:prstGeom prst="rect">
            <a:avLst/>
          </a:prstGeom>
          <a:noFill/>
          <a:ln/>
        </p:spPr>
        <p:txBody>
          <a:bodyPr wrap="square" lIns="0" tIns="0" rIns="0" bIns="0" rtlCol="0" anchor="b"/>
          <a:lstStyle/>
          <a:p>
            <a:pPr marL="0" indent="0">
              <a:buNone/>
            </a:pPr>
            <a:r>
              <a:rPr lang="en-US" sz="1600" b="1" dirty="0">
                <a:solidFill>
                  <a:schemeClr val="accent4"/>
                </a:solidFill>
              </a:rPr>
              <a:t>Dependency conflicts</a:t>
            </a:r>
            <a:endParaRPr lang="en-US" sz="1600" dirty="0"/>
          </a:p>
        </p:txBody>
      </p:sp>
      <p:sp>
        <p:nvSpPr>
          <p:cNvPr id="18" name="Text 16"/>
          <p:cNvSpPr txBox="1"/>
          <p:nvPr/>
        </p:nvSpPr>
        <p:spPr>
          <a:xfrm>
            <a:off x="731520" y="4937760"/>
            <a:ext cx="2514600" cy="1005840"/>
          </a:xfrm>
          <a:prstGeom prst="rect">
            <a:avLst/>
          </a:prstGeom>
          <a:noFill/>
          <a:ln/>
        </p:spPr>
        <p:txBody>
          <a:bodyPr wrap="square" lIns="0" tIns="0" rIns="0" bIns="0" rtlCol="0" anchor="t"/>
          <a:lstStyle/>
          <a:p>
            <a:pPr marL="0" indent="0">
              <a:buNone/>
            </a:pPr>
            <a:r>
              <a:rPr lang="en-US" sz="1500" dirty="0">
                <a:solidFill>
                  <a:schemeClr val="bg1"/>
                </a:solidFill>
              </a:rPr>
              <a:t>App A needs Java 17, App B needs Java 11, on the same machine.</a:t>
            </a:r>
            <a:endParaRPr lang="en-US" sz="1500" dirty="0"/>
          </a:p>
        </p:txBody>
      </p:sp>
      <p:sp>
        <p:nvSpPr>
          <p:cNvPr id="19" name="Text 17"/>
          <p:cNvSpPr txBox="1"/>
          <p:nvPr/>
        </p:nvSpPr>
        <p:spPr>
          <a:xfrm>
            <a:off x="3474720" y="4206240"/>
            <a:ext cx="2560320" cy="640080"/>
          </a:xfrm>
          <a:prstGeom prst="rect">
            <a:avLst/>
          </a:prstGeom>
          <a:noFill/>
          <a:ln/>
        </p:spPr>
        <p:txBody>
          <a:bodyPr wrap="square" lIns="0" tIns="0" rIns="0" bIns="0" rtlCol="0" anchor="b"/>
          <a:lstStyle/>
          <a:p>
            <a:pPr marL="0" indent="0">
              <a:buNone/>
            </a:pPr>
            <a:r>
              <a:rPr lang="en-US" sz="1600" b="1" dirty="0">
                <a:solidFill>
                  <a:schemeClr val="accent4"/>
                </a:solidFill>
              </a:rPr>
              <a:t>“Works on my machine”</a:t>
            </a:r>
            <a:endParaRPr lang="en-US" sz="1600" dirty="0"/>
          </a:p>
        </p:txBody>
      </p:sp>
      <p:sp>
        <p:nvSpPr>
          <p:cNvPr id="20" name="Text 18"/>
          <p:cNvSpPr txBox="1"/>
          <p:nvPr/>
        </p:nvSpPr>
        <p:spPr>
          <a:xfrm>
            <a:off x="3474720" y="4937760"/>
            <a:ext cx="2514600" cy="1005840"/>
          </a:xfrm>
          <a:prstGeom prst="rect">
            <a:avLst/>
          </a:prstGeom>
          <a:noFill/>
          <a:ln/>
        </p:spPr>
        <p:txBody>
          <a:bodyPr wrap="square" lIns="0" tIns="0" rIns="0" bIns="0" rtlCol="0" anchor="t"/>
          <a:lstStyle/>
          <a:p>
            <a:pPr marL="0" indent="0">
              <a:buNone/>
            </a:pPr>
            <a:r>
              <a:rPr lang="en-US" sz="1500" dirty="0">
                <a:solidFill>
                  <a:schemeClr val="bg1"/>
                </a:solidFill>
              </a:rPr>
              <a:t>Runs fine locally, breaks the moment it’s deployed elsewhere.</a:t>
            </a:r>
            <a:endParaRPr lang="en-US" sz="1500" dirty="0"/>
          </a:p>
        </p:txBody>
      </p:sp>
      <p:sp>
        <p:nvSpPr>
          <p:cNvPr id="21" name="Text 19"/>
          <p:cNvSpPr txBox="1"/>
          <p:nvPr/>
        </p:nvSpPr>
        <p:spPr>
          <a:xfrm>
            <a:off x="6217920" y="4206240"/>
            <a:ext cx="2560320" cy="640080"/>
          </a:xfrm>
          <a:prstGeom prst="rect">
            <a:avLst/>
          </a:prstGeom>
          <a:noFill/>
          <a:ln/>
        </p:spPr>
        <p:txBody>
          <a:bodyPr wrap="square" lIns="0" tIns="0" rIns="0" bIns="0" rtlCol="0" anchor="b"/>
          <a:lstStyle/>
          <a:p>
            <a:pPr marL="0" indent="0">
              <a:buNone/>
            </a:pPr>
            <a:r>
              <a:rPr lang="en-US" sz="1600" b="1" dirty="0">
                <a:solidFill>
                  <a:schemeClr val="accent4"/>
                </a:solidFill>
              </a:rPr>
              <a:t>Environment drift</a:t>
            </a:r>
            <a:endParaRPr lang="en-US" sz="1600" dirty="0"/>
          </a:p>
        </p:txBody>
      </p:sp>
      <p:sp>
        <p:nvSpPr>
          <p:cNvPr id="22" name="Text 20"/>
          <p:cNvSpPr txBox="1"/>
          <p:nvPr/>
        </p:nvSpPr>
        <p:spPr>
          <a:xfrm>
            <a:off x="6217920" y="4937760"/>
            <a:ext cx="2514600" cy="1005840"/>
          </a:xfrm>
          <a:prstGeom prst="rect">
            <a:avLst/>
          </a:prstGeom>
          <a:noFill/>
          <a:ln/>
        </p:spPr>
        <p:txBody>
          <a:bodyPr wrap="square" lIns="0" tIns="0" rIns="0" bIns="0" rtlCol="0" anchor="t"/>
          <a:lstStyle/>
          <a:p>
            <a:pPr marL="0" indent="0">
              <a:buNone/>
            </a:pPr>
            <a:r>
              <a:rPr lang="en-US" sz="1500" dirty="0">
                <a:solidFill>
                  <a:schemeClr val="bg1"/>
                </a:solidFill>
              </a:rPr>
              <a:t>Dev, test and prod quietly drift out of sync over time.</a:t>
            </a:r>
            <a:endParaRPr lang="en-US" sz="1500" dirty="0"/>
          </a:p>
        </p:txBody>
      </p:sp>
      <p:sp>
        <p:nvSpPr>
          <p:cNvPr id="23" name="Text 21"/>
          <p:cNvSpPr txBox="1"/>
          <p:nvPr/>
        </p:nvSpPr>
        <p:spPr>
          <a:xfrm>
            <a:off x="8961120" y="4206240"/>
            <a:ext cx="2560320" cy="640080"/>
          </a:xfrm>
          <a:prstGeom prst="rect">
            <a:avLst/>
          </a:prstGeom>
          <a:noFill/>
          <a:ln/>
        </p:spPr>
        <p:txBody>
          <a:bodyPr wrap="square" lIns="0" tIns="0" rIns="0" bIns="0" rtlCol="0" anchor="b"/>
          <a:lstStyle/>
          <a:p>
            <a:pPr marL="0" indent="0">
              <a:buNone/>
            </a:pPr>
            <a:r>
              <a:rPr lang="en-US" sz="1600" b="1" dirty="0">
                <a:solidFill>
                  <a:schemeClr val="accent4"/>
                </a:solidFill>
              </a:rPr>
              <a:t>Waste and weak isolation</a:t>
            </a:r>
            <a:endParaRPr lang="en-US" sz="1600" dirty="0"/>
          </a:p>
        </p:txBody>
      </p:sp>
      <p:sp>
        <p:nvSpPr>
          <p:cNvPr id="24" name="Text 22"/>
          <p:cNvSpPr txBox="1"/>
          <p:nvPr/>
        </p:nvSpPr>
        <p:spPr>
          <a:xfrm>
            <a:off x="8961120" y="4937760"/>
            <a:ext cx="2514600" cy="1005840"/>
          </a:xfrm>
          <a:prstGeom prst="rect">
            <a:avLst/>
          </a:prstGeom>
          <a:noFill/>
          <a:ln/>
        </p:spPr>
        <p:txBody>
          <a:bodyPr wrap="square" lIns="0" tIns="0" rIns="0" bIns="0" rtlCol="0" anchor="t"/>
          <a:lstStyle/>
          <a:p>
            <a:pPr marL="0" indent="0">
              <a:buNone/>
            </a:pPr>
            <a:r>
              <a:rPr lang="en-US" sz="1500" dirty="0">
                <a:solidFill>
                  <a:schemeClr val="bg1"/>
                </a:solidFill>
              </a:rPr>
              <a:t>One app’s crash or spike can take down the whole server.</a:t>
            </a:r>
            <a:endParaRPr lang="en-US" sz="15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THE PROBLEM</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The famous line: “It works on my machine”</a:t>
            </a:r>
            <a:endParaRPr lang="en-US" sz="3000" dirty="0"/>
          </a:p>
        </p:txBody>
      </p:sp>
      <p:sp>
        <p:nvSpPr>
          <p:cNvPr id="4" name="Shape 2"/>
          <p:cNvSpPr/>
          <p:nvPr/>
        </p:nvSpPr>
        <p:spPr>
          <a:xfrm>
            <a:off x="731520" y="1783080"/>
            <a:ext cx="1572768" cy="1463040"/>
          </a:xfrm>
          <a:prstGeom prst="roundRect">
            <a:avLst>
              <a:gd name="adj" fmla="val 6250"/>
            </a:avLst>
          </a:prstGeom>
          <a:solidFill>
            <a:schemeClr val="tx2"/>
          </a:solidFill>
          <a:ln w="19050">
            <a:solidFill>
              <a:schemeClr val="accent2"/>
            </a:solidFill>
            <a:prstDash val="solid"/>
          </a:ln>
        </p:spPr>
      </p:sp>
      <p:sp>
        <p:nvSpPr>
          <p:cNvPr id="5" name="Text 3"/>
          <p:cNvSpPr txBox="1"/>
          <p:nvPr/>
        </p:nvSpPr>
        <p:spPr>
          <a:xfrm>
            <a:off x="804672" y="1783080"/>
            <a:ext cx="1426464" cy="14630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Developer laptop</a:t>
            </a:r>
            <a:endParaRPr lang="en-US" sz="1400" dirty="0"/>
          </a:p>
          <a:p>
            <a:pPr marL="0" indent="0" algn="ctr">
              <a:spcAft>
                <a:spcPts val="200"/>
              </a:spcAft>
              <a:buNone/>
            </a:pPr>
            <a:r>
              <a:rPr lang="en-US" sz="1200" dirty="0">
                <a:solidFill>
                  <a:schemeClr val="bg2"/>
                </a:solidFill>
              </a:rPr>
              <a:t>Java 17, Maven ✓</a:t>
            </a:r>
            <a:endParaRPr lang="en-US" sz="1400" dirty="0"/>
          </a:p>
        </p:txBody>
      </p:sp>
      <p:sp>
        <p:nvSpPr>
          <p:cNvPr id="6" name="Shape 4"/>
          <p:cNvSpPr/>
          <p:nvPr/>
        </p:nvSpPr>
        <p:spPr>
          <a:xfrm>
            <a:off x="2331720" y="2514600"/>
            <a:ext cx="237744" cy="0"/>
          </a:xfrm>
          <a:prstGeom prst="line">
            <a:avLst/>
          </a:prstGeom>
          <a:noFill/>
          <a:ln w="22225">
            <a:solidFill>
              <a:schemeClr val="bg2"/>
            </a:solidFill>
            <a:prstDash val="solid"/>
            <a:tailEnd type="triangle"/>
          </a:ln>
        </p:spPr>
      </p:sp>
      <p:sp>
        <p:nvSpPr>
          <p:cNvPr id="7" name="Shape 5"/>
          <p:cNvSpPr/>
          <p:nvPr/>
        </p:nvSpPr>
        <p:spPr>
          <a:xfrm>
            <a:off x="2596896" y="1783080"/>
            <a:ext cx="1572768" cy="1463040"/>
          </a:xfrm>
          <a:prstGeom prst="roundRect">
            <a:avLst>
              <a:gd name="adj" fmla="val 6250"/>
            </a:avLst>
          </a:prstGeom>
          <a:solidFill>
            <a:schemeClr val="tx2"/>
          </a:solidFill>
          <a:ln w="19050">
            <a:solidFill>
              <a:schemeClr val="accent2"/>
            </a:solidFill>
            <a:prstDash val="solid"/>
          </a:ln>
        </p:spPr>
      </p:sp>
      <p:sp>
        <p:nvSpPr>
          <p:cNvPr id="8" name="Text 6"/>
          <p:cNvSpPr txBox="1"/>
          <p:nvPr/>
        </p:nvSpPr>
        <p:spPr>
          <a:xfrm>
            <a:off x="2670048" y="1783080"/>
            <a:ext cx="1426464" cy="14630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“It works on my machine!”</a:t>
            </a:r>
            <a:endParaRPr lang="en-US" sz="1400" dirty="0"/>
          </a:p>
          <a:p>
            <a:pPr marL="0" indent="0" algn="ctr">
              <a:spcAft>
                <a:spcPts val="200"/>
              </a:spcAft>
              <a:buNone/>
            </a:pPr>
            <a:r>
              <a:rPr lang="en-US" sz="1200" dirty="0">
                <a:solidFill>
                  <a:schemeClr val="bg2"/>
                </a:solidFill>
              </a:rPr>
              <a:t>Everything fine locally</a:t>
            </a:r>
            <a:endParaRPr lang="en-US" sz="1400" dirty="0"/>
          </a:p>
        </p:txBody>
      </p:sp>
      <p:sp>
        <p:nvSpPr>
          <p:cNvPr id="9" name="Shape 7"/>
          <p:cNvSpPr/>
          <p:nvPr/>
        </p:nvSpPr>
        <p:spPr>
          <a:xfrm>
            <a:off x="4197096" y="2514600"/>
            <a:ext cx="237744" cy="0"/>
          </a:xfrm>
          <a:prstGeom prst="line">
            <a:avLst/>
          </a:prstGeom>
          <a:noFill/>
          <a:ln w="22225">
            <a:solidFill>
              <a:schemeClr val="bg2"/>
            </a:solidFill>
            <a:prstDash val="solid"/>
            <a:tailEnd type="triangle"/>
          </a:ln>
        </p:spPr>
      </p:sp>
      <p:sp>
        <p:nvSpPr>
          <p:cNvPr id="10" name="Shape 8"/>
          <p:cNvSpPr/>
          <p:nvPr/>
        </p:nvSpPr>
        <p:spPr>
          <a:xfrm>
            <a:off x="4462272" y="1783080"/>
            <a:ext cx="1572768" cy="1463040"/>
          </a:xfrm>
          <a:prstGeom prst="roundRect">
            <a:avLst>
              <a:gd name="adj" fmla="val 6250"/>
            </a:avLst>
          </a:prstGeom>
          <a:solidFill>
            <a:schemeClr val="tx2"/>
          </a:solidFill>
          <a:ln w="19050">
            <a:solidFill>
              <a:schemeClr val="accent3"/>
            </a:solidFill>
            <a:prstDash val="solid"/>
          </a:ln>
        </p:spPr>
      </p:sp>
      <p:sp>
        <p:nvSpPr>
          <p:cNvPr id="11" name="Text 9"/>
          <p:cNvSpPr txBox="1"/>
          <p:nvPr/>
        </p:nvSpPr>
        <p:spPr>
          <a:xfrm>
            <a:off x="4535424" y="1783080"/>
            <a:ext cx="1426464" cy="14630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Test server</a:t>
            </a:r>
            <a:endParaRPr lang="en-US" sz="1400" dirty="0"/>
          </a:p>
          <a:p>
            <a:pPr marL="0" indent="0" algn="ctr">
              <a:spcAft>
                <a:spcPts val="200"/>
              </a:spcAft>
              <a:buNone/>
            </a:pPr>
            <a:r>
              <a:rPr lang="en-US" sz="1200" dirty="0">
                <a:solidFill>
                  <a:schemeClr val="bg2"/>
                </a:solidFill>
              </a:rPr>
              <a:t>Different Java and Maven</a:t>
            </a:r>
            <a:endParaRPr lang="en-US" sz="1400" dirty="0"/>
          </a:p>
        </p:txBody>
      </p:sp>
      <p:sp>
        <p:nvSpPr>
          <p:cNvPr id="12" name="Shape 10"/>
          <p:cNvSpPr/>
          <p:nvPr/>
        </p:nvSpPr>
        <p:spPr>
          <a:xfrm>
            <a:off x="6062472" y="2514600"/>
            <a:ext cx="237744" cy="0"/>
          </a:xfrm>
          <a:prstGeom prst="line">
            <a:avLst/>
          </a:prstGeom>
          <a:noFill/>
          <a:ln w="22225">
            <a:solidFill>
              <a:schemeClr val="bg2"/>
            </a:solidFill>
            <a:prstDash val="solid"/>
            <a:tailEnd type="triangle"/>
          </a:ln>
        </p:spPr>
      </p:sp>
      <p:sp>
        <p:nvSpPr>
          <p:cNvPr id="13" name="Shape 11"/>
          <p:cNvSpPr/>
          <p:nvPr/>
        </p:nvSpPr>
        <p:spPr>
          <a:xfrm>
            <a:off x="6327648" y="1783080"/>
            <a:ext cx="1572768" cy="1463040"/>
          </a:xfrm>
          <a:prstGeom prst="roundRect">
            <a:avLst>
              <a:gd name="adj" fmla="val 6250"/>
            </a:avLst>
          </a:prstGeom>
          <a:solidFill>
            <a:schemeClr val="tx2"/>
          </a:solidFill>
          <a:ln w="19050">
            <a:solidFill>
              <a:schemeClr val="accent3"/>
            </a:solidFill>
            <a:prstDash val="solid"/>
          </a:ln>
        </p:spPr>
      </p:sp>
      <p:sp>
        <p:nvSpPr>
          <p:cNvPr id="14" name="Text 12"/>
          <p:cNvSpPr txBox="1"/>
          <p:nvPr/>
        </p:nvSpPr>
        <p:spPr>
          <a:xfrm>
            <a:off x="6400800" y="1783080"/>
            <a:ext cx="1426464" cy="14630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Dependency mismatch</a:t>
            </a:r>
            <a:endParaRPr lang="en-US" sz="1400" dirty="0"/>
          </a:p>
          <a:p>
            <a:pPr marL="0" indent="0" algn="ctr">
              <a:spcAft>
                <a:spcPts val="200"/>
              </a:spcAft>
              <a:buNone/>
            </a:pPr>
            <a:r>
              <a:rPr lang="en-US" sz="1200" dirty="0">
                <a:solidFill>
                  <a:schemeClr val="bg2"/>
                </a:solidFill>
              </a:rPr>
              <a:t>Missing libraries, wrong config</a:t>
            </a:r>
            <a:endParaRPr lang="en-US" sz="1400" dirty="0"/>
          </a:p>
        </p:txBody>
      </p:sp>
      <p:sp>
        <p:nvSpPr>
          <p:cNvPr id="15" name="Shape 13"/>
          <p:cNvSpPr/>
          <p:nvPr/>
        </p:nvSpPr>
        <p:spPr>
          <a:xfrm>
            <a:off x="7927848" y="2514600"/>
            <a:ext cx="237744" cy="0"/>
          </a:xfrm>
          <a:prstGeom prst="line">
            <a:avLst/>
          </a:prstGeom>
          <a:noFill/>
          <a:ln w="22225">
            <a:solidFill>
              <a:schemeClr val="bg2"/>
            </a:solidFill>
            <a:prstDash val="solid"/>
            <a:tailEnd type="triangle"/>
          </a:ln>
        </p:spPr>
      </p:sp>
      <p:sp>
        <p:nvSpPr>
          <p:cNvPr id="16" name="Shape 14"/>
          <p:cNvSpPr/>
          <p:nvPr/>
        </p:nvSpPr>
        <p:spPr>
          <a:xfrm>
            <a:off x="8193024" y="1783080"/>
            <a:ext cx="1572768" cy="1463040"/>
          </a:xfrm>
          <a:prstGeom prst="roundRect">
            <a:avLst>
              <a:gd name="adj" fmla="val 6250"/>
            </a:avLst>
          </a:prstGeom>
          <a:solidFill>
            <a:schemeClr val="tx2"/>
          </a:solidFill>
          <a:ln w="19050">
            <a:solidFill>
              <a:schemeClr val="accent4"/>
            </a:solidFill>
            <a:prstDash val="solid"/>
          </a:ln>
        </p:spPr>
      </p:sp>
      <p:sp>
        <p:nvSpPr>
          <p:cNvPr id="17" name="Text 15"/>
          <p:cNvSpPr txBox="1"/>
          <p:nvPr/>
        </p:nvSpPr>
        <p:spPr>
          <a:xfrm>
            <a:off x="8266176" y="1783080"/>
            <a:ext cx="1426464" cy="14630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Production</a:t>
            </a:r>
            <a:endParaRPr lang="en-US" sz="1400" dirty="0"/>
          </a:p>
          <a:p>
            <a:pPr marL="0" indent="0" algn="ctr">
              <a:spcAft>
                <a:spcPts val="200"/>
              </a:spcAft>
              <a:buNone/>
            </a:pPr>
            <a:r>
              <a:rPr lang="en-US" sz="1200" dirty="0">
                <a:solidFill>
                  <a:schemeClr val="bg2"/>
                </a:solidFill>
              </a:rPr>
              <a:t>Deployed under pressure</a:t>
            </a:r>
            <a:endParaRPr lang="en-US" sz="1400" dirty="0"/>
          </a:p>
        </p:txBody>
      </p:sp>
      <p:sp>
        <p:nvSpPr>
          <p:cNvPr id="18" name="Shape 16"/>
          <p:cNvSpPr/>
          <p:nvPr/>
        </p:nvSpPr>
        <p:spPr>
          <a:xfrm>
            <a:off x="9793224" y="2514600"/>
            <a:ext cx="237744" cy="0"/>
          </a:xfrm>
          <a:prstGeom prst="line">
            <a:avLst/>
          </a:prstGeom>
          <a:noFill/>
          <a:ln w="22225">
            <a:solidFill>
              <a:schemeClr val="bg2"/>
            </a:solidFill>
            <a:prstDash val="solid"/>
            <a:tailEnd type="triangle"/>
          </a:ln>
        </p:spPr>
      </p:sp>
      <p:sp>
        <p:nvSpPr>
          <p:cNvPr id="19" name="Shape 17"/>
          <p:cNvSpPr/>
          <p:nvPr/>
        </p:nvSpPr>
        <p:spPr>
          <a:xfrm>
            <a:off x="10058400" y="1783080"/>
            <a:ext cx="1572768" cy="1463040"/>
          </a:xfrm>
          <a:prstGeom prst="roundRect">
            <a:avLst>
              <a:gd name="adj" fmla="val 6250"/>
            </a:avLst>
          </a:prstGeom>
          <a:solidFill>
            <a:schemeClr val="tx2"/>
          </a:solidFill>
          <a:ln w="19050">
            <a:solidFill>
              <a:schemeClr val="accent4"/>
            </a:solidFill>
            <a:prstDash val="solid"/>
          </a:ln>
        </p:spPr>
      </p:sp>
      <p:sp>
        <p:nvSpPr>
          <p:cNvPr id="20" name="Text 18"/>
          <p:cNvSpPr txBox="1"/>
          <p:nvPr/>
        </p:nvSpPr>
        <p:spPr>
          <a:xfrm>
            <a:off x="10131552" y="1783080"/>
            <a:ext cx="1426464" cy="14630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Application failure</a:t>
            </a:r>
            <a:endParaRPr lang="en-US" sz="1400" dirty="0"/>
          </a:p>
          <a:p>
            <a:pPr marL="0" indent="0" algn="ctr">
              <a:spcAft>
                <a:spcPts val="200"/>
              </a:spcAft>
              <a:buNone/>
            </a:pPr>
            <a:r>
              <a:rPr lang="en-US" sz="1200" dirty="0">
                <a:solidFill>
                  <a:schemeClr val="bg2"/>
                </a:solidFill>
              </a:rPr>
              <a:t>Outage, rollback, late-night page</a:t>
            </a:r>
            <a:endParaRPr lang="en-US" sz="1400" dirty="0"/>
          </a:p>
        </p:txBody>
      </p:sp>
      <p:sp>
        <p:nvSpPr>
          <p:cNvPr id="21" name="Shape 19"/>
          <p:cNvSpPr/>
          <p:nvPr/>
        </p:nvSpPr>
        <p:spPr>
          <a:xfrm>
            <a:off x="731520" y="3749040"/>
            <a:ext cx="10698480" cy="2103120"/>
          </a:xfrm>
          <a:prstGeom prst="roundRect">
            <a:avLst>
              <a:gd name="adj" fmla="val 4348"/>
            </a:avLst>
          </a:prstGeom>
          <a:solidFill>
            <a:schemeClr val="tx2"/>
          </a:solidFill>
          <a:ln w="12700">
            <a:solidFill>
              <a:schemeClr val="accent6"/>
            </a:solidFill>
            <a:prstDash val="solid"/>
          </a:ln>
        </p:spPr>
      </p:sp>
      <p:sp>
        <p:nvSpPr>
          <p:cNvPr id="22" name="Text 20"/>
          <p:cNvSpPr txBox="1"/>
          <p:nvPr/>
        </p:nvSpPr>
        <p:spPr>
          <a:xfrm>
            <a:off x="1051560" y="3977640"/>
            <a:ext cx="548640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THE COLLEGE EXAMPLE</a:t>
            </a:r>
            <a:endParaRPr lang="en-US" sz="1200" dirty="0"/>
          </a:p>
        </p:txBody>
      </p:sp>
      <p:sp>
        <p:nvSpPr>
          <p:cNvPr id="23" name="Text 21"/>
          <p:cNvSpPr txBox="1"/>
          <p:nvPr/>
        </p:nvSpPr>
        <p:spPr>
          <a:xfrm>
            <a:off x="1051560" y="4343400"/>
            <a:ext cx="10058400" cy="1371600"/>
          </a:xfrm>
          <a:prstGeom prst="rect">
            <a:avLst/>
          </a:prstGeom>
          <a:noFill/>
          <a:ln/>
        </p:spPr>
        <p:txBody>
          <a:bodyPr wrap="square" lIns="0" tIns="0" rIns="0" bIns="0" rtlCol="0" anchor="t"/>
          <a:lstStyle/>
          <a:p>
            <a:pPr marL="0" indent="0">
              <a:buNone/>
            </a:pPr>
            <a:r>
              <a:rPr lang="en-US" sz="1800" dirty="0">
                <a:solidFill>
                  <a:schemeClr val="bg1"/>
                </a:solidFill>
              </a:rPr>
              <a:t>Your college’s Student Management System needs Java 17, Maven and specific libraries. It works perfectly on your laptop. You hand it to a classmate: Java 11, a different Maven version, missing libraries. The famous line follows: “But it works on my machine!”</a:t>
            </a:r>
            <a:endParaRPr lang="en-US" sz="18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THE EVOLUTION</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How application deployment evolved</a:t>
            </a:r>
            <a:endParaRPr lang="en-US" sz="3000" dirty="0"/>
          </a:p>
        </p:txBody>
      </p:sp>
      <p:sp>
        <p:nvSpPr>
          <p:cNvPr id="4" name="Shape 2"/>
          <p:cNvSpPr/>
          <p:nvPr/>
        </p:nvSpPr>
        <p:spPr>
          <a:xfrm>
            <a:off x="731520" y="2240280"/>
            <a:ext cx="10698480" cy="0"/>
          </a:xfrm>
          <a:prstGeom prst="line">
            <a:avLst/>
          </a:prstGeom>
          <a:noFill/>
          <a:ln w="19050">
            <a:solidFill>
              <a:schemeClr val="accent6"/>
            </a:solidFill>
            <a:prstDash val="solid"/>
            <a:tailEnd type="triangle"/>
          </a:ln>
        </p:spPr>
      </p:sp>
      <p:sp>
        <p:nvSpPr>
          <p:cNvPr id="5" name="Text 3"/>
          <p:cNvSpPr txBox="1"/>
          <p:nvPr/>
        </p:nvSpPr>
        <p:spPr>
          <a:xfrm>
            <a:off x="731520" y="1417320"/>
            <a:ext cx="3108960" cy="365760"/>
          </a:xfrm>
          <a:prstGeom prst="rect">
            <a:avLst/>
          </a:prstGeom>
          <a:noFill/>
          <a:ln/>
        </p:spPr>
        <p:txBody>
          <a:bodyPr wrap="square" lIns="0" tIns="0" rIns="0" bIns="0" rtlCol="0" anchor="t"/>
          <a:lstStyle/>
          <a:p>
            <a:pPr marL="0" indent="0" algn="ctr">
              <a:buNone/>
            </a:pPr>
            <a:r>
              <a:rPr lang="en-US" sz="1700" b="1" dirty="0">
                <a:solidFill>
                  <a:schemeClr val="bg1"/>
                </a:solidFill>
              </a:rPr>
              <a:t>On-premises bare metal</a:t>
            </a:r>
            <a:endParaRPr lang="en-US" sz="1700" dirty="0"/>
          </a:p>
        </p:txBody>
      </p:sp>
      <p:sp>
        <p:nvSpPr>
          <p:cNvPr id="6" name="Text 4"/>
          <p:cNvSpPr txBox="1"/>
          <p:nvPr/>
        </p:nvSpPr>
        <p:spPr>
          <a:xfrm>
            <a:off x="731520" y="1783080"/>
            <a:ext cx="3108960" cy="274320"/>
          </a:xfrm>
          <a:prstGeom prst="rect">
            <a:avLst/>
          </a:prstGeom>
          <a:noFill/>
          <a:ln/>
        </p:spPr>
        <p:txBody>
          <a:bodyPr wrap="square" lIns="0" tIns="0" rIns="0" bIns="0" rtlCol="0" anchor="t"/>
          <a:lstStyle/>
          <a:p>
            <a:pPr marL="0" indent="0" algn="ctr">
              <a:buNone/>
            </a:pPr>
            <a:r>
              <a:rPr lang="en-US" sz="1300" dirty="0">
                <a:solidFill>
                  <a:schemeClr val="bg2"/>
                </a:solidFill>
              </a:rPr>
              <a:t>1990s – 2000s</a:t>
            </a:r>
            <a:endParaRPr lang="en-US" sz="1300" dirty="0"/>
          </a:p>
        </p:txBody>
      </p:sp>
      <p:sp>
        <p:nvSpPr>
          <p:cNvPr id="7" name="Shape 5"/>
          <p:cNvSpPr/>
          <p:nvPr/>
        </p:nvSpPr>
        <p:spPr>
          <a:xfrm>
            <a:off x="2203704" y="2157984"/>
            <a:ext cx="164592" cy="164592"/>
          </a:xfrm>
          <a:prstGeom prst="ellipse">
            <a:avLst/>
          </a:prstGeom>
          <a:solidFill>
            <a:schemeClr val="bg2"/>
          </a:solidFill>
          <a:ln w="25400">
            <a:solidFill>
              <a:srgbClr val="0B1426"/>
            </a:solidFill>
            <a:prstDash val="solid"/>
          </a:ln>
        </p:spPr>
      </p:sp>
      <p:sp>
        <p:nvSpPr>
          <p:cNvPr id="8" name="Text 6"/>
          <p:cNvSpPr txBox="1"/>
          <p:nvPr/>
        </p:nvSpPr>
        <p:spPr>
          <a:xfrm>
            <a:off x="731520" y="5806440"/>
            <a:ext cx="3108960" cy="320040"/>
          </a:xfrm>
          <a:prstGeom prst="rect">
            <a:avLst/>
          </a:prstGeom>
          <a:noFill/>
          <a:ln/>
        </p:spPr>
        <p:txBody>
          <a:bodyPr wrap="square" lIns="0" tIns="0" rIns="0" bIns="0" rtlCol="0" anchor="t"/>
          <a:lstStyle/>
          <a:p>
            <a:pPr marL="0" indent="0" algn="ctr">
              <a:buNone/>
            </a:pPr>
            <a:r>
              <a:rPr lang="en-US" sz="1300" dirty="0">
                <a:solidFill>
                  <a:schemeClr val="bg2"/>
                </a:solidFill>
              </a:rPr>
              <a:t>Weeks to provision · low utilization</a:t>
            </a:r>
            <a:endParaRPr lang="en-US" sz="1300" dirty="0"/>
          </a:p>
        </p:txBody>
      </p:sp>
      <p:sp>
        <p:nvSpPr>
          <p:cNvPr id="9" name="Text 7"/>
          <p:cNvSpPr txBox="1"/>
          <p:nvPr/>
        </p:nvSpPr>
        <p:spPr>
          <a:xfrm>
            <a:off x="4526280" y="1417320"/>
            <a:ext cx="3108960" cy="365760"/>
          </a:xfrm>
          <a:prstGeom prst="rect">
            <a:avLst/>
          </a:prstGeom>
          <a:noFill/>
          <a:ln/>
        </p:spPr>
        <p:txBody>
          <a:bodyPr wrap="square" lIns="0" tIns="0" rIns="0" bIns="0" rtlCol="0" anchor="t"/>
          <a:lstStyle/>
          <a:p>
            <a:pPr marL="0" indent="0" algn="ctr">
              <a:buNone/>
            </a:pPr>
            <a:r>
              <a:rPr lang="en-US" sz="1700" b="1" dirty="0">
                <a:solidFill>
                  <a:schemeClr val="bg1"/>
                </a:solidFill>
              </a:rPr>
              <a:t>Virtual machines</a:t>
            </a:r>
            <a:endParaRPr lang="en-US" sz="1700" dirty="0"/>
          </a:p>
        </p:txBody>
      </p:sp>
      <p:sp>
        <p:nvSpPr>
          <p:cNvPr id="10" name="Text 8"/>
          <p:cNvSpPr txBox="1"/>
          <p:nvPr/>
        </p:nvSpPr>
        <p:spPr>
          <a:xfrm>
            <a:off x="4526280" y="1783080"/>
            <a:ext cx="3108960" cy="274320"/>
          </a:xfrm>
          <a:prstGeom prst="rect">
            <a:avLst/>
          </a:prstGeom>
          <a:noFill/>
          <a:ln/>
        </p:spPr>
        <p:txBody>
          <a:bodyPr wrap="square" lIns="0" tIns="0" rIns="0" bIns="0" rtlCol="0" anchor="t"/>
          <a:lstStyle/>
          <a:p>
            <a:pPr marL="0" indent="0" algn="ctr">
              <a:buNone/>
            </a:pPr>
            <a:r>
              <a:rPr lang="en-US" sz="1300" dirty="0">
                <a:solidFill>
                  <a:schemeClr val="bg2"/>
                </a:solidFill>
              </a:rPr>
              <a:t>2000s – 2010s</a:t>
            </a:r>
            <a:endParaRPr lang="en-US" sz="1300" dirty="0"/>
          </a:p>
        </p:txBody>
      </p:sp>
      <p:sp>
        <p:nvSpPr>
          <p:cNvPr id="11" name="Shape 9"/>
          <p:cNvSpPr/>
          <p:nvPr/>
        </p:nvSpPr>
        <p:spPr>
          <a:xfrm>
            <a:off x="5998464" y="2157984"/>
            <a:ext cx="164592" cy="164592"/>
          </a:xfrm>
          <a:prstGeom prst="ellipse">
            <a:avLst/>
          </a:prstGeom>
          <a:solidFill>
            <a:schemeClr val="bg2"/>
          </a:solidFill>
          <a:ln w="25400">
            <a:solidFill>
              <a:srgbClr val="0B1426"/>
            </a:solidFill>
            <a:prstDash val="solid"/>
          </a:ln>
        </p:spPr>
      </p:sp>
      <p:sp>
        <p:nvSpPr>
          <p:cNvPr id="12" name="Text 10"/>
          <p:cNvSpPr txBox="1"/>
          <p:nvPr/>
        </p:nvSpPr>
        <p:spPr>
          <a:xfrm>
            <a:off x="4526280" y="5806440"/>
            <a:ext cx="3108960" cy="320040"/>
          </a:xfrm>
          <a:prstGeom prst="rect">
            <a:avLst/>
          </a:prstGeom>
          <a:noFill/>
          <a:ln/>
        </p:spPr>
        <p:txBody>
          <a:bodyPr wrap="square" lIns="0" tIns="0" rIns="0" bIns="0" rtlCol="0" anchor="t"/>
          <a:lstStyle/>
          <a:p>
            <a:pPr marL="0" indent="0" algn="ctr">
              <a:buNone/>
            </a:pPr>
            <a:r>
              <a:rPr lang="en-US" sz="1300" dirty="0">
                <a:solidFill>
                  <a:schemeClr val="bg2"/>
                </a:solidFill>
              </a:rPr>
              <a:t>Minutes to boot · a full OS per VM</a:t>
            </a:r>
            <a:endParaRPr lang="en-US" sz="1300" dirty="0"/>
          </a:p>
        </p:txBody>
      </p:sp>
      <p:sp>
        <p:nvSpPr>
          <p:cNvPr id="13" name="Text 11"/>
          <p:cNvSpPr txBox="1"/>
          <p:nvPr/>
        </p:nvSpPr>
        <p:spPr>
          <a:xfrm>
            <a:off x="8321040" y="1417320"/>
            <a:ext cx="3108960" cy="365760"/>
          </a:xfrm>
          <a:prstGeom prst="rect">
            <a:avLst/>
          </a:prstGeom>
          <a:noFill/>
          <a:ln/>
        </p:spPr>
        <p:txBody>
          <a:bodyPr wrap="square" lIns="0" tIns="0" rIns="0" bIns="0" rtlCol="0" anchor="t"/>
          <a:lstStyle/>
          <a:p>
            <a:pPr marL="0" indent="0" algn="ctr">
              <a:buNone/>
            </a:pPr>
            <a:r>
              <a:rPr lang="en-US" sz="1700" b="1" dirty="0">
                <a:solidFill>
                  <a:schemeClr val="bg1"/>
                </a:solidFill>
              </a:rPr>
              <a:t>Containers</a:t>
            </a:r>
            <a:endParaRPr lang="en-US" sz="1700" dirty="0"/>
          </a:p>
        </p:txBody>
      </p:sp>
      <p:sp>
        <p:nvSpPr>
          <p:cNvPr id="14" name="Text 12"/>
          <p:cNvSpPr txBox="1"/>
          <p:nvPr/>
        </p:nvSpPr>
        <p:spPr>
          <a:xfrm>
            <a:off x="8321040" y="1783080"/>
            <a:ext cx="3108960" cy="274320"/>
          </a:xfrm>
          <a:prstGeom prst="rect">
            <a:avLst/>
          </a:prstGeom>
          <a:noFill/>
          <a:ln/>
        </p:spPr>
        <p:txBody>
          <a:bodyPr wrap="square" lIns="0" tIns="0" rIns="0" bIns="0" rtlCol="0" anchor="t"/>
          <a:lstStyle/>
          <a:p>
            <a:pPr marL="0" indent="0" algn="ctr">
              <a:buNone/>
            </a:pPr>
            <a:r>
              <a:rPr lang="en-US" sz="1300" dirty="0">
                <a:solidFill>
                  <a:schemeClr val="bg2"/>
                </a:solidFill>
              </a:rPr>
              <a:t>2013 onwards</a:t>
            </a:r>
            <a:endParaRPr lang="en-US" sz="1300" dirty="0"/>
          </a:p>
        </p:txBody>
      </p:sp>
      <p:sp>
        <p:nvSpPr>
          <p:cNvPr id="15" name="Shape 13"/>
          <p:cNvSpPr/>
          <p:nvPr/>
        </p:nvSpPr>
        <p:spPr>
          <a:xfrm>
            <a:off x="9793224" y="2157984"/>
            <a:ext cx="164592" cy="164592"/>
          </a:xfrm>
          <a:prstGeom prst="ellipse">
            <a:avLst/>
          </a:prstGeom>
          <a:solidFill>
            <a:schemeClr val="accent2"/>
          </a:solidFill>
          <a:ln w="25400">
            <a:solidFill>
              <a:srgbClr val="0B1426"/>
            </a:solidFill>
            <a:prstDash val="solid"/>
          </a:ln>
        </p:spPr>
      </p:sp>
      <p:sp>
        <p:nvSpPr>
          <p:cNvPr id="16" name="Text 14"/>
          <p:cNvSpPr txBox="1"/>
          <p:nvPr/>
        </p:nvSpPr>
        <p:spPr>
          <a:xfrm>
            <a:off x="8321040" y="5806440"/>
            <a:ext cx="3108960" cy="320040"/>
          </a:xfrm>
          <a:prstGeom prst="rect">
            <a:avLst/>
          </a:prstGeom>
          <a:noFill/>
          <a:ln/>
        </p:spPr>
        <p:txBody>
          <a:bodyPr wrap="square" lIns="0" tIns="0" rIns="0" bIns="0" rtlCol="0" anchor="t"/>
          <a:lstStyle/>
          <a:p>
            <a:pPr marL="0" indent="0" algn="ctr">
              <a:buNone/>
            </a:pPr>
            <a:r>
              <a:rPr lang="en-US" sz="1300" dirty="0">
                <a:solidFill>
                  <a:schemeClr val="bg2"/>
                </a:solidFill>
              </a:rPr>
              <a:t>Seconds to start · lightweight, portable</a:t>
            </a:r>
            <a:endParaRPr lang="en-US" sz="1300" dirty="0"/>
          </a:p>
        </p:txBody>
      </p:sp>
      <p:sp>
        <p:nvSpPr>
          <p:cNvPr id="17" name="Shape 15"/>
          <p:cNvSpPr/>
          <p:nvPr/>
        </p:nvSpPr>
        <p:spPr>
          <a:xfrm>
            <a:off x="731520" y="2606040"/>
            <a:ext cx="1508760" cy="1691640"/>
          </a:xfrm>
          <a:prstGeom prst="roundRect">
            <a:avLst>
              <a:gd name="adj" fmla="val 6061"/>
            </a:avLst>
          </a:prstGeom>
          <a:solidFill>
            <a:schemeClr val="accent5"/>
          </a:solidFill>
          <a:ln w="12700">
            <a:solidFill>
              <a:schemeClr val="accent1"/>
            </a:solidFill>
            <a:prstDash val="solid"/>
          </a:ln>
        </p:spPr>
      </p:sp>
      <p:sp>
        <p:nvSpPr>
          <p:cNvPr id="18" name="Text 16"/>
          <p:cNvSpPr txBox="1"/>
          <p:nvPr/>
        </p:nvSpPr>
        <p:spPr>
          <a:xfrm>
            <a:off x="804672" y="2606040"/>
            <a:ext cx="1362456" cy="169164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App A</a:t>
            </a:r>
            <a:endParaRPr lang="en-US" sz="1500" dirty="0"/>
          </a:p>
        </p:txBody>
      </p:sp>
      <p:sp>
        <p:nvSpPr>
          <p:cNvPr id="19" name="Shape 17"/>
          <p:cNvSpPr/>
          <p:nvPr/>
        </p:nvSpPr>
        <p:spPr>
          <a:xfrm>
            <a:off x="2331720" y="2606040"/>
            <a:ext cx="1508760" cy="1691640"/>
          </a:xfrm>
          <a:prstGeom prst="roundRect">
            <a:avLst>
              <a:gd name="adj" fmla="val 6061"/>
            </a:avLst>
          </a:prstGeom>
          <a:solidFill>
            <a:schemeClr val="accent5"/>
          </a:solidFill>
          <a:ln w="12700">
            <a:solidFill>
              <a:schemeClr val="accent1"/>
            </a:solidFill>
            <a:prstDash val="solid"/>
          </a:ln>
        </p:spPr>
      </p:sp>
      <p:sp>
        <p:nvSpPr>
          <p:cNvPr id="20" name="Text 18"/>
          <p:cNvSpPr txBox="1"/>
          <p:nvPr/>
        </p:nvSpPr>
        <p:spPr>
          <a:xfrm>
            <a:off x="2404872" y="2606040"/>
            <a:ext cx="1362456" cy="169164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App B</a:t>
            </a:r>
            <a:endParaRPr lang="en-US" sz="1500" dirty="0"/>
          </a:p>
        </p:txBody>
      </p:sp>
      <p:sp>
        <p:nvSpPr>
          <p:cNvPr id="21" name="Shape 19"/>
          <p:cNvSpPr/>
          <p:nvPr/>
        </p:nvSpPr>
        <p:spPr>
          <a:xfrm>
            <a:off x="731520" y="4389120"/>
            <a:ext cx="3108960" cy="384048"/>
          </a:xfrm>
          <a:prstGeom prst="roundRect">
            <a:avLst>
              <a:gd name="adj" fmla="val 23810"/>
            </a:avLst>
          </a:prstGeom>
          <a:solidFill>
            <a:schemeClr val="tx2"/>
          </a:solidFill>
          <a:ln w="12700">
            <a:solidFill>
              <a:schemeClr val="tx2"/>
            </a:solidFill>
            <a:prstDash val="solid"/>
          </a:ln>
        </p:spPr>
      </p:sp>
      <p:sp>
        <p:nvSpPr>
          <p:cNvPr id="22" name="Text 20"/>
          <p:cNvSpPr txBox="1"/>
          <p:nvPr/>
        </p:nvSpPr>
        <p:spPr>
          <a:xfrm>
            <a:off x="804672" y="438912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Shared libraries</a:t>
            </a:r>
            <a:endParaRPr lang="en-US" sz="1300" dirty="0"/>
          </a:p>
        </p:txBody>
      </p:sp>
      <p:sp>
        <p:nvSpPr>
          <p:cNvPr id="23" name="Shape 21"/>
          <p:cNvSpPr/>
          <p:nvPr/>
        </p:nvSpPr>
        <p:spPr>
          <a:xfrm>
            <a:off x="731520" y="4800600"/>
            <a:ext cx="3108960" cy="384048"/>
          </a:xfrm>
          <a:prstGeom prst="roundRect">
            <a:avLst>
              <a:gd name="adj" fmla="val 23810"/>
            </a:avLst>
          </a:prstGeom>
          <a:solidFill>
            <a:srgbClr val="1E3A5F"/>
          </a:solidFill>
          <a:ln w="12700">
            <a:solidFill>
              <a:srgbClr val="1E3A5F"/>
            </a:solidFill>
            <a:prstDash val="solid"/>
          </a:ln>
        </p:spPr>
      </p:sp>
      <p:sp>
        <p:nvSpPr>
          <p:cNvPr id="24" name="Text 22"/>
          <p:cNvSpPr txBox="1"/>
          <p:nvPr/>
        </p:nvSpPr>
        <p:spPr>
          <a:xfrm>
            <a:off x="804672" y="480060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Operating system</a:t>
            </a:r>
            <a:endParaRPr lang="en-US" sz="1300" dirty="0"/>
          </a:p>
        </p:txBody>
      </p:sp>
      <p:sp>
        <p:nvSpPr>
          <p:cNvPr id="25" name="Shape 23"/>
          <p:cNvSpPr/>
          <p:nvPr/>
        </p:nvSpPr>
        <p:spPr>
          <a:xfrm>
            <a:off x="731520" y="5212080"/>
            <a:ext cx="3108960" cy="384048"/>
          </a:xfrm>
          <a:prstGeom prst="roundRect">
            <a:avLst>
              <a:gd name="adj" fmla="val 23810"/>
            </a:avLst>
          </a:prstGeom>
          <a:solidFill>
            <a:srgbClr val="2B3346"/>
          </a:solidFill>
          <a:ln w="12700">
            <a:solidFill>
              <a:srgbClr val="2B3346"/>
            </a:solidFill>
            <a:prstDash val="solid"/>
          </a:ln>
        </p:spPr>
      </p:sp>
      <p:sp>
        <p:nvSpPr>
          <p:cNvPr id="26" name="Text 24"/>
          <p:cNvSpPr txBox="1"/>
          <p:nvPr/>
        </p:nvSpPr>
        <p:spPr>
          <a:xfrm>
            <a:off x="804672" y="521208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Physical server</a:t>
            </a:r>
            <a:endParaRPr lang="en-US" sz="1300" dirty="0"/>
          </a:p>
        </p:txBody>
      </p:sp>
      <p:sp>
        <p:nvSpPr>
          <p:cNvPr id="27" name="Shape 25"/>
          <p:cNvSpPr/>
          <p:nvPr/>
        </p:nvSpPr>
        <p:spPr>
          <a:xfrm>
            <a:off x="4526280" y="2606040"/>
            <a:ext cx="1508760" cy="2103120"/>
          </a:xfrm>
          <a:prstGeom prst="roundRect">
            <a:avLst>
              <a:gd name="adj" fmla="val 6061"/>
            </a:avLst>
          </a:prstGeom>
          <a:solidFill>
            <a:srgbClr val="0B1426"/>
          </a:solidFill>
          <a:ln w="15875">
            <a:solidFill>
              <a:schemeClr val="accent1"/>
            </a:solidFill>
            <a:prstDash val="solid"/>
          </a:ln>
        </p:spPr>
      </p:sp>
      <p:sp>
        <p:nvSpPr>
          <p:cNvPr id="28" name="Text 26"/>
          <p:cNvSpPr txBox="1"/>
          <p:nvPr/>
        </p:nvSpPr>
        <p:spPr>
          <a:xfrm>
            <a:off x="4526280" y="2651760"/>
            <a:ext cx="1508760" cy="292608"/>
          </a:xfrm>
          <a:prstGeom prst="rect">
            <a:avLst/>
          </a:prstGeom>
          <a:noFill/>
          <a:ln/>
        </p:spPr>
        <p:txBody>
          <a:bodyPr wrap="square" lIns="0" tIns="0" rIns="0" bIns="0" rtlCol="0" anchor="t"/>
          <a:lstStyle/>
          <a:p>
            <a:pPr marL="0" indent="0" algn="ctr">
              <a:buNone/>
            </a:pPr>
            <a:r>
              <a:rPr lang="en-US" sz="1300" b="1" dirty="0">
                <a:solidFill>
                  <a:schemeClr val="accent1"/>
                </a:solidFill>
              </a:rPr>
              <a:t>VM 1</a:t>
            </a:r>
            <a:endParaRPr lang="en-US" sz="1300" dirty="0"/>
          </a:p>
        </p:txBody>
      </p:sp>
      <p:sp>
        <p:nvSpPr>
          <p:cNvPr id="29" name="Shape 27"/>
          <p:cNvSpPr/>
          <p:nvPr/>
        </p:nvSpPr>
        <p:spPr>
          <a:xfrm>
            <a:off x="4617720" y="2990088"/>
            <a:ext cx="1325880" cy="365760"/>
          </a:xfrm>
          <a:prstGeom prst="roundRect">
            <a:avLst>
              <a:gd name="adj" fmla="val 25000"/>
            </a:avLst>
          </a:prstGeom>
          <a:solidFill>
            <a:schemeClr val="accent5"/>
          </a:solidFill>
          <a:ln w="12700">
            <a:solidFill>
              <a:schemeClr val="accent6"/>
            </a:solidFill>
            <a:prstDash val="solid"/>
          </a:ln>
        </p:spPr>
      </p:sp>
      <p:sp>
        <p:nvSpPr>
          <p:cNvPr id="30" name="Text 28"/>
          <p:cNvSpPr txBox="1"/>
          <p:nvPr/>
        </p:nvSpPr>
        <p:spPr>
          <a:xfrm>
            <a:off x="4690872" y="2990088"/>
            <a:ext cx="1179576" cy="36576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App A</a:t>
            </a:r>
            <a:endParaRPr lang="en-US" sz="1200" dirty="0"/>
          </a:p>
        </p:txBody>
      </p:sp>
      <p:sp>
        <p:nvSpPr>
          <p:cNvPr id="31" name="Shape 29"/>
          <p:cNvSpPr/>
          <p:nvPr/>
        </p:nvSpPr>
        <p:spPr>
          <a:xfrm>
            <a:off x="4617720" y="3429000"/>
            <a:ext cx="1325880" cy="365760"/>
          </a:xfrm>
          <a:prstGeom prst="roundRect">
            <a:avLst>
              <a:gd name="adj" fmla="val 25000"/>
            </a:avLst>
          </a:prstGeom>
          <a:solidFill>
            <a:schemeClr val="tx2"/>
          </a:solidFill>
          <a:ln w="12700">
            <a:solidFill>
              <a:schemeClr val="accent6"/>
            </a:solidFill>
            <a:prstDash val="solid"/>
          </a:ln>
        </p:spPr>
      </p:sp>
      <p:sp>
        <p:nvSpPr>
          <p:cNvPr id="32" name="Text 30"/>
          <p:cNvSpPr txBox="1"/>
          <p:nvPr/>
        </p:nvSpPr>
        <p:spPr>
          <a:xfrm>
            <a:off x="4690872" y="3429000"/>
            <a:ext cx="1179576" cy="36576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Bins / libs</a:t>
            </a:r>
            <a:endParaRPr lang="en-US" sz="1200" dirty="0"/>
          </a:p>
        </p:txBody>
      </p:sp>
      <p:sp>
        <p:nvSpPr>
          <p:cNvPr id="33" name="Shape 31"/>
          <p:cNvSpPr/>
          <p:nvPr/>
        </p:nvSpPr>
        <p:spPr>
          <a:xfrm>
            <a:off x="4617720" y="3867912"/>
            <a:ext cx="1325880" cy="731520"/>
          </a:xfrm>
          <a:prstGeom prst="roundRect">
            <a:avLst>
              <a:gd name="adj" fmla="val 12500"/>
            </a:avLst>
          </a:prstGeom>
          <a:solidFill>
            <a:srgbClr val="3A2430"/>
          </a:solidFill>
          <a:ln w="12700">
            <a:solidFill>
              <a:schemeClr val="accent4"/>
            </a:solidFill>
            <a:prstDash val="solid"/>
          </a:ln>
        </p:spPr>
      </p:sp>
      <p:sp>
        <p:nvSpPr>
          <p:cNvPr id="34" name="Text 32"/>
          <p:cNvSpPr txBox="1"/>
          <p:nvPr/>
        </p:nvSpPr>
        <p:spPr>
          <a:xfrm>
            <a:off x="4690872" y="3867912"/>
            <a:ext cx="1179576" cy="731520"/>
          </a:xfrm>
          <a:prstGeom prst="rect">
            <a:avLst/>
          </a:prstGeom>
          <a:noFill/>
          <a:ln/>
        </p:spPr>
        <p:txBody>
          <a:bodyPr wrap="square" lIns="0" tIns="0" rIns="0" bIns="0" rtlCol="0" anchor="ctr"/>
          <a:lstStyle/>
          <a:p>
            <a:pPr marL="0" indent="0" algn="ctr">
              <a:spcAft>
                <a:spcPts val="200"/>
              </a:spcAft>
              <a:buNone/>
            </a:pPr>
            <a:r>
              <a:rPr lang="en-US" sz="1300" b="1" dirty="0">
                <a:solidFill>
                  <a:schemeClr val="accent4"/>
                </a:solidFill>
              </a:rPr>
              <a:t>Guest OS</a:t>
            </a:r>
            <a:endParaRPr lang="en-US" sz="1300" dirty="0"/>
          </a:p>
        </p:txBody>
      </p:sp>
      <p:sp>
        <p:nvSpPr>
          <p:cNvPr id="35" name="Shape 33"/>
          <p:cNvSpPr/>
          <p:nvPr/>
        </p:nvSpPr>
        <p:spPr>
          <a:xfrm>
            <a:off x="6126480" y="2606040"/>
            <a:ext cx="1508760" cy="2103120"/>
          </a:xfrm>
          <a:prstGeom prst="roundRect">
            <a:avLst>
              <a:gd name="adj" fmla="val 6061"/>
            </a:avLst>
          </a:prstGeom>
          <a:solidFill>
            <a:srgbClr val="0B1426"/>
          </a:solidFill>
          <a:ln w="15875">
            <a:solidFill>
              <a:schemeClr val="accent1"/>
            </a:solidFill>
            <a:prstDash val="solid"/>
          </a:ln>
        </p:spPr>
      </p:sp>
      <p:sp>
        <p:nvSpPr>
          <p:cNvPr id="36" name="Text 34"/>
          <p:cNvSpPr txBox="1"/>
          <p:nvPr/>
        </p:nvSpPr>
        <p:spPr>
          <a:xfrm>
            <a:off x="6126480" y="2651760"/>
            <a:ext cx="1508760" cy="292608"/>
          </a:xfrm>
          <a:prstGeom prst="rect">
            <a:avLst/>
          </a:prstGeom>
          <a:noFill/>
          <a:ln/>
        </p:spPr>
        <p:txBody>
          <a:bodyPr wrap="square" lIns="0" tIns="0" rIns="0" bIns="0" rtlCol="0" anchor="t"/>
          <a:lstStyle/>
          <a:p>
            <a:pPr marL="0" indent="0" algn="ctr">
              <a:buNone/>
            </a:pPr>
            <a:r>
              <a:rPr lang="en-US" sz="1300" b="1" dirty="0">
                <a:solidFill>
                  <a:schemeClr val="accent1"/>
                </a:solidFill>
              </a:rPr>
              <a:t>VM 2</a:t>
            </a:r>
            <a:endParaRPr lang="en-US" sz="1300" dirty="0"/>
          </a:p>
        </p:txBody>
      </p:sp>
      <p:sp>
        <p:nvSpPr>
          <p:cNvPr id="37" name="Shape 35"/>
          <p:cNvSpPr/>
          <p:nvPr/>
        </p:nvSpPr>
        <p:spPr>
          <a:xfrm>
            <a:off x="6217920" y="2990088"/>
            <a:ext cx="1325880" cy="365760"/>
          </a:xfrm>
          <a:prstGeom prst="roundRect">
            <a:avLst>
              <a:gd name="adj" fmla="val 25000"/>
            </a:avLst>
          </a:prstGeom>
          <a:solidFill>
            <a:schemeClr val="accent5"/>
          </a:solidFill>
          <a:ln w="12700">
            <a:solidFill>
              <a:schemeClr val="accent6"/>
            </a:solidFill>
            <a:prstDash val="solid"/>
          </a:ln>
        </p:spPr>
      </p:sp>
      <p:sp>
        <p:nvSpPr>
          <p:cNvPr id="38" name="Text 36"/>
          <p:cNvSpPr txBox="1"/>
          <p:nvPr/>
        </p:nvSpPr>
        <p:spPr>
          <a:xfrm>
            <a:off x="6291072" y="2990088"/>
            <a:ext cx="1179576" cy="36576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App B</a:t>
            </a:r>
            <a:endParaRPr lang="en-US" sz="1200" dirty="0"/>
          </a:p>
        </p:txBody>
      </p:sp>
      <p:sp>
        <p:nvSpPr>
          <p:cNvPr id="39" name="Shape 37"/>
          <p:cNvSpPr/>
          <p:nvPr/>
        </p:nvSpPr>
        <p:spPr>
          <a:xfrm>
            <a:off x="6217920" y="3429000"/>
            <a:ext cx="1325880" cy="365760"/>
          </a:xfrm>
          <a:prstGeom prst="roundRect">
            <a:avLst>
              <a:gd name="adj" fmla="val 25000"/>
            </a:avLst>
          </a:prstGeom>
          <a:solidFill>
            <a:schemeClr val="tx2"/>
          </a:solidFill>
          <a:ln w="12700">
            <a:solidFill>
              <a:schemeClr val="accent6"/>
            </a:solidFill>
            <a:prstDash val="solid"/>
          </a:ln>
        </p:spPr>
      </p:sp>
      <p:sp>
        <p:nvSpPr>
          <p:cNvPr id="40" name="Text 38"/>
          <p:cNvSpPr txBox="1"/>
          <p:nvPr/>
        </p:nvSpPr>
        <p:spPr>
          <a:xfrm>
            <a:off x="6291072" y="3429000"/>
            <a:ext cx="1179576" cy="36576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Bins / libs</a:t>
            </a:r>
            <a:endParaRPr lang="en-US" sz="1200" dirty="0"/>
          </a:p>
        </p:txBody>
      </p:sp>
      <p:sp>
        <p:nvSpPr>
          <p:cNvPr id="41" name="Shape 39"/>
          <p:cNvSpPr/>
          <p:nvPr/>
        </p:nvSpPr>
        <p:spPr>
          <a:xfrm>
            <a:off x="6217920" y="3867912"/>
            <a:ext cx="1325880" cy="731520"/>
          </a:xfrm>
          <a:prstGeom prst="roundRect">
            <a:avLst>
              <a:gd name="adj" fmla="val 12500"/>
            </a:avLst>
          </a:prstGeom>
          <a:solidFill>
            <a:srgbClr val="3A2430"/>
          </a:solidFill>
          <a:ln w="12700">
            <a:solidFill>
              <a:schemeClr val="accent4"/>
            </a:solidFill>
            <a:prstDash val="solid"/>
          </a:ln>
        </p:spPr>
      </p:sp>
      <p:sp>
        <p:nvSpPr>
          <p:cNvPr id="42" name="Text 40"/>
          <p:cNvSpPr txBox="1"/>
          <p:nvPr/>
        </p:nvSpPr>
        <p:spPr>
          <a:xfrm>
            <a:off x="6291072" y="3867912"/>
            <a:ext cx="1179576" cy="731520"/>
          </a:xfrm>
          <a:prstGeom prst="rect">
            <a:avLst/>
          </a:prstGeom>
          <a:noFill/>
          <a:ln/>
        </p:spPr>
        <p:txBody>
          <a:bodyPr wrap="square" lIns="0" tIns="0" rIns="0" bIns="0" rtlCol="0" anchor="ctr"/>
          <a:lstStyle/>
          <a:p>
            <a:pPr marL="0" indent="0" algn="ctr">
              <a:spcAft>
                <a:spcPts val="200"/>
              </a:spcAft>
              <a:buNone/>
            </a:pPr>
            <a:r>
              <a:rPr lang="en-US" sz="1300" b="1" dirty="0">
                <a:solidFill>
                  <a:schemeClr val="accent4"/>
                </a:solidFill>
              </a:rPr>
              <a:t>Guest OS</a:t>
            </a:r>
            <a:endParaRPr lang="en-US" sz="1300" dirty="0"/>
          </a:p>
        </p:txBody>
      </p:sp>
      <p:sp>
        <p:nvSpPr>
          <p:cNvPr id="43" name="Shape 41"/>
          <p:cNvSpPr/>
          <p:nvPr/>
        </p:nvSpPr>
        <p:spPr>
          <a:xfrm>
            <a:off x="4526280" y="4800600"/>
            <a:ext cx="3108960" cy="384048"/>
          </a:xfrm>
          <a:prstGeom prst="roundRect">
            <a:avLst>
              <a:gd name="adj" fmla="val 23810"/>
            </a:avLst>
          </a:prstGeom>
          <a:solidFill>
            <a:srgbClr val="1E3A5F"/>
          </a:solidFill>
          <a:ln w="12700">
            <a:solidFill>
              <a:srgbClr val="1E3A5F"/>
            </a:solidFill>
            <a:prstDash val="solid"/>
          </a:ln>
        </p:spPr>
      </p:sp>
      <p:sp>
        <p:nvSpPr>
          <p:cNvPr id="44" name="Text 42"/>
          <p:cNvSpPr txBox="1"/>
          <p:nvPr/>
        </p:nvSpPr>
        <p:spPr>
          <a:xfrm>
            <a:off x="4599432" y="480060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Hypervisor</a:t>
            </a:r>
            <a:endParaRPr lang="en-US" sz="1300" dirty="0"/>
          </a:p>
        </p:txBody>
      </p:sp>
      <p:sp>
        <p:nvSpPr>
          <p:cNvPr id="45" name="Shape 43"/>
          <p:cNvSpPr/>
          <p:nvPr/>
        </p:nvSpPr>
        <p:spPr>
          <a:xfrm>
            <a:off x="4526280" y="5212080"/>
            <a:ext cx="3108960" cy="384048"/>
          </a:xfrm>
          <a:prstGeom prst="roundRect">
            <a:avLst>
              <a:gd name="adj" fmla="val 23810"/>
            </a:avLst>
          </a:prstGeom>
          <a:solidFill>
            <a:srgbClr val="2B3346"/>
          </a:solidFill>
          <a:ln w="12700">
            <a:solidFill>
              <a:srgbClr val="2B3346"/>
            </a:solidFill>
            <a:prstDash val="solid"/>
          </a:ln>
        </p:spPr>
      </p:sp>
      <p:sp>
        <p:nvSpPr>
          <p:cNvPr id="46" name="Text 44"/>
          <p:cNvSpPr txBox="1"/>
          <p:nvPr/>
        </p:nvSpPr>
        <p:spPr>
          <a:xfrm>
            <a:off x="4599432" y="521208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Physical server</a:t>
            </a:r>
            <a:endParaRPr lang="en-US" sz="1300" dirty="0"/>
          </a:p>
        </p:txBody>
      </p:sp>
      <p:sp>
        <p:nvSpPr>
          <p:cNvPr id="47" name="Shape 45"/>
          <p:cNvSpPr/>
          <p:nvPr/>
        </p:nvSpPr>
        <p:spPr>
          <a:xfrm>
            <a:off x="8321040" y="2606040"/>
            <a:ext cx="987552" cy="1691640"/>
          </a:xfrm>
          <a:prstGeom prst="roundRect">
            <a:avLst>
              <a:gd name="adj" fmla="val 9259"/>
            </a:avLst>
          </a:prstGeom>
          <a:solidFill>
            <a:srgbClr val="0B1426"/>
          </a:solidFill>
          <a:ln w="15875">
            <a:solidFill>
              <a:schemeClr val="accent2"/>
            </a:solidFill>
            <a:prstDash val="solid"/>
          </a:ln>
        </p:spPr>
      </p:sp>
      <p:sp>
        <p:nvSpPr>
          <p:cNvPr id="48" name="Shape 46"/>
          <p:cNvSpPr/>
          <p:nvPr/>
        </p:nvSpPr>
        <p:spPr>
          <a:xfrm>
            <a:off x="8394192" y="2743200"/>
            <a:ext cx="841248" cy="685800"/>
          </a:xfrm>
          <a:prstGeom prst="roundRect">
            <a:avLst>
              <a:gd name="adj" fmla="val 13333"/>
            </a:avLst>
          </a:prstGeom>
          <a:solidFill>
            <a:schemeClr val="accent5"/>
          </a:solidFill>
          <a:ln w="12700">
            <a:solidFill>
              <a:schemeClr val="accent6"/>
            </a:solidFill>
            <a:prstDash val="solid"/>
          </a:ln>
        </p:spPr>
      </p:sp>
      <p:sp>
        <p:nvSpPr>
          <p:cNvPr id="49" name="Text 47"/>
          <p:cNvSpPr txBox="1"/>
          <p:nvPr/>
        </p:nvSpPr>
        <p:spPr>
          <a:xfrm>
            <a:off x="8467344" y="2743200"/>
            <a:ext cx="694944" cy="685800"/>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App</a:t>
            </a:r>
            <a:endParaRPr lang="en-US" sz="1300" dirty="0"/>
          </a:p>
        </p:txBody>
      </p:sp>
      <p:sp>
        <p:nvSpPr>
          <p:cNvPr id="50" name="Shape 48"/>
          <p:cNvSpPr/>
          <p:nvPr/>
        </p:nvSpPr>
        <p:spPr>
          <a:xfrm>
            <a:off x="8394192" y="3520440"/>
            <a:ext cx="841248" cy="640080"/>
          </a:xfrm>
          <a:prstGeom prst="roundRect">
            <a:avLst>
              <a:gd name="adj" fmla="val 14286"/>
            </a:avLst>
          </a:prstGeom>
          <a:solidFill>
            <a:schemeClr val="tx2"/>
          </a:solidFill>
          <a:ln w="12700">
            <a:solidFill>
              <a:schemeClr val="accent6"/>
            </a:solidFill>
            <a:prstDash val="solid"/>
          </a:ln>
        </p:spPr>
      </p:sp>
      <p:sp>
        <p:nvSpPr>
          <p:cNvPr id="51" name="Text 49"/>
          <p:cNvSpPr txBox="1"/>
          <p:nvPr/>
        </p:nvSpPr>
        <p:spPr>
          <a:xfrm>
            <a:off x="8467344" y="3520440"/>
            <a:ext cx="694944" cy="64008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Libs</a:t>
            </a:r>
            <a:endParaRPr lang="en-US" sz="1200" dirty="0"/>
          </a:p>
        </p:txBody>
      </p:sp>
      <p:sp>
        <p:nvSpPr>
          <p:cNvPr id="52" name="Shape 50"/>
          <p:cNvSpPr/>
          <p:nvPr/>
        </p:nvSpPr>
        <p:spPr>
          <a:xfrm>
            <a:off x="9381744" y="2606040"/>
            <a:ext cx="987552" cy="1691640"/>
          </a:xfrm>
          <a:prstGeom prst="roundRect">
            <a:avLst>
              <a:gd name="adj" fmla="val 9259"/>
            </a:avLst>
          </a:prstGeom>
          <a:solidFill>
            <a:srgbClr val="0B1426"/>
          </a:solidFill>
          <a:ln w="15875">
            <a:solidFill>
              <a:schemeClr val="accent2"/>
            </a:solidFill>
            <a:prstDash val="solid"/>
          </a:ln>
        </p:spPr>
      </p:sp>
      <p:sp>
        <p:nvSpPr>
          <p:cNvPr id="53" name="Shape 51"/>
          <p:cNvSpPr/>
          <p:nvPr/>
        </p:nvSpPr>
        <p:spPr>
          <a:xfrm>
            <a:off x="9454896" y="2743200"/>
            <a:ext cx="841248" cy="685800"/>
          </a:xfrm>
          <a:prstGeom prst="roundRect">
            <a:avLst>
              <a:gd name="adj" fmla="val 13333"/>
            </a:avLst>
          </a:prstGeom>
          <a:solidFill>
            <a:schemeClr val="accent5"/>
          </a:solidFill>
          <a:ln w="12700">
            <a:solidFill>
              <a:schemeClr val="accent6"/>
            </a:solidFill>
            <a:prstDash val="solid"/>
          </a:ln>
        </p:spPr>
      </p:sp>
      <p:sp>
        <p:nvSpPr>
          <p:cNvPr id="54" name="Text 52"/>
          <p:cNvSpPr txBox="1"/>
          <p:nvPr/>
        </p:nvSpPr>
        <p:spPr>
          <a:xfrm>
            <a:off x="9528048" y="2743200"/>
            <a:ext cx="694944" cy="685800"/>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App</a:t>
            </a:r>
            <a:endParaRPr lang="en-US" sz="1300" dirty="0"/>
          </a:p>
        </p:txBody>
      </p:sp>
      <p:sp>
        <p:nvSpPr>
          <p:cNvPr id="55" name="Shape 53"/>
          <p:cNvSpPr/>
          <p:nvPr/>
        </p:nvSpPr>
        <p:spPr>
          <a:xfrm>
            <a:off x="9454896" y="3520440"/>
            <a:ext cx="841248" cy="640080"/>
          </a:xfrm>
          <a:prstGeom prst="roundRect">
            <a:avLst>
              <a:gd name="adj" fmla="val 14286"/>
            </a:avLst>
          </a:prstGeom>
          <a:solidFill>
            <a:schemeClr val="tx2"/>
          </a:solidFill>
          <a:ln w="12700">
            <a:solidFill>
              <a:schemeClr val="accent6"/>
            </a:solidFill>
            <a:prstDash val="solid"/>
          </a:ln>
        </p:spPr>
      </p:sp>
      <p:sp>
        <p:nvSpPr>
          <p:cNvPr id="56" name="Text 54"/>
          <p:cNvSpPr txBox="1"/>
          <p:nvPr/>
        </p:nvSpPr>
        <p:spPr>
          <a:xfrm>
            <a:off x="9528048" y="3520440"/>
            <a:ext cx="694944" cy="64008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Libs</a:t>
            </a:r>
            <a:endParaRPr lang="en-US" sz="1200" dirty="0"/>
          </a:p>
        </p:txBody>
      </p:sp>
      <p:sp>
        <p:nvSpPr>
          <p:cNvPr id="57" name="Shape 55"/>
          <p:cNvSpPr/>
          <p:nvPr/>
        </p:nvSpPr>
        <p:spPr>
          <a:xfrm>
            <a:off x="10442448" y="2606040"/>
            <a:ext cx="987552" cy="1691640"/>
          </a:xfrm>
          <a:prstGeom prst="roundRect">
            <a:avLst>
              <a:gd name="adj" fmla="val 9259"/>
            </a:avLst>
          </a:prstGeom>
          <a:solidFill>
            <a:srgbClr val="0B1426"/>
          </a:solidFill>
          <a:ln w="15875">
            <a:solidFill>
              <a:schemeClr val="accent2"/>
            </a:solidFill>
            <a:prstDash val="solid"/>
          </a:ln>
        </p:spPr>
      </p:sp>
      <p:sp>
        <p:nvSpPr>
          <p:cNvPr id="58" name="Shape 56"/>
          <p:cNvSpPr/>
          <p:nvPr/>
        </p:nvSpPr>
        <p:spPr>
          <a:xfrm>
            <a:off x="10515600" y="2743200"/>
            <a:ext cx="841248" cy="685800"/>
          </a:xfrm>
          <a:prstGeom prst="roundRect">
            <a:avLst>
              <a:gd name="adj" fmla="val 13333"/>
            </a:avLst>
          </a:prstGeom>
          <a:solidFill>
            <a:schemeClr val="accent5"/>
          </a:solidFill>
          <a:ln w="12700">
            <a:solidFill>
              <a:schemeClr val="accent6"/>
            </a:solidFill>
            <a:prstDash val="solid"/>
          </a:ln>
        </p:spPr>
      </p:sp>
      <p:sp>
        <p:nvSpPr>
          <p:cNvPr id="59" name="Text 57"/>
          <p:cNvSpPr txBox="1"/>
          <p:nvPr/>
        </p:nvSpPr>
        <p:spPr>
          <a:xfrm>
            <a:off x="10588752" y="2743200"/>
            <a:ext cx="694944" cy="685800"/>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App</a:t>
            </a:r>
            <a:endParaRPr lang="en-US" sz="1300" dirty="0"/>
          </a:p>
        </p:txBody>
      </p:sp>
      <p:sp>
        <p:nvSpPr>
          <p:cNvPr id="60" name="Shape 58"/>
          <p:cNvSpPr/>
          <p:nvPr/>
        </p:nvSpPr>
        <p:spPr>
          <a:xfrm>
            <a:off x="10515600" y="3520440"/>
            <a:ext cx="841248" cy="640080"/>
          </a:xfrm>
          <a:prstGeom prst="roundRect">
            <a:avLst>
              <a:gd name="adj" fmla="val 14286"/>
            </a:avLst>
          </a:prstGeom>
          <a:solidFill>
            <a:schemeClr val="tx2"/>
          </a:solidFill>
          <a:ln w="12700">
            <a:solidFill>
              <a:schemeClr val="accent6"/>
            </a:solidFill>
            <a:prstDash val="solid"/>
          </a:ln>
        </p:spPr>
      </p:sp>
      <p:sp>
        <p:nvSpPr>
          <p:cNvPr id="61" name="Text 59"/>
          <p:cNvSpPr txBox="1"/>
          <p:nvPr/>
        </p:nvSpPr>
        <p:spPr>
          <a:xfrm>
            <a:off x="10588752" y="3520440"/>
            <a:ext cx="694944" cy="64008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Libs</a:t>
            </a:r>
            <a:endParaRPr lang="en-US" sz="1200" dirty="0"/>
          </a:p>
        </p:txBody>
      </p:sp>
      <p:sp>
        <p:nvSpPr>
          <p:cNvPr id="62" name="Shape 60"/>
          <p:cNvSpPr/>
          <p:nvPr/>
        </p:nvSpPr>
        <p:spPr>
          <a:xfrm>
            <a:off x="8321040" y="4389120"/>
            <a:ext cx="3108960" cy="384048"/>
          </a:xfrm>
          <a:prstGeom prst="roundRect">
            <a:avLst>
              <a:gd name="adj" fmla="val 23810"/>
            </a:avLst>
          </a:prstGeom>
          <a:solidFill>
            <a:srgbClr val="0F3B3A"/>
          </a:solidFill>
          <a:ln w="12700">
            <a:solidFill>
              <a:srgbClr val="0F3B3A"/>
            </a:solidFill>
            <a:prstDash val="solid"/>
          </a:ln>
        </p:spPr>
      </p:sp>
      <p:sp>
        <p:nvSpPr>
          <p:cNvPr id="63" name="Text 61"/>
          <p:cNvSpPr txBox="1"/>
          <p:nvPr/>
        </p:nvSpPr>
        <p:spPr>
          <a:xfrm>
            <a:off x="8394192" y="438912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accent2"/>
                </a:solidFill>
              </a:rPr>
              <a:t>Container runtime</a:t>
            </a:r>
            <a:endParaRPr lang="en-US" sz="1300" dirty="0"/>
          </a:p>
        </p:txBody>
      </p:sp>
      <p:sp>
        <p:nvSpPr>
          <p:cNvPr id="64" name="Shape 62"/>
          <p:cNvSpPr/>
          <p:nvPr/>
        </p:nvSpPr>
        <p:spPr>
          <a:xfrm>
            <a:off x="8321040" y="4800600"/>
            <a:ext cx="3108960" cy="384048"/>
          </a:xfrm>
          <a:prstGeom prst="roundRect">
            <a:avLst>
              <a:gd name="adj" fmla="val 23810"/>
            </a:avLst>
          </a:prstGeom>
          <a:solidFill>
            <a:srgbClr val="1E3A5F"/>
          </a:solidFill>
          <a:ln w="12700">
            <a:solidFill>
              <a:srgbClr val="1E3A5F"/>
            </a:solidFill>
            <a:prstDash val="solid"/>
          </a:ln>
        </p:spPr>
      </p:sp>
      <p:sp>
        <p:nvSpPr>
          <p:cNvPr id="65" name="Text 63"/>
          <p:cNvSpPr txBox="1"/>
          <p:nvPr/>
        </p:nvSpPr>
        <p:spPr>
          <a:xfrm>
            <a:off x="8394192" y="480060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Host OS (shared kernel)</a:t>
            </a:r>
            <a:endParaRPr lang="en-US" sz="1300" dirty="0"/>
          </a:p>
        </p:txBody>
      </p:sp>
      <p:sp>
        <p:nvSpPr>
          <p:cNvPr id="66" name="Shape 64"/>
          <p:cNvSpPr/>
          <p:nvPr/>
        </p:nvSpPr>
        <p:spPr>
          <a:xfrm>
            <a:off x="8321040" y="5212080"/>
            <a:ext cx="3108960" cy="384048"/>
          </a:xfrm>
          <a:prstGeom prst="roundRect">
            <a:avLst>
              <a:gd name="adj" fmla="val 23810"/>
            </a:avLst>
          </a:prstGeom>
          <a:solidFill>
            <a:srgbClr val="2B3346"/>
          </a:solidFill>
          <a:ln w="12700">
            <a:solidFill>
              <a:srgbClr val="2B3346"/>
            </a:solidFill>
            <a:prstDash val="solid"/>
          </a:ln>
        </p:spPr>
      </p:sp>
      <p:sp>
        <p:nvSpPr>
          <p:cNvPr id="67" name="Text 65"/>
          <p:cNvSpPr txBox="1"/>
          <p:nvPr/>
        </p:nvSpPr>
        <p:spPr>
          <a:xfrm>
            <a:off x="8394192" y="5212080"/>
            <a:ext cx="2962656" cy="384048"/>
          </a:xfrm>
          <a:prstGeom prst="rect">
            <a:avLst/>
          </a:prstGeom>
          <a:noFill/>
          <a:ln/>
        </p:spPr>
        <p:txBody>
          <a:bodyPr wrap="square" lIns="0" tIns="0" rIns="0" bIns="0" rtlCol="0" anchor="ctr"/>
          <a:lstStyle/>
          <a:p>
            <a:pPr marL="0" indent="0" algn="ctr">
              <a:spcAft>
                <a:spcPts val="200"/>
              </a:spcAft>
              <a:buNone/>
            </a:pPr>
            <a:r>
              <a:rPr lang="en-US" sz="1300" b="1" dirty="0">
                <a:solidFill>
                  <a:schemeClr val="bg1"/>
                </a:solidFill>
              </a:rPr>
              <a:t>Physical server</a:t>
            </a:r>
            <a:endParaRPr lang="en-US" sz="1300" dirty="0"/>
          </a:p>
        </p:txBody>
      </p:sp>
      <p:sp>
        <p:nvSpPr>
          <p:cNvPr id="68"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THE EVOLUTION</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The road to Docker</a:t>
            </a:r>
            <a:endParaRPr lang="en-US" sz="3000" dirty="0"/>
          </a:p>
        </p:txBody>
      </p:sp>
      <p:sp>
        <p:nvSpPr>
          <p:cNvPr id="4" name="Shape 2"/>
          <p:cNvSpPr/>
          <p:nvPr/>
        </p:nvSpPr>
        <p:spPr>
          <a:xfrm>
            <a:off x="731520" y="2148840"/>
            <a:ext cx="10698480" cy="0"/>
          </a:xfrm>
          <a:prstGeom prst="line">
            <a:avLst/>
          </a:prstGeom>
          <a:noFill/>
          <a:ln w="25400">
            <a:solidFill>
              <a:schemeClr val="accent6"/>
            </a:solidFill>
            <a:prstDash val="solid"/>
          </a:ln>
        </p:spPr>
      </p:sp>
      <p:sp>
        <p:nvSpPr>
          <p:cNvPr id="5" name="Text 3"/>
          <p:cNvSpPr txBox="1"/>
          <p:nvPr/>
        </p:nvSpPr>
        <p:spPr>
          <a:xfrm>
            <a:off x="731520" y="1508760"/>
            <a:ext cx="2057400" cy="411480"/>
          </a:xfrm>
          <a:prstGeom prst="rect">
            <a:avLst/>
          </a:prstGeom>
          <a:noFill/>
          <a:ln/>
        </p:spPr>
        <p:txBody>
          <a:bodyPr wrap="square" lIns="0" tIns="0" rIns="0" bIns="0" rtlCol="0" anchor="t"/>
          <a:lstStyle/>
          <a:p>
            <a:pPr marL="0" indent="0" algn="ctr">
              <a:buNone/>
            </a:pPr>
            <a:r>
              <a:rPr lang="en-US" sz="2200" b="1" dirty="0">
                <a:solidFill>
                  <a:schemeClr val="accent1"/>
                </a:solidFill>
              </a:rPr>
              <a:t>1979</a:t>
            </a:r>
            <a:endParaRPr lang="en-US" sz="2200" dirty="0"/>
          </a:p>
        </p:txBody>
      </p:sp>
      <p:sp>
        <p:nvSpPr>
          <p:cNvPr id="6" name="Shape 4"/>
          <p:cNvSpPr/>
          <p:nvPr/>
        </p:nvSpPr>
        <p:spPr>
          <a:xfrm>
            <a:off x="1650492" y="2039112"/>
            <a:ext cx="219456" cy="219456"/>
          </a:xfrm>
          <a:prstGeom prst="ellipse">
            <a:avLst/>
          </a:prstGeom>
          <a:solidFill>
            <a:schemeClr val="accent1"/>
          </a:solidFill>
          <a:ln w="38100">
            <a:solidFill>
              <a:srgbClr val="0B1426"/>
            </a:solidFill>
            <a:prstDash val="solid"/>
          </a:ln>
        </p:spPr>
      </p:sp>
      <p:sp>
        <p:nvSpPr>
          <p:cNvPr id="7" name="Shape 5"/>
          <p:cNvSpPr/>
          <p:nvPr/>
        </p:nvSpPr>
        <p:spPr>
          <a:xfrm>
            <a:off x="731520" y="2514600"/>
            <a:ext cx="2057400" cy="2331720"/>
          </a:xfrm>
          <a:prstGeom prst="roundRect">
            <a:avLst>
              <a:gd name="adj" fmla="val 4444"/>
            </a:avLst>
          </a:prstGeom>
          <a:solidFill>
            <a:schemeClr val="tx2"/>
          </a:solidFill>
          <a:ln w="12700">
            <a:solidFill>
              <a:schemeClr val="accent6"/>
            </a:solidFill>
            <a:prstDash val="solid"/>
          </a:ln>
        </p:spPr>
      </p:sp>
      <p:sp>
        <p:nvSpPr>
          <p:cNvPr id="8" name="Text 6"/>
          <p:cNvSpPr txBox="1"/>
          <p:nvPr/>
        </p:nvSpPr>
        <p:spPr>
          <a:xfrm>
            <a:off x="896112" y="2697480"/>
            <a:ext cx="1728216" cy="594360"/>
          </a:xfrm>
          <a:prstGeom prst="rect">
            <a:avLst/>
          </a:prstGeom>
          <a:noFill/>
          <a:ln/>
        </p:spPr>
        <p:txBody>
          <a:bodyPr wrap="square" lIns="0" tIns="0" rIns="0" bIns="0" rtlCol="0" anchor="t"/>
          <a:lstStyle/>
          <a:p>
            <a:pPr marL="0" indent="0">
              <a:buNone/>
            </a:pPr>
            <a:r>
              <a:rPr lang="en-US" sz="1700" b="1" dirty="0">
                <a:solidFill>
                  <a:schemeClr val="bg1"/>
                </a:solidFill>
              </a:rPr>
              <a:t>chroot</a:t>
            </a:r>
            <a:endParaRPr lang="en-US" sz="1700" dirty="0"/>
          </a:p>
        </p:txBody>
      </p:sp>
      <p:sp>
        <p:nvSpPr>
          <p:cNvPr id="9" name="Text 7"/>
          <p:cNvSpPr txBox="1"/>
          <p:nvPr/>
        </p:nvSpPr>
        <p:spPr>
          <a:xfrm>
            <a:off x="896112" y="3291840"/>
            <a:ext cx="1728216" cy="502920"/>
          </a:xfrm>
          <a:prstGeom prst="rect">
            <a:avLst/>
          </a:prstGeom>
          <a:noFill/>
          <a:ln/>
        </p:spPr>
        <p:txBody>
          <a:bodyPr wrap="square" lIns="0" tIns="0" rIns="0" bIns="0" rtlCol="0" anchor="t"/>
          <a:lstStyle/>
          <a:p>
            <a:pPr marL="0" indent="0">
              <a:buNone/>
            </a:pPr>
            <a:r>
              <a:rPr lang="en-US" sz="1300" b="1" dirty="0">
                <a:solidFill>
                  <a:schemeClr val="accent2"/>
                </a:solidFill>
              </a:rPr>
              <a:t>Early filesystem isolation</a:t>
            </a:r>
            <a:endParaRPr lang="en-US" sz="1300" dirty="0"/>
          </a:p>
        </p:txBody>
      </p:sp>
      <p:sp>
        <p:nvSpPr>
          <p:cNvPr id="10" name="Text 8"/>
          <p:cNvSpPr txBox="1"/>
          <p:nvPr/>
        </p:nvSpPr>
        <p:spPr>
          <a:xfrm>
            <a:off x="896112" y="3840480"/>
            <a:ext cx="1728216" cy="914400"/>
          </a:xfrm>
          <a:prstGeom prst="rect">
            <a:avLst/>
          </a:prstGeom>
          <a:noFill/>
          <a:ln/>
        </p:spPr>
        <p:txBody>
          <a:bodyPr wrap="square" lIns="0" tIns="0" rIns="0" bIns="0" rtlCol="0" anchor="t"/>
          <a:lstStyle/>
          <a:p>
            <a:pPr marL="0" indent="0">
              <a:buNone/>
            </a:pPr>
            <a:r>
              <a:rPr lang="en-US" sz="1300" dirty="0">
                <a:solidFill>
                  <a:schemeClr val="bg2"/>
                </a:solidFill>
              </a:rPr>
              <a:t>Gives a process its own root view of the filesystem.</a:t>
            </a:r>
            <a:endParaRPr lang="en-US" sz="1300" dirty="0"/>
          </a:p>
        </p:txBody>
      </p:sp>
      <p:sp>
        <p:nvSpPr>
          <p:cNvPr id="11" name="Text 9"/>
          <p:cNvSpPr txBox="1"/>
          <p:nvPr/>
        </p:nvSpPr>
        <p:spPr>
          <a:xfrm>
            <a:off x="2898648" y="1508760"/>
            <a:ext cx="2057400" cy="411480"/>
          </a:xfrm>
          <a:prstGeom prst="rect">
            <a:avLst/>
          </a:prstGeom>
          <a:noFill/>
          <a:ln/>
        </p:spPr>
        <p:txBody>
          <a:bodyPr wrap="square" lIns="0" tIns="0" rIns="0" bIns="0" rtlCol="0" anchor="t"/>
          <a:lstStyle/>
          <a:p>
            <a:pPr marL="0" indent="0" algn="ctr">
              <a:buNone/>
            </a:pPr>
            <a:r>
              <a:rPr lang="en-US" sz="2200" b="1" dirty="0">
                <a:solidFill>
                  <a:schemeClr val="accent1"/>
                </a:solidFill>
              </a:rPr>
              <a:t>2000</a:t>
            </a:r>
            <a:endParaRPr lang="en-US" sz="2200" dirty="0"/>
          </a:p>
        </p:txBody>
      </p:sp>
      <p:sp>
        <p:nvSpPr>
          <p:cNvPr id="12" name="Shape 10"/>
          <p:cNvSpPr/>
          <p:nvPr/>
        </p:nvSpPr>
        <p:spPr>
          <a:xfrm>
            <a:off x="3817620" y="2039112"/>
            <a:ext cx="219456" cy="219456"/>
          </a:xfrm>
          <a:prstGeom prst="ellipse">
            <a:avLst/>
          </a:prstGeom>
          <a:solidFill>
            <a:schemeClr val="accent1"/>
          </a:solidFill>
          <a:ln w="38100">
            <a:solidFill>
              <a:srgbClr val="0B1426"/>
            </a:solidFill>
            <a:prstDash val="solid"/>
          </a:ln>
        </p:spPr>
      </p:sp>
      <p:sp>
        <p:nvSpPr>
          <p:cNvPr id="13" name="Shape 11"/>
          <p:cNvSpPr/>
          <p:nvPr/>
        </p:nvSpPr>
        <p:spPr>
          <a:xfrm>
            <a:off x="2898648" y="2514600"/>
            <a:ext cx="2057400" cy="2331720"/>
          </a:xfrm>
          <a:prstGeom prst="roundRect">
            <a:avLst>
              <a:gd name="adj" fmla="val 4444"/>
            </a:avLst>
          </a:prstGeom>
          <a:solidFill>
            <a:schemeClr val="tx2"/>
          </a:solidFill>
          <a:ln w="12700">
            <a:solidFill>
              <a:schemeClr val="accent6"/>
            </a:solidFill>
            <a:prstDash val="solid"/>
          </a:ln>
        </p:spPr>
      </p:sp>
      <p:sp>
        <p:nvSpPr>
          <p:cNvPr id="14" name="Text 12"/>
          <p:cNvSpPr txBox="1"/>
          <p:nvPr/>
        </p:nvSpPr>
        <p:spPr>
          <a:xfrm>
            <a:off x="3063240" y="2697480"/>
            <a:ext cx="1728216" cy="594360"/>
          </a:xfrm>
          <a:prstGeom prst="rect">
            <a:avLst/>
          </a:prstGeom>
          <a:noFill/>
          <a:ln/>
        </p:spPr>
        <p:txBody>
          <a:bodyPr wrap="square" lIns="0" tIns="0" rIns="0" bIns="0" rtlCol="0" anchor="t"/>
          <a:lstStyle/>
          <a:p>
            <a:pPr marL="0" indent="0">
              <a:buNone/>
            </a:pPr>
            <a:r>
              <a:rPr lang="en-US" sz="1700" b="1" dirty="0">
                <a:solidFill>
                  <a:schemeClr val="bg1"/>
                </a:solidFill>
              </a:rPr>
              <a:t>FreeBSD Jails</a:t>
            </a:r>
            <a:endParaRPr lang="en-US" sz="1700" dirty="0"/>
          </a:p>
        </p:txBody>
      </p:sp>
      <p:sp>
        <p:nvSpPr>
          <p:cNvPr id="15" name="Text 13"/>
          <p:cNvSpPr txBox="1"/>
          <p:nvPr/>
        </p:nvSpPr>
        <p:spPr>
          <a:xfrm>
            <a:off x="3063240" y="3291840"/>
            <a:ext cx="1728216" cy="502920"/>
          </a:xfrm>
          <a:prstGeom prst="rect">
            <a:avLst/>
          </a:prstGeom>
          <a:noFill/>
          <a:ln/>
        </p:spPr>
        <p:txBody>
          <a:bodyPr wrap="square" lIns="0" tIns="0" rIns="0" bIns="0" rtlCol="0" anchor="t"/>
          <a:lstStyle/>
          <a:p>
            <a:pPr marL="0" indent="0">
              <a:buNone/>
            </a:pPr>
            <a:r>
              <a:rPr lang="en-US" sz="1300" b="1" dirty="0">
                <a:solidFill>
                  <a:schemeClr val="accent2"/>
                </a:solidFill>
              </a:rPr>
              <a:t>Stronger OS-level isolation</a:t>
            </a:r>
            <a:endParaRPr lang="en-US" sz="1300" dirty="0"/>
          </a:p>
        </p:txBody>
      </p:sp>
      <p:sp>
        <p:nvSpPr>
          <p:cNvPr id="16" name="Text 14"/>
          <p:cNvSpPr txBox="1"/>
          <p:nvPr/>
        </p:nvSpPr>
        <p:spPr>
          <a:xfrm>
            <a:off x="3063240" y="3840480"/>
            <a:ext cx="1728216" cy="914400"/>
          </a:xfrm>
          <a:prstGeom prst="rect">
            <a:avLst/>
          </a:prstGeom>
          <a:noFill/>
          <a:ln/>
        </p:spPr>
        <p:txBody>
          <a:bodyPr wrap="square" lIns="0" tIns="0" rIns="0" bIns="0" rtlCol="0" anchor="t"/>
          <a:lstStyle/>
          <a:p>
            <a:pPr marL="0" indent="0">
              <a:buNone/>
            </a:pPr>
            <a:r>
              <a:rPr lang="en-US" sz="1300" dirty="0">
                <a:solidFill>
                  <a:schemeClr val="bg2"/>
                </a:solidFill>
              </a:rPr>
              <a:t>Separate processes, network and users on BSD.</a:t>
            </a:r>
            <a:endParaRPr lang="en-US" sz="1300" dirty="0"/>
          </a:p>
        </p:txBody>
      </p:sp>
      <p:sp>
        <p:nvSpPr>
          <p:cNvPr id="17" name="Text 15"/>
          <p:cNvSpPr txBox="1"/>
          <p:nvPr/>
        </p:nvSpPr>
        <p:spPr>
          <a:xfrm>
            <a:off x="5065776" y="1508760"/>
            <a:ext cx="2057400" cy="411480"/>
          </a:xfrm>
          <a:prstGeom prst="rect">
            <a:avLst/>
          </a:prstGeom>
          <a:noFill/>
          <a:ln/>
        </p:spPr>
        <p:txBody>
          <a:bodyPr wrap="square" lIns="0" tIns="0" rIns="0" bIns="0" rtlCol="0" anchor="t"/>
          <a:lstStyle/>
          <a:p>
            <a:pPr marL="0" indent="0" algn="ctr">
              <a:buNone/>
            </a:pPr>
            <a:r>
              <a:rPr lang="en-US" sz="2200" b="1" dirty="0">
                <a:solidFill>
                  <a:schemeClr val="accent1"/>
                </a:solidFill>
              </a:rPr>
              <a:t>2000s</a:t>
            </a:r>
            <a:endParaRPr lang="en-US" sz="2200" dirty="0"/>
          </a:p>
        </p:txBody>
      </p:sp>
      <p:sp>
        <p:nvSpPr>
          <p:cNvPr id="18" name="Shape 16"/>
          <p:cNvSpPr/>
          <p:nvPr/>
        </p:nvSpPr>
        <p:spPr>
          <a:xfrm>
            <a:off x="5984748" y="2039112"/>
            <a:ext cx="219456" cy="219456"/>
          </a:xfrm>
          <a:prstGeom prst="ellipse">
            <a:avLst/>
          </a:prstGeom>
          <a:solidFill>
            <a:schemeClr val="accent1"/>
          </a:solidFill>
          <a:ln w="38100">
            <a:solidFill>
              <a:srgbClr val="0B1426"/>
            </a:solidFill>
            <a:prstDash val="solid"/>
          </a:ln>
        </p:spPr>
      </p:sp>
      <p:sp>
        <p:nvSpPr>
          <p:cNvPr id="19" name="Shape 17"/>
          <p:cNvSpPr/>
          <p:nvPr/>
        </p:nvSpPr>
        <p:spPr>
          <a:xfrm>
            <a:off x="5065776" y="2514600"/>
            <a:ext cx="2057400" cy="2331720"/>
          </a:xfrm>
          <a:prstGeom prst="roundRect">
            <a:avLst>
              <a:gd name="adj" fmla="val 4444"/>
            </a:avLst>
          </a:prstGeom>
          <a:solidFill>
            <a:schemeClr val="tx2"/>
          </a:solidFill>
          <a:ln w="12700">
            <a:solidFill>
              <a:schemeClr val="accent6"/>
            </a:solidFill>
            <a:prstDash val="solid"/>
          </a:ln>
        </p:spPr>
      </p:sp>
      <p:sp>
        <p:nvSpPr>
          <p:cNvPr id="20" name="Text 18"/>
          <p:cNvSpPr txBox="1"/>
          <p:nvPr/>
        </p:nvSpPr>
        <p:spPr>
          <a:xfrm>
            <a:off x="5230368" y="2697480"/>
            <a:ext cx="1728216" cy="594360"/>
          </a:xfrm>
          <a:prstGeom prst="rect">
            <a:avLst/>
          </a:prstGeom>
          <a:noFill/>
          <a:ln/>
        </p:spPr>
        <p:txBody>
          <a:bodyPr wrap="square" lIns="0" tIns="0" rIns="0" bIns="0" rtlCol="0" anchor="t"/>
          <a:lstStyle/>
          <a:p>
            <a:pPr marL="0" indent="0">
              <a:buNone/>
            </a:pPr>
            <a:r>
              <a:rPr lang="en-US" sz="1700" b="1" dirty="0">
                <a:solidFill>
                  <a:schemeClr val="bg1"/>
                </a:solidFill>
              </a:rPr>
              <a:t>Namespaces &amp; cgroups</a:t>
            </a:r>
            <a:endParaRPr lang="en-US" sz="1700" dirty="0"/>
          </a:p>
        </p:txBody>
      </p:sp>
      <p:sp>
        <p:nvSpPr>
          <p:cNvPr id="21" name="Text 19"/>
          <p:cNvSpPr txBox="1"/>
          <p:nvPr/>
        </p:nvSpPr>
        <p:spPr>
          <a:xfrm>
            <a:off x="5230368" y="3291840"/>
            <a:ext cx="1728216" cy="502920"/>
          </a:xfrm>
          <a:prstGeom prst="rect">
            <a:avLst/>
          </a:prstGeom>
          <a:noFill/>
          <a:ln/>
        </p:spPr>
        <p:txBody>
          <a:bodyPr wrap="square" lIns="0" tIns="0" rIns="0" bIns="0" rtlCol="0" anchor="t"/>
          <a:lstStyle/>
          <a:p>
            <a:pPr marL="0" indent="0">
              <a:buNone/>
            </a:pPr>
            <a:r>
              <a:rPr lang="en-US" sz="1300" b="1" dirty="0">
                <a:solidFill>
                  <a:schemeClr val="accent2"/>
                </a:solidFill>
              </a:rPr>
              <a:t>Core Linux mechanics</a:t>
            </a:r>
            <a:endParaRPr lang="en-US" sz="1300" dirty="0"/>
          </a:p>
        </p:txBody>
      </p:sp>
      <p:sp>
        <p:nvSpPr>
          <p:cNvPr id="22" name="Text 20"/>
          <p:cNvSpPr txBox="1"/>
          <p:nvPr/>
        </p:nvSpPr>
        <p:spPr>
          <a:xfrm>
            <a:off x="5230368" y="3840480"/>
            <a:ext cx="1728216" cy="914400"/>
          </a:xfrm>
          <a:prstGeom prst="rect">
            <a:avLst/>
          </a:prstGeom>
          <a:noFill/>
          <a:ln/>
        </p:spPr>
        <p:txBody>
          <a:bodyPr wrap="square" lIns="0" tIns="0" rIns="0" bIns="0" rtlCol="0" anchor="t"/>
          <a:lstStyle/>
          <a:p>
            <a:pPr marL="0" indent="0">
              <a:buNone/>
            </a:pPr>
            <a:r>
              <a:rPr lang="en-US" sz="1300" dirty="0">
                <a:solidFill>
                  <a:schemeClr val="bg2"/>
                </a:solidFill>
              </a:rPr>
              <a:t>Kernel features that isolate and limit resources.</a:t>
            </a:r>
            <a:endParaRPr lang="en-US" sz="1300" dirty="0"/>
          </a:p>
        </p:txBody>
      </p:sp>
      <p:sp>
        <p:nvSpPr>
          <p:cNvPr id="23" name="Text 21"/>
          <p:cNvSpPr txBox="1"/>
          <p:nvPr/>
        </p:nvSpPr>
        <p:spPr>
          <a:xfrm>
            <a:off x="7232904" y="1508760"/>
            <a:ext cx="2057400" cy="411480"/>
          </a:xfrm>
          <a:prstGeom prst="rect">
            <a:avLst/>
          </a:prstGeom>
          <a:noFill/>
          <a:ln/>
        </p:spPr>
        <p:txBody>
          <a:bodyPr wrap="square" lIns="0" tIns="0" rIns="0" bIns="0" rtlCol="0" anchor="t"/>
          <a:lstStyle/>
          <a:p>
            <a:pPr marL="0" indent="0" algn="ctr">
              <a:buNone/>
            </a:pPr>
            <a:r>
              <a:rPr lang="en-US" sz="2200" b="1" dirty="0">
                <a:solidFill>
                  <a:schemeClr val="accent1"/>
                </a:solidFill>
              </a:rPr>
              <a:t>2008</a:t>
            </a:r>
            <a:endParaRPr lang="en-US" sz="2200" dirty="0"/>
          </a:p>
        </p:txBody>
      </p:sp>
      <p:sp>
        <p:nvSpPr>
          <p:cNvPr id="24" name="Shape 22"/>
          <p:cNvSpPr/>
          <p:nvPr/>
        </p:nvSpPr>
        <p:spPr>
          <a:xfrm>
            <a:off x="8151876" y="2039112"/>
            <a:ext cx="219456" cy="219456"/>
          </a:xfrm>
          <a:prstGeom prst="ellipse">
            <a:avLst/>
          </a:prstGeom>
          <a:solidFill>
            <a:schemeClr val="accent1"/>
          </a:solidFill>
          <a:ln w="38100">
            <a:solidFill>
              <a:srgbClr val="0B1426"/>
            </a:solidFill>
            <a:prstDash val="solid"/>
          </a:ln>
        </p:spPr>
      </p:sp>
      <p:sp>
        <p:nvSpPr>
          <p:cNvPr id="25" name="Shape 23"/>
          <p:cNvSpPr/>
          <p:nvPr/>
        </p:nvSpPr>
        <p:spPr>
          <a:xfrm>
            <a:off x="7232904" y="2514600"/>
            <a:ext cx="2057400" cy="2331720"/>
          </a:xfrm>
          <a:prstGeom prst="roundRect">
            <a:avLst>
              <a:gd name="adj" fmla="val 4444"/>
            </a:avLst>
          </a:prstGeom>
          <a:solidFill>
            <a:schemeClr val="tx2"/>
          </a:solidFill>
          <a:ln w="12700">
            <a:solidFill>
              <a:schemeClr val="accent6"/>
            </a:solidFill>
            <a:prstDash val="solid"/>
          </a:ln>
        </p:spPr>
      </p:sp>
      <p:sp>
        <p:nvSpPr>
          <p:cNvPr id="26" name="Text 24"/>
          <p:cNvSpPr txBox="1"/>
          <p:nvPr/>
        </p:nvSpPr>
        <p:spPr>
          <a:xfrm>
            <a:off x="7397496" y="2697480"/>
            <a:ext cx="1728216" cy="594360"/>
          </a:xfrm>
          <a:prstGeom prst="rect">
            <a:avLst/>
          </a:prstGeom>
          <a:noFill/>
          <a:ln/>
        </p:spPr>
        <p:txBody>
          <a:bodyPr wrap="square" lIns="0" tIns="0" rIns="0" bIns="0" rtlCol="0" anchor="t"/>
          <a:lstStyle/>
          <a:p>
            <a:pPr marL="0" indent="0">
              <a:buNone/>
            </a:pPr>
            <a:r>
              <a:rPr lang="en-US" sz="1700" b="1" dirty="0">
                <a:solidFill>
                  <a:schemeClr val="bg1"/>
                </a:solidFill>
              </a:rPr>
              <a:t>LXC</a:t>
            </a:r>
            <a:endParaRPr lang="en-US" sz="1700" dirty="0"/>
          </a:p>
        </p:txBody>
      </p:sp>
      <p:sp>
        <p:nvSpPr>
          <p:cNvPr id="27" name="Text 25"/>
          <p:cNvSpPr txBox="1"/>
          <p:nvPr/>
        </p:nvSpPr>
        <p:spPr>
          <a:xfrm>
            <a:off x="7397496" y="3291840"/>
            <a:ext cx="1728216" cy="502920"/>
          </a:xfrm>
          <a:prstGeom prst="rect">
            <a:avLst/>
          </a:prstGeom>
          <a:noFill/>
          <a:ln/>
        </p:spPr>
        <p:txBody>
          <a:bodyPr wrap="square" lIns="0" tIns="0" rIns="0" bIns="0" rtlCol="0" anchor="t"/>
          <a:lstStyle/>
          <a:p>
            <a:pPr marL="0" indent="0">
              <a:buNone/>
            </a:pPr>
            <a:r>
              <a:rPr lang="en-US" sz="1300" b="1" dirty="0">
                <a:solidFill>
                  <a:schemeClr val="accent2"/>
                </a:solidFill>
              </a:rPr>
              <a:t>Practical Linux containers</a:t>
            </a:r>
            <a:endParaRPr lang="en-US" sz="1300" dirty="0"/>
          </a:p>
        </p:txBody>
      </p:sp>
      <p:sp>
        <p:nvSpPr>
          <p:cNvPr id="28" name="Text 26"/>
          <p:cNvSpPr txBox="1"/>
          <p:nvPr/>
        </p:nvSpPr>
        <p:spPr>
          <a:xfrm>
            <a:off x="7397496" y="3840480"/>
            <a:ext cx="1728216" cy="914400"/>
          </a:xfrm>
          <a:prstGeom prst="rect">
            <a:avLst/>
          </a:prstGeom>
          <a:noFill/>
          <a:ln/>
        </p:spPr>
        <p:txBody>
          <a:bodyPr wrap="square" lIns="0" tIns="0" rIns="0" bIns="0" rtlCol="0" anchor="t"/>
          <a:lstStyle/>
          <a:p>
            <a:pPr marL="0" indent="0">
              <a:buNone/>
            </a:pPr>
            <a:r>
              <a:rPr lang="en-US" sz="1300" dirty="0">
                <a:solidFill>
                  <a:schemeClr val="bg2"/>
                </a:solidFill>
              </a:rPr>
              <a:t>First user-friendly full-system containers.</a:t>
            </a:r>
            <a:endParaRPr lang="en-US" sz="1300" dirty="0"/>
          </a:p>
        </p:txBody>
      </p:sp>
      <p:sp>
        <p:nvSpPr>
          <p:cNvPr id="29" name="Text 27"/>
          <p:cNvSpPr txBox="1"/>
          <p:nvPr/>
        </p:nvSpPr>
        <p:spPr>
          <a:xfrm>
            <a:off x="9400032" y="1508760"/>
            <a:ext cx="2057400" cy="411480"/>
          </a:xfrm>
          <a:prstGeom prst="rect">
            <a:avLst/>
          </a:prstGeom>
          <a:noFill/>
          <a:ln/>
        </p:spPr>
        <p:txBody>
          <a:bodyPr wrap="square" lIns="0" tIns="0" rIns="0" bIns="0" rtlCol="0" anchor="t"/>
          <a:lstStyle/>
          <a:p>
            <a:pPr marL="0" indent="0" algn="ctr">
              <a:buNone/>
            </a:pPr>
            <a:r>
              <a:rPr lang="en-US" sz="2200" b="1" dirty="0">
                <a:solidFill>
                  <a:schemeClr val="accent2"/>
                </a:solidFill>
              </a:rPr>
              <a:t>2013</a:t>
            </a:r>
            <a:endParaRPr lang="en-US" sz="2200" dirty="0"/>
          </a:p>
        </p:txBody>
      </p:sp>
      <p:sp>
        <p:nvSpPr>
          <p:cNvPr id="30" name="Shape 28"/>
          <p:cNvSpPr/>
          <p:nvPr/>
        </p:nvSpPr>
        <p:spPr>
          <a:xfrm>
            <a:off x="10319004" y="2039112"/>
            <a:ext cx="219456" cy="219456"/>
          </a:xfrm>
          <a:prstGeom prst="ellipse">
            <a:avLst/>
          </a:prstGeom>
          <a:solidFill>
            <a:schemeClr val="accent2"/>
          </a:solidFill>
          <a:ln w="38100">
            <a:solidFill>
              <a:srgbClr val="0B1426"/>
            </a:solidFill>
            <a:prstDash val="solid"/>
          </a:ln>
        </p:spPr>
      </p:sp>
      <p:sp>
        <p:nvSpPr>
          <p:cNvPr id="31" name="Shape 29"/>
          <p:cNvSpPr/>
          <p:nvPr/>
        </p:nvSpPr>
        <p:spPr>
          <a:xfrm>
            <a:off x="9400032" y="2514600"/>
            <a:ext cx="2057400" cy="2331720"/>
          </a:xfrm>
          <a:prstGeom prst="roundRect">
            <a:avLst>
              <a:gd name="adj" fmla="val 4444"/>
            </a:avLst>
          </a:prstGeom>
          <a:solidFill>
            <a:srgbClr val="0F2E33"/>
          </a:solidFill>
          <a:ln w="12700">
            <a:solidFill>
              <a:schemeClr val="accent2"/>
            </a:solidFill>
            <a:prstDash val="solid"/>
          </a:ln>
        </p:spPr>
      </p:sp>
      <p:sp>
        <p:nvSpPr>
          <p:cNvPr id="32" name="Text 30"/>
          <p:cNvSpPr txBox="1"/>
          <p:nvPr/>
        </p:nvSpPr>
        <p:spPr>
          <a:xfrm>
            <a:off x="9564624" y="2697480"/>
            <a:ext cx="1728216" cy="594360"/>
          </a:xfrm>
          <a:prstGeom prst="rect">
            <a:avLst/>
          </a:prstGeom>
          <a:noFill/>
          <a:ln/>
        </p:spPr>
        <p:txBody>
          <a:bodyPr wrap="square" lIns="0" tIns="0" rIns="0" bIns="0" rtlCol="0" anchor="t"/>
          <a:lstStyle/>
          <a:p>
            <a:pPr marL="0" indent="0">
              <a:buNone/>
            </a:pPr>
            <a:r>
              <a:rPr lang="en-US" sz="1700" b="1" dirty="0">
                <a:solidFill>
                  <a:schemeClr val="bg1"/>
                </a:solidFill>
              </a:rPr>
              <a:t>Docker</a:t>
            </a:r>
            <a:endParaRPr lang="en-US" sz="1700" dirty="0"/>
          </a:p>
        </p:txBody>
      </p:sp>
      <p:sp>
        <p:nvSpPr>
          <p:cNvPr id="33" name="Text 31"/>
          <p:cNvSpPr txBox="1"/>
          <p:nvPr/>
        </p:nvSpPr>
        <p:spPr>
          <a:xfrm>
            <a:off x="9564624" y="3291840"/>
            <a:ext cx="1728216" cy="502920"/>
          </a:xfrm>
          <a:prstGeom prst="rect">
            <a:avLst/>
          </a:prstGeom>
          <a:noFill/>
          <a:ln/>
        </p:spPr>
        <p:txBody>
          <a:bodyPr wrap="square" lIns="0" tIns="0" rIns="0" bIns="0" rtlCol="0" anchor="t"/>
          <a:lstStyle/>
          <a:p>
            <a:pPr marL="0" indent="0">
              <a:buNone/>
            </a:pPr>
            <a:r>
              <a:rPr lang="en-US" sz="1300" b="1" dirty="0">
                <a:solidFill>
                  <a:schemeClr val="accent2"/>
                </a:solidFill>
              </a:rPr>
              <a:t>Build, package, ship, run</a:t>
            </a:r>
            <a:endParaRPr lang="en-US" sz="1300" dirty="0"/>
          </a:p>
        </p:txBody>
      </p:sp>
      <p:sp>
        <p:nvSpPr>
          <p:cNvPr id="34" name="Text 32"/>
          <p:cNvSpPr txBox="1"/>
          <p:nvPr/>
        </p:nvSpPr>
        <p:spPr>
          <a:xfrm>
            <a:off x="9564624" y="3840480"/>
            <a:ext cx="1728216" cy="914400"/>
          </a:xfrm>
          <a:prstGeom prst="rect">
            <a:avLst/>
          </a:prstGeom>
          <a:noFill/>
          <a:ln/>
        </p:spPr>
        <p:txBody>
          <a:bodyPr wrap="square" lIns="0" tIns="0" rIns="0" bIns="0" rtlCol="0" anchor="t"/>
          <a:lstStyle/>
          <a:p>
            <a:pPr marL="0" indent="0">
              <a:buNone/>
            </a:pPr>
            <a:r>
              <a:rPr lang="en-US" sz="1300" dirty="0">
                <a:solidFill>
                  <a:schemeClr val="bg2"/>
                </a:solidFill>
              </a:rPr>
              <a:t>Turned container technology into a developer workflow.</a:t>
            </a:r>
            <a:endParaRPr lang="en-US" sz="1300" dirty="0"/>
          </a:p>
        </p:txBody>
      </p:sp>
      <p:sp>
        <p:nvSpPr>
          <p:cNvPr id="35" name="Shape 33"/>
          <p:cNvSpPr/>
          <p:nvPr/>
        </p:nvSpPr>
        <p:spPr>
          <a:xfrm>
            <a:off x="731520" y="5166360"/>
            <a:ext cx="10698480" cy="731520"/>
          </a:xfrm>
          <a:prstGeom prst="roundRect">
            <a:avLst>
              <a:gd name="adj" fmla="val 12500"/>
            </a:avLst>
          </a:prstGeom>
          <a:solidFill>
            <a:srgbClr val="2E2410"/>
          </a:solidFill>
          <a:ln w="12700">
            <a:solidFill>
              <a:schemeClr val="accent3"/>
            </a:solidFill>
            <a:prstDash val="solid"/>
          </a:ln>
        </p:spPr>
      </p:sp>
      <p:sp>
        <p:nvSpPr>
          <p:cNvPr id="36" name="Text 34"/>
          <p:cNvSpPr txBox="1"/>
          <p:nvPr/>
        </p:nvSpPr>
        <p:spPr>
          <a:xfrm>
            <a:off x="1005840" y="5166360"/>
            <a:ext cx="10149840" cy="731520"/>
          </a:xfrm>
          <a:prstGeom prst="rect">
            <a:avLst/>
          </a:prstGeom>
          <a:noFill/>
          <a:ln/>
        </p:spPr>
        <p:txBody>
          <a:bodyPr wrap="square" lIns="0" tIns="0" rIns="0" bIns="0" rtlCol="0" anchor="ctr"/>
          <a:lstStyle/>
          <a:p>
            <a:pPr marL="0" indent="0">
              <a:buNone/>
            </a:pPr>
            <a:r>
              <a:rPr lang="en-US" sz="1600" b="1" dirty="0">
                <a:solidFill>
                  <a:schemeClr val="accent3"/>
                </a:solidFill>
              </a:rPr>
              <a:t>Docker did not invent containers. Containers existed for decades; Docker made them easy to build, package, distribute and run.</a:t>
            </a:r>
            <a:endParaRPr lang="en-US" sz="1600" dirty="0"/>
          </a:p>
        </p:txBody>
      </p:sp>
      <p:sp>
        <p:nvSpPr>
          <p:cNvPr id="37"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863840" y="1280160"/>
            <a:ext cx="3840480" cy="3291840"/>
          </a:xfrm>
          <a:prstGeom prst="rect">
            <a:avLst/>
          </a:prstGeom>
          <a:noFill/>
          <a:ln/>
        </p:spPr>
        <p:txBody>
          <a:bodyPr wrap="square" lIns="0" tIns="0" rIns="0" bIns="0" rtlCol="0" anchor="ctr"/>
          <a:lstStyle/>
          <a:p>
            <a:pPr marL="0" indent="0" algn="r">
              <a:buNone/>
            </a:pPr>
            <a:r>
              <a:rPr lang="en-US" sz="22000" b="1" dirty="0">
                <a:solidFill>
                  <a:schemeClr val="accent5"/>
                </a:solidFill>
              </a:rPr>
              <a:t>03</a:t>
            </a:r>
            <a:endParaRPr lang="en-US" sz="22000" dirty="0"/>
          </a:p>
        </p:txBody>
      </p:sp>
      <p:sp>
        <p:nvSpPr>
          <p:cNvPr id="3" name="Text 0"/>
          <p:cNvSpPr>
            <a:spLocks noGrp="1"/>
          </p:cNvSpPr>
          <p:nvPr>
            <p:ph type="body" idx="100" hasCustomPrompt="1"/>
          </p:nvPr>
        </p:nvSpPr>
        <p:spPr>
          <a:xfrm>
            <a:off x="731520" y="2148840"/>
            <a:ext cx="7315200" cy="365760"/>
          </a:xfrm>
          <a:prstGeom prst="rect">
            <a:avLst/>
          </a:prstGeom>
          <a:noFill/>
          <a:ln/>
        </p:spPr>
        <p:txBody>
          <a:bodyPr wrap="square" lIns="0" tIns="0" rIns="0" bIns="0" rtlCol="0"/>
          <a:lstStyle/>
          <a:p>
            <a:pPr marL="0" indent="0">
              <a:buNone/>
            </a:pPr>
            <a:r>
              <a:rPr lang="en-US" sz="1400" b="1" kern="0" spc="400" dirty="0">
                <a:solidFill>
                  <a:schemeClr val="accent2"/>
                </a:solidFill>
              </a:rPr>
              <a:t>SECTION 03</a:t>
            </a:r>
            <a:endParaRPr lang="en-US" sz="1400" dirty="0"/>
          </a:p>
        </p:txBody>
      </p:sp>
      <p:sp>
        <p:nvSpPr>
          <p:cNvPr id="4" name="Text 0"/>
          <p:cNvSpPr>
            <a:spLocks noGrp="1"/>
          </p:cNvSpPr>
          <p:nvPr>
            <p:ph type="title" idx="101" hasCustomPrompt="1"/>
          </p:nvPr>
        </p:nvSpPr>
        <p:spPr>
          <a:xfrm>
            <a:off x="731520" y="2560320"/>
            <a:ext cx="6766560" cy="1371600"/>
          </a:xfrm>
          <a:prstGeom prst="rect">
            <a:avLst/>
          </a:prstGeom>
          <a:noFill/>
          <a:ln/>
        </p:spPr>
        <p:txBody>
          <a:bodyPr wrap="square" lIns="0" tIns="0" rIns="0" bIns="0" rtlCol="0" anchor="t"/>
          <a:lstStyle/>
          <a:p>
            <a:pPr marL="0" indent="0" algn="l">
              <a:buNone/>
            </a:pPr>
            <a:r>
              <a:rPr lang="en-US" sz="4000" b="1" dirty="0">
                <a:solidFill>
                  <a:schemeClr val="bg1"/>
                </a:solidFill>
              </a:rPr>
              <a:t>Containers and virtual machines</a:t>
            </a:r>
            <a:endParaRPr lang="en-US" sz="4000" dirty="0"/>
          </a:p>
        </p:txBody>
      </p:sp>
      <p:sp>
        <p:nvSpPr>
          <p:cNvPr id="5" name="Text 0"/>
          <p:cNvSpPr>
            <a:spLocks noGrp="1"/>
          </p:cNvSpPr>
          <p:nvPr>
            <p:ph type="body" idx="102" hasCustomPrompt="1"/>
          </p:nvPr>
        </p:nvSpPr>
        <p:spPr>
          <a:xfrm>
            <a:off x="731520" y="4069080"/>
            <a:ext cx="6583680" cy="1280160"/>
          </a:xfrm>
          <a:prstGeom prst="rect">
            <a:avLst/>
          </a:prstGeom>
          <a:noFill/>
          <a:ln/>
        </p:spPr>
        <p:txBody>
          <a:bodyPr wrap="square" lIns="0" tIns="0" rIns="0" bIns="0" rtlCol="0" anchor="t"/>
          <a:lstStyle/>
          <a:p>
            <a:pPr marL="0" indent="0" algn="l">
              <a:buNone/>
            </a:pPr>
            <a:r>
              <a:rPr lang="en-US" sz="2200" i="1" dirty="0">
                <a:solidFill>
                  <a:schemeClr val="bg2"/>
                </a:solidFill>
              </a:rPr>
              <a:t>What exactly is a container, and how is it different from a virtual machine?</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WHAT IS A CONTAINER?</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The simplest possible definition</a:t>
            </a:r>
            <a:endParaRPr lang="en-US" sz="3000" dirty="0"/>
          </a:p>
        </p:txBody>
      </p:sp>
      <p:sp>
        <p:nvSpPr>
          <p:cNvPr id="4" name="Text 2"/>
          <p:cNvSpPr txBox="1"/>
          <p:nvPr/>
        </p:nvSpPr>
        <p:spPr>
          <a:xfrm>
            <a:off x="731520" y="1600200"/>
            <a:ext cx="10607040" cy="1463040"/>
          </a:xfrm>
          <a:prstGeom prst="rect">
            <a:avLst/>
          </a:prstGeom>
          <a:noFill/>
          <a:ln/>
        </p:spPr>
        <p:txBody>
          <a:bodyPr wrap="square" lIns="0" tIns="0" rIns="0" bIns="0" rtlCol="0" anchor="t"/>
          <a:lstStyle/>
          <a:p>
            <a:pPr marL="0" indent="0">
              <a:buNone/>
            </a:pPr>
            <a:r>
              <a:rPr lang="en-US" sz="2800" i="1" dirty="0">
                <a:solidFill>
                  <a:schemeClr val="bg1"/>
                </a:solidFill>
                <a:latin typeface="Segoe UI Semibold" pitchFamily="34" charset="0"/>
                <a:ea typeface="Segoe UI Semibold" pitchFamily="34" charset="-122"/>
                <a:cs typeface="Segoe UI Semibold" pitchFamily="34" charset="-120"/>
              </a:rPr>
              <a:t>“A container is an isolated environment where an application and its dependencies run, while sharing the host OS kernel.”</a:t>
            </a:r>
            <a:endParaRPr lang="en-US" sz="2800" dirty="0"/>
          </a:p>
        </p:txBody>
      </p:sp>
      <p:sp>
        <p:nvSpPr>
          <p:cNvPr id="5" name="Text 3"/>
          <p:cNvSpPr txBox="1"/>
          <p:nvPr/>
        </p:nvSpPr>
        <p:spPr>
          <a:xfrm>
            <a:off x="731520" y="3429000"/>
            <a:ext cx="5486400" cy="274320"/>
          </a:xfrm>
          <a:prstGeom prst="rect">
            <a:avLst/>
          </a:prstGeom>
          <a:noFill/>
          <a:ln/>
        </p:spPr>
        <p:txBody>
          <a:bodyPr wrap="square" lIns="0" tIns="0" rIns="0" bIns="0" rtlCol="0" anchor="t"/>
          <a:lstStyle/>
          <a:p>
            <a:pPr marL="0" indent="0">
              <a:buNone/>
            </a:pPr>
            <a:r>
              <a:rPr lang="en-US" sz="1200" b="1" kern="0" spc="300" dirty="0">
                <a:solidFill>
                  <a:schemeClr val="bg2"/>
                </a:solidFill>
              </a:rPr>
              <a:t>WHAT MAKES UP A CONTAINER</a:t>
            </a:r>
            <a:endParaRPr lang="en-US" sz="1200" dirty="0"/>
          </a:p>
        </p:txBody>
      </p:sp>
      <p:sp>
        <p:nvSpPr>
          <p:cNvPr id="6" name="Shape 4"/>
          <p:cNvSpPr/>
          <p:nvPr/>
        </p:nvSpPr>
        <p:spPr>
          <a:xfrm>
            <a:off x="731520" y="3840480"/>
            <a:ext cx="1828800" cy="548640"/>
          </a:xfrm>
          <a:prstGeom prst="roundRect">
            <a:avLst>
              <a:gd name="adj" fmla="val 50000"/>
            </a:avLst>
          </a:prstGeom>
          <a:solidFill>
            <a:schemeClr val="accent5"/>
          </a:solidFill>
          <a:ln w="12700">
            <a:solidFill>
              <a:schemeClr val="accent5"/>
            </a:solidFill>
            <a:prstDash val="solid"/>
          </a:ln>
        </p:spPr>
      </p:sp>
      <p:sp>
        <p:nvSpPr>
          <p:cNvPr id="7" name="Text 5"/>
          <p:cNvSpPr txBox="1"/>
          <p:nvPr/>
        </p:nvSpPr>
        <p:spPr>
          <a:xfrm>
            <a:off x="731520" y="3840480"/>
            <a:ext cx="1828800" cy="548640"/>
          </a:xfrm>
          <a:prstGeom prst="rect">
            <a:avLst/>
          </a:prstGeom>
          <a:noFill/>
          <a:ln/>
        </p:spPr>
        <p:txBody>
          <a:bodyPr wrap="square" lIns="0" tIns="0" rIns="0" bIns="0" rtlCol="0" anchor="ctr"/>
          <a:lstStyle/>
          <a:p>
            <a:pPr marL="0" indent="0" algn="ctr">
              <a:buNone/>
            </a:pPr>
            <a:r>
              <a:rPr lang="en-US" sz="1500" b="1" dirty="0">
                <a:solidFill>
                  <a:schemeClr val="bg1"/>
                </a:solidFill>
              </a:rPr>
              <a:t>Application</a:t>
            </a:r>
            <a:endParaRPr lang="en-US" sz="1500" dirty="0"/>
          </a:p>
        </p:txBody>
      </p:sp>
      <p:sp>
        <p:nvSpPr>
          <p:cNvPr id="8" name="Text 6"/>
          <p:cNvSpPr txBox="1"/>
          <p:nvPr/>
        </p:nvSpPr>
        <p:spPr>
          <a:xfrm>
            <a:off x="2560320" y="3840480"/>
            <a:ext cx="320040" cy="548640"/>
          </a:xfrm>
          <a:prstGeom prst="rect">
            <a:avLst/>
          </a:prstGeom>
          <a:noFill/>
          <a:ln/>
        </p:spPr>
        <p:txBody>
          <a:bodyPr wrap="square" lIns="0" tIns="0" rIns="0" bIns="0" rtlCol="0" anchor="ctr"/>
          <a:lstStyle/>
          <a:p>
            <a:pPr marL="0" indent="0" algn="ctr">
              <a:buNone/>
            </a:pPr>
            <a:r>
              <a:rPr lang="en-US" sz="2200" b="1" dirty="0">
                <a:solidFill>
                  <a:schemeClr val="bg2"/>
                </a:solidFill>
              </a:rPr>
              <a:t>+</a:t>
            </a:r>
            <a:endParaRPr lang="en-US" sz="2200" dirty="0"/>
          </a:p>
        </p:txBody>
      </p:sp>
      <p:sp>
        <p:nvSpPr>
          <p:cNvPr id="9" name="Shape 7"/>
          <p:cNvSpPr/>
          <p:nvPr/>
        </p:nvSpPr>
        <p:spPr>
          <a:xfrm>
            <a:off x="2880360" y="3840480"/>
            <a:ext cx="1828800" cy="548640"/>
          </a:xfrm>
          <a:prstGeom prst="roundRect">
            <a:avLst>
              <a:gd name="adj" fmla="val 50000"/>
            </a:avLst>
          </a:prstGeom>
          <a:solidFill>
            <a:schemeClr val="accent5"/>
          </a:solidFill>
          <a:ln w="12700">
            <a:solidFill>
              <a:schemeClr val="accent5"/>
            </a:solidFill>
            <a:prstDash val="solid"/>
          </a:ln>
        </p:spPr>
      </p:sp>
      <p:sp>
        <p:nvSpPr>
          <p:cNvPr id="10" name="Text 8"/>
          <p:cNvSpPr txBox="1"/>
          <p:nvPr/>
        </p:nvSpPr>
        <p:spPr>
          <a:xfrm>
            <a:off x="2880360" y="3840480"/>
            <a:ext cx="1828800" cy="548640"/>
          </a:xfrm>
          <a:prstGeom prst="rect">
            <a:avLst/>
          </a:prstGeom>
          <a:noFill/>
          <a:ln/>
        </p:spPr>
        <p:txBody>
          <a:bodyPr wrap="square" lIns="0" tIns="0" rIns="0" bIns="0" rtlCol="0" anchor="ctr"/>
          <a:lstStyle/>
          <a:p>
            <a:pPr marL="0" indent="0" algn="ctr">
              <a:buNone/>
            </a:pPr>
            <a:r>
              <a:rPr lang="en-US" sz="1500" b="1" dirty="0">
                <a:solidFill>
                  <a:schemeClr val="bg1"/>
                </a:solidFill>
              </a:rPr>
              <a:t>Dependencies</a:t>
            </a:r>
            <a:endParaRPr lang="en-US" sz="1500" dirty="0"/>
          </a:p>
        </p:txBody>
      </p:sp>
      <p:sp>
        <p:nvSpPr>
          <p:cNvPr id="11" name="Text 9"/>
          <p:cNvSpPr txBox="1"/>
          <p:nvPr/>
        </p:nvSpPr>
        <p:spPr>
          <a:xfrm>
            <a:off x="4709160" y="3840480"/>
            <a:ext cx="320040" cy="548640"/>
          </a:xfrm>
          <a:prstGeom prst="rect">
            <a:avLst/>
          </a:prstGeom>
          <a:noFill/>
          <a:ln/>
        </p:spPr>
        <p:txBody>
          <a:bodyPr wrap="square" lIns="0" tIns="0" rIns="0" bIns="0" rtlCol="0" anchor="ctr"/>
          <a:lstStyle/>
          <a:p>
            <a:pPr marL="0" indent="0" algn="ctr">
              <a:buNone/>
            </a:pPr>
            <a:r>
              <a:rPr lang="en-US" sz="2200" b="1" dirty="0">
                <a:solidFill>
                  <a:schemeClr val="bg2"/>
                </a:solidFill>
              </a:rPr>
              <a:t>+</a:t>
            </a:r>
            <a:endParaRPr lang="en-US" sz="2200" dirty="0"/>
          </a:p>
        </p:txBody>
      </p:sp>
      <p:sp>
        <p:nvSpPr>
          <p:cNvPr id="12" name="Shape 10"/>
          <p:cNvSpPr/>
          <p:nvPr/>
        </p:nvSpPr>
        <p:spPr>
          <a:xfrm>
            <a:off x="5029200" y="3840480"/>
            <a:ext cx="1828800" cy="548640"/>
          </a:xfrm>
          <a:prstGeom prst="roundRect">
            <a:avLst>
              <a:gd name="adj" fmla="val 50000"/>
            </a:avLst>
          </a:prstGeom>
          <a:solidFill>
            <a:schemeClr val="accent5"/>
          </a:solidFill>
          <a:ln w="12700">
            <a:solidFill>
              <a:schemeClr val="accent5"/>
            </a:solidFill>
            <a:prstDash val="solid"/>
          </a:ln>
        </p:spPr>
      </p:sp>
      <p:sp>
        <p:nvSpPr>
          <p:cNvPr id="13" name="Text 11"/>
          <p:cNvSpPr txBox="1"/>
          <p:nvPr/>
        </p:nvSpPr>
        <p:spPr>
          <a:xfrm>
            <a:off x="5029200" y="3840480"/>
            <a:ext cx="1828800" cy="548640"/>
          </a:xfrm>
          <a:prstGeom prst="rect">
            <a:avLst/>
          </a:prstGeom>
          <a:noFill/>
          <a:ln/>
        </p:spPr>
        <p:txBody>
          <a:bodyPr wrap="square" lIns="0" tIns="0" rIns="0" bIns="0" rtlCol="0" anchor="ctr"/>
          <a:lstStyle/>
          <a:p>
            <a:pPr marL="0" indent="0" algn="ctr">
              <a:buNone/>
            </a:pPr>
            <a:r>
              <a:rPr lang="en-US" sz="1500" b="1" dirty="0">
                <a:solidFill>
                  <a:schemeClr val="bg1"/>
                </a:solidFill>
              </a:rPr>
              <a:t>Libraries</a:t>
            </a:r>
            <a:endParaRPr lang="en-US" sz="1500" dirty="0"/>
          </a:p>
        </p:txBody>
      </p:sp>
      <p:sp>
        <p:nvSpPr>
          <p:cNvPr id="14" name="Text 12"/>
          <p:cNvSpPr txBox="1"/>
          <p:nvPr/>
        </p:nvSpPr>
        <p:spPr>
          <a:xfrm>
            <a:off x="6858000" y="3840480"/>
            <a:ext cx="320040" cy="548640"/>
          </a:xfrm>
          <a:prstGeom prst="rect">
            <a:avLst/>
          </a:prstGeom>
          <a:noFill/>
          <a:ln/>
        </p:spPr>
        <p:txBody>
          <a:bodyPr wrap="square" lIns="0" tIns="0" rIns="0" bIns="0" rtlCol="0" anchor="ctr"/>
          <a:lstStyle/>
          <a:p>
            <a:pPr marL="0" indent="0" algn="ctr">
              <a:buNone/>
            </a:pPr>
            <a:r>
              <a:rPr lang="en-US" sz="2200" b="1" dirty="0">
                <a:solidFill>
                  <a:schemeClr val="bg2"/>
                </a:solidFill>
              </a:rPr>
              <a:t>+</a:t>
            </a:r>
            <a:endParaRPr lang="en-US" sz="2200" dirty="0"/>
          </a:p>
        </p:txBody>
      </p:sp>
      <p:sp>
        <p:nvSpPr>
          <p:cNvPr id="15" name="Shape 13"/>
          <p:cNvSpPr/>
          <p:nvPr/>
        </p:nvSpPr>
        <p:spPr>
          <a:xfrm>
            <a:off x="7178040" y="3840480"/>
            <a:ext cx="1828800" cy="548640"/>
          </a:xfrm>
          <a:prstGeom prst="roundRect">
            <a:avLst>
              <a:gd name="adj" fmla="val 50000"/>
            </a:avLst>
          </a:prstGeom>
          <a:solidFill>
            <a:schemeClr val="accent5"/>
          </a:solidFill>
          <a:ln w="12700">
            <a:solidFill>
              <a:schemeClr val="accent5"/>
            </a:solidFill>
            <a:prstDash val="solid"/>
          </a:ln>
        </p:spPr>
      </p:sp>
      <p:sp>
        <p:nvSpPr>
          <p:cNvPr id="16" name="Text 14"/>
          <p:cNvSpPr txBox="1"/>
          <p:nvPr/>
        </p:nvSpPr>
        <p:spPr>
          <a:xfrm>
            <a:off x="7178040" y="3840480"/>
            <a:ext cx="1828800" cy="548640"/>
          </a:xfrm>
          <a:prstGeom prst="rect">
            <a:avLst/>
          </a:prstGeom>
          <a:noFill/>
          <a:ln/>
        </p:spPr>
        <p:txBody>
          <a:bodyPr wrap="square" lIns="0" tIns="0" rIns="0" bIns="0" rtlCol="0" anchor="ctr"/>
          <a:lstStyle/>
          <a:p>
            <a:pPr marL="0" indent="0" algn="ctr">
              <a:buNone/>
            </a:pPr>
            <a:r>
              <a:rPr lang="en-US" sz="1500" b="1" dirty="0">
                <a:solidFill>
                  <a:schemeClr val="bg1"/>
                </a:solidFill>
              </a:rPr>
              <a:t>Configuration</a:t>
            </a:r>
            <a:endParaRPr lang="en-US" sz="1500" dirty="0"/>
          </a:p>
        </p:txBody>
      </p:sp>
      <p:sp>
        <p:nvSpPr>
          <p:cNvPr id="17" name="Text 15"/>
          <p:cNvSpPr txBox="1"/>
          <p:nvPr/>
        </p:nvSpPr>
        <p:spPr>
          <a:xfrm>
            <a:off x="9006840" y="3840480"/>
            <a:ext cx="320040" cy="548640"/>
          </a:xfrm>
          <a:prstGeom prst="rect">
            <a:avLst/>
          </a:prstGeom>
          <a:noFill/>
          <a:ln/>
        </p:spPr>
        <p:txBody>
          <a:bodyPr wrap="square" lIns="0" tIns="0" rIns="0" bIns="0" rtlCol="0" anchor="ctr"/>
          <a:lstStyle/>
          <a:p>
            <a:pPr marL="0" indent="0" algn="ctr">
              <a:buNone/>
            </a:pPr>
            <a:r>
              <a:rPr lang="en-US" sz="2200" b="1" dirty="0">
                <a:solidFill>
                  <a:schemeClr val="bg2"/>
                </a:solidFill>
              </a:rPr>
              <a:t>=</a:t>
            </a:r>
            <a:endParaRPr lang="en-US" sz="2200" dirty="0"/>
          </a:p>
        </p:txBody>
      </p:sp>
      <p:sp>
        <p:nvSpPr>
          <p:cNvPr id="18" name="Shape 16"/>
          <p:cNvSpPr/>
          <p:nvPr/>
        </p:nvSpPr>
        <p:spPr>
          <a:xfrm>
            <a:off x="9326880" y="3794760"/>
            <a:ext cx="2103120" cy="640080"/>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9326880" y="3794760"/>
            <a:ext cx="2103120" cy="640080"/>
          </a:xfrm>
          <a:prstGeom prst="rect">
            <a:avLst/>
          </a:prstGeom>
          <a:noFill/>
          <a:ln/>
        </p:spPr>
        <p:txBody>
          <a:bodyPr wrap="square" lIns="0" tIns="0" rIns="0" bIns="0" rtlCol="0" anchor="ctr"/>
          <a:lstStyle/>
          <a:p>
            <a:pPr marL="0" indent="0" algn="ctr">
              <a:buNone/>
            </a:pPr>
            <a:r>
              <a:rPr lang="en-US" sz="1700" b="1" dirty="0">
                <a:solidFill>
                  <a:schemeClr val="bg1"/>
                </a:solidFill>
              </a:rPr>
              <a:t>CONTAINER</a:t>
            </a:r>
            <a:endParaRPr lang="en-US" sz="1700" dirty="0"/>
          </a:p>
        </p:txBody>
      </p:sp>
      <p:sp>
        <p:nvSpPr>
          <p:cNvPr id="20" name="Text 18"/>
          <p:cNvSpPr txBox="1"/>
          <p:nvPr/>
        </p:nvSpPr>
        <p:spPr>
          <a:xfrm>
            <a:off x="731520" y="4892040"/>
            <a:ext cx="10241280" cy="822960"/>
          </a:xfrm>
          <a:prstGeom prst="rect">
            <a:avLst/>
          </a:prstGeom>
          <a:noFill/>
          <a:ln/>
        </p:spPr>
        <p:txBody>
          <a:bodyPr wrap="square" lIns="0" tIns="0" rIns="0" bIns="0" rtlCol="0" anchor="t"/>
          <a:lstStyle/>
          <a:p>
            <a:pPr marL="0" indent="0">
              <a:buNone/>
            </a:pPr>
            <a:r>
              <a:rPr lang="en-US" sz="1700" dirty="0">
                <a:solidFill>
                  <a:schemeClr val="bg2"/>
                </a:solidFill>
              </a:rPr>
              <a:t>In plain terms: everything the app needs to run, bundled together in its own bubble, but still using the host machine’s kernel underneath.</a:t>
            </a:r>
            <a:endParaRPr lang="en-US" sz="17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WHAT IS A CONTAINER?</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Containers share the host kernel</a:t>
            </a:r>
            <a:endParaRPr lang="en-US" sz="3000" dirty="0"/>
          </a:p>
        </p:txBody>
      </p:sp>
      <p:sp>
        <p:nvSpPr>
          <p:cNvPr id="4" name="Shape 2"/>
          <p:cNvSpPr/>
          <p:nvPr/>
        </p:nvSpPr>
        <p:spPr>
          <a:xfrm>
            <a:off x="731520" y="1645920"/>
            <a:ext cx="3429000" cy="1463040"/>
          </a:xfrm>
          <a:prstGeom prst="roundRect">
            <a:avLst>
              <a:gd name="adj" fmla="val 6250"/>
            </a:avLst>
          </a:prstGeom>
          <a:solidFill>
            <a:schemeClr val="tx2"/>
          </a:solidFill>
          <a:ln w="19050">
            <a:solidFill>
              <a:schemeClr val="accent2"/>
            </a:solidFill>
            <a:prstDash val="solid"/>
          </a:ln>
        </p:spPr>
      </p:sp>
      <p:sp>
        <p:nvSpPr>
          <p:cNvPr id="5" name="Text 3"/>
          <p:cNvSpPr txBox="1"/>
          <p:nvPr/>
        </p:nvSpPr>
        <p:spPr>
          <a:xfrm>
            <a:off x="960120" y="1783080"/>
            <a:ext cx="2926080" cy="365760"/>
          </a:xfrm>
          <a:prstGeom prst="rect">
            <a:avLst/>
          </a:prstGeom>
          <a:noFill/>
          <a:ln/>
        </p:spPr>
        <p:txBody>
          <a:bodyPr wrap="square" lIns="0" tIns="0" rIns="0" bIns="0" rtlCol="0" anchor="t"/>
          <a:lstStyle/>
          <a:p>
            <a:pPr marL="0" indent="0">
              <a:buNone/>
            </a:pPr>
            <a:r>
              <a:rPr lang="en-US" sz="1700" b="1" dirty="0">
                <a:solidFill>
                  <a:schemeClr val="accent2"/>
                </a:solidFill>
              </a:rPr>
              <a:t>Container A</a:t>
            </a:r>
            <a:endParaRPr lang="en-US" sz="1700" dirty="0"/>
          </a:p>
        </p:txBody>
      </p:sp>
      <p:sp>
        <p:nvSpPr>
          <p:cNvPr id="6" name="Text 4"/>
          <p:cNvSpPr txBox="1"/>
          <p:nvPr/>
        </p:nvSpPr>
        <p:spPr>
          <a:xfrm>
            <a:off x="960120" y="2194560"/>
            <a:ext cx="3017520" cy="320040"/>
          </a:xfrm>
          <a:prstGeom prst="rect">
            <a:avLst/>
          </a:prstGeom>
          <a:noFill/>
          <a:ln/>
        </p:spPr>
        <p:txBody>
          <a:bodyPr wrap="square" lIns="0" tIns="0" rIns="0" bIns="0" rtlCol="0" anchor="t"/>
          <a:lstStyle/>
          <a:p>
            <a:pPr marL="0" indent="0">
              <a:buNone/>
            </a:pPr>
            <a:r>
              <a:rPr lang="en-US" sz="1400" dirty="0">
                <a:solidFill>
                  <a:schemeClr val="bg1"/>
                </a:solidFill>
              </a:rPr>
              <a:t>Application + its libraries</a:t>
            </a:r>
            <a:endParaRPr lang="en-US" sz="1400" dirty="0"/>
          </a:p>
        </p:txBody>
      </p:sp>
      <p:sp>
        <p:nvSpPr>
          <p:cNvPr id="7" name="Text 5"/>
          <p:cNvSpPr txBox="1"/>
          <p:nvPr/>
        </p:nvSpPr>
        <p:spPr>
          <a:xfrm>
            <a:off x="960120" y="2560320"/>
            <a:ext cx="3017520" cy="320040"/>
          </a:xfrm>
          <a:prstGeom prst="rect">
            <a:avLst/>
          </a:prstGeom>
          <a:noFill/>
          <a:ln/>
        </p:spPr>
        <p:txBody>
          <a:bodyPr wrap="square" lIns="0" tIns="0" rIns="0" bIns="0" rtlCol="0" anchor="t"/>
          <a:lstStyle/>
          <a:p>
            <a:pPr marL="0" indent="0">
              <a:buNone/>
            </a:pPr>
            <a:r>
              <a:rPr lang="en-US" sz="1300" dirty="0">
                <a:solidFill>
                  <a:schemeClr val="bg2"/>
                </a:solidFill>
              </a:rPr>
              <a:t>an isolated process</a:t>
            </a:r>
            <a:endParaRPr lang="en-US" sz="1300" dirty="0"/>
          </a:p>
        </p:txBody>
      </p:sp>
      <p:sp>
        <p:nvSpPr>
          <p:cNvPr id="8" name="Shape 6"/>
          <p:cNvSpPr/>
          <p:nvPr/>
        </p:nvSpPr>
        <p:spPr>
          <a:xfrm>
            <a:off x="2441448" y="3154680"/>
            <a:ext cx="0" cy="457200"/>
          </a:xfrm>
          <a:prstGeom prst="line">
            <a:avLst/>
          </a:prstGeom>
          <a:noFill/>
          <a:ln w="22225">
            <a:solidFill>
              <a:schemeClr val="accent2"/>
            </a:solidFill>
            <a:prstDash val="solid"/>
            <a:tailEnd type="triangle"/>
          </a:ln>
        </p:spPr>
      </p:sp>
      <p:sp>
        <p:nvSpPr>
          <p:cNvPr id="9" name="Shape 7"/>
          <p:cNvSpPr/>
          <p:nvPr/>
        </p:nvSpPr>
        <p:spPr>
          <a:xfrm>
            <a:off x="4361688" y="1645920"/>
            <a:ext cx="3429000" cy="1463040"/>
          </a:xfrm>
          <a:prstGeom prst="roundRect">
            <a:avLst>
              <a:gd name="adj" fmla="val 6250"/>
            </a:avLst>
          </a:prstGeom>
          <a:solidFill>
            <a:schemeClr val="tx2"/>
          </a:solidFill>
          <a:ln w="19050">
            <a:solidFill>
              <a:schemeClr val="accent2"/>
            </a:solidFill>
            <a:prstDash val="solid"/>
          </a:ln>
        </p:spPr>
      </p:sp>
      <p:sp>
        <p:nvSpPr>
          <p:cNvPr id="10" name="Text 8"/>
          <p:cNvSpPr txBox="1"/>
          <p:nvPr/>
        </p:nvSpPr>
        <p:spPr>
          <a:xfrm>
            <a:off x="4590288" y="1783080"/>
            <a:ext cx="2926080" cy="365760"/>
          </a:xfrm>
          <a:prstGeom prst="rect">
            <a:avLst/>
          </a:prstGeom>
          <a:noFill/>
          <a:ln/>
        </p:spPr>
        <p:txBody>
          <a:bodyPr wrap="square" lIns="0" tIns="0" rIns="0" bIns="0" rtlCol="0" anchor="t"/>
          <a:lstStyle/>
          <a:p>
            <a:pPr marL="0" indent="0">
              <a:buNone/>
            </a:pPr>
            <a:r>
              <a:rPr lang="en-US" sz="1700" b="1" dirty="0">
                <a:solidFill>
                  <a:schemeClr val="accent2"/>
                </a:solidFill>
              </a:rPr>
              <a:t>Container B</a:t>
            </a:r>
            <a:endParaRPr lang="en-US" sz="1700" dirty="0"/>
          </a:p>
        </p:txBody>
      </p:sp>
      <p:sp>
        <p:nvSpPr>
          <p:cNvPr id="11" name="Text 9"/>
          <p:cNvSpPr txBox="1"/>
          <p:nvPr/>
        </p:nvSpPr>
        <p:spPr>
          <a:xfrm>
            <a:off x="4590288" y="2194560"/>
            <a:ext cx="3017520" cy="320040"/>
          </a:xfrm>
          <a:prstGeom prst="rect">
            <a:avLst/>
          </a:prstGeom>
          <a:noFill/>
          <a:ln/>
        </p:spPr>
        <p:txBody>
          <a:bodyPr wrap="square" lIns="0" tIns="0" rIns="0" bIns="0" rtlCol="0" anchor="t"/>
          <a:lstStyle/>
          <a:p>
            <a:pPr marL="0" indent="0">
              <a:buNone/>
            </a:pPr>
            <a:r>
              <a:rPr lang="en-US" sz="1400" dirty="0">
                <a:solidFill>
                  <a:schemeClr val="bg1"/>
                </a:solidFill>
              </a:rPr>
              <a:t>Application + its libraries</a:t>
            </a:r>
            <a:endParaRPr lang="en-US" sz="1400" dirty="0"/>
          </a:p>
        </p:txBody>
      </p:sp>
      <p:sp>
        <p:nvSpPr>
          <p:cNvPr id="12" name="Text 10"/>
          <p:cNvSpPr txBox="1"/>
          <p:nvPr/>
        </p:nvSpPr>
        <p:spPr>
          <a:xfrm>
            <a:off x="4590288" y="2560320"/>
            <a:ext cx="3017520" cy="320040"/>
          </a:xfrm>
          <a:prstGeom prst="rect">
            <a:avLst/>
          </a:prstGeom>
          <a:noFill/>
          <a:ln/>
        </p:spPr>
        <p:txBody>
          <a:bodyPr wrap="square" lIns="0" tIns="0" rIns="0" bIns="0" rtlCol="0" anchor="t"/>
          <a:lstStyle/>
          <a:p>
            <a:pPr marL="0" indent="0">
              <a:buNone/>
            </a:pPr>
            <a:r>
              <a:rPr lang="en-US" sz="1300" dirty="0">
                <a:solidFill>
                  <a:schemeClr val="bg2"/>
                </a:solidFill>
              </a:rPr>
              <a:t>an isolated process</a:t>
            </a:r>
            <a:endParaRPr lang="en-US" sz="1300" dirty="0"/>
          </a:p>
        </p:txBody>
      </p:sp>
      <p:sp>
        <p:nvSpPr>
          <p:cNvPr id="13" name="Shape 11"/>
          <p:cNvSpPr/>
          <p:nvPr/>
        </p:nvSpPr>
        <p:spPr>
          <a:xfrm>
            <a:off x="6071616" y="3154680"/>
            <a:ext cx="0" cy="457200"/>
          </a:xfrm>
          <a:prstGeom prst="line">
            <a:avLst/>
          </a:prstGeom>
          <a:noFill/>
          <a:ln w="22225">
            <a:solidFill>
              <a:schemeClr val="accent2"/>
            </a:solidFill>
            <a:prstDash val="solid"/>
            <a:tailEnd type="triangle"/>
          </a:ln>
        </p:spPr>
      </p:sp>
      <p:sp>
        <p:nvSpPr>
          <p:cNvPr id="14" name="Shape 12"/>
          <p:cNvSpPr/>
          <p:nvPr/>
        </p:nvSpPr>
        <p:spPr>
          <a:xfrm>
            <a:off x="7991856" y="1645920"/>
            <a:ext cx="3429000" cy="1463040"/>
          </a:xfrm>
          <a:prstGeom prst="roundRect">
            <a:avLst>
              <a:gd name="adj" fmla="val 6250"/>
            </a:avLst>
          </a:prstGeom>
          <a:solidFill>
            <a:schemeClr val="tx2"/>
          </a:solidFill>
          <a:ln w="19050">
            <a:solidFill>
              <a:schemeClr val="accent2"/>
            </a:solidFill>
            <a:prstDash val="solid"/>
          </a:ln>
        </p:spPr>
      </p:sp>
      <p:sp>
        <p:nvSpPr>
          <p:cNvPr id="15" name="Text 13"/>
          <p:cNvSpPr txBox="1"/>
          <p:nvPr/>
        </p:nvSpPr>
        <p:spPr>
          <a:xfrm>
            <a:off x="8220456" y="1783080"/>
            <a:ext cx="2926080" cy="365760"/>
          </a:xfrm>
          <a:prstGeom prst="rect">
            <a:avLst/>
          </a:prstGeom>
          <a:noFill/>
          <a:ln/>
        </p:spPr>
        <p:txBody>
          <a:bodyPr wrap="square" lIns="0" tIns="0" rIns="0" bIns="0" rtlCol="0" anchor="t"/>
          <a:lstStyle/>
          <a:p>
            <a:pPr marL="0" indent="0">
              <a:buNone/>
            </a:pPr>
            <a:r>
              <a:rPr lang="en-US" sz="1700" b="1" dirty="0">
                <a:solidFill>
                  <a:schemeClr val="accent2"/>
                </a:solidFill>
              </a:rPr>
              <a:t>Container C</a:t>
            </a:r>
            <a:endParaRPr lang="en-US" sz="1700" dirty="0"/>
          </a:p>
        </p:txBody>
      </p:sp>
      <p:sp>
        <p:nvSpPr>
          <p:cNvPr id="16" name="Text 14"/>
          <p:cNvSpPr txBox="1"/>
          <p:nvPr/>
        </p:nvSpPr>
        <p:spPr>
          <a:xfrm>
            <a:off x="8220456" y="2194560"/>
            <a:ext cx="3017520" cy="320040"/>
          </a:xfrm>
          <a:prstGeom prst="rect">
            <a:avLst/>
          </a:prstGeom>
          <a:noFill/>
          <a:ln/>
        </p:spPr>
        <p:txBody>
          <a:bodyPr wrap="square" lIns="0" tIns="0" rIns="0" bIns="0" rtlCol="0" anchor="t"/>
          <a:lstStyle/>
          <a:p>
            <a:pPr marL="0" indent="0">
              <a:buNone/>
            </a:pPr>
            <a:r>
              <a:rPr lang="en-US" sz="1400" dirty="0">
                <a:solidFill>
                  <a:schemeClr val="bg1"/>
                </a:solidFill>
              </a:rPr>
              <a:t>Application + its libraries</a:t>
            </a:r>
            <a:endParaRPr lang="en-US" sz="1400" dirty="0"/>
          </a:p>
        </p:txBody>
      </p:sp>
      <p:sp>
        <p:nvSpPr>
          <p:cNvPr id="17" name="Text 15"/>
          <p:cNvSpPr txBox="1"/>
          <p:nvPr/>
        </p:nvSpPr>
        <p:spPr>
          <a:xfrm>
            <a:off x="8220456" y="2560320"/>
            <a:ext cx="3017520" cy="320040"/>
          </a:xfrm>
          <a:prstGeom prst="rect">
            <a:avLst/>
          </a:prstGeom>
          <a:noFill/>
          <a:ln/>
        </p:spPr>
        <p:txBody>
          <a:bodyPr wrap="square" lIns="0" tIns="0" rIns="0" bIns="0" rtlCol="0" anchor="t"/>
          <a:lstStyle/>
          <a:p>
            <a:pPr marL="0" indent="0">
              <a:buNone/>
            </a:pPr>
            <a:r>
              <a:rPr lang="en-US" sz="1300" dirty="0">
                <a:solidFill>
                  <a:schemeClr val="bg2"/>
                </a:solidFill>
              </a:rPr>
              <a:t>an isolated process</a:t>
            </a:r>
            <a:endParaRPr lang="en-US" sz="1300" dirty="0"/>
          </a:p>
        </p:txBody>
      </p:sp>
      <p:sp>
        <p:nvSpPr>
          <p:cNvPr id="18" name="Shape 16"/>
          <p:cNvSpPr/>
          <p:nvPr/>
        </p:nvSpPr>
        <p:spPr>
          <a:xfrm>
            <a:off x="9701784" y="3154680"/>
            <a:ext cx="0" cy="457200"/>
          </a:xfrm>
          <a:prstGeom prst="line">
            <a:avLst/>
          </a:prstGeom>
          <a:noFill/>
          <a:ln w="22225">
            <a:solidFill>
              <a:schemeClr val="accent2"/>
            </a:solidFill>
            <a:prstDash val="solid"/>
            <a:tailEnd type="triangle"/>
          </a:ln>
        </p:spPr>
      </p:sp>
      <p:sp>
        <p:nvSpPr>
          <p:cNvPr id="19" name="Shape 17"/>
          <p:cNvSpPr/>
          <p:nvPr/>
        </p:nvSpPr>
        <p:spPr>
          <a:xfrm>
            <a:off x="731520" y="3657600"/>
            <a:ext cx="10698480" cy="685800"/>
          </a:xfrm>
          <a:prstGeom prst="roundRect">
            <a:avLst>
              <a:gd name="adj" fmla="val 13333"/>
            </a:avLst>
          </a:prstGeom>
          <a:solidFill>
            <a:srgbClr val="16365C"/>
          </a:solidFill>
          <a:ln w="19050">
            <a:solidFill>
              <a:schemeClr val="accent1"/>
            </a:solidFill>
            <a:prstDash val="solid"/>
          </a:ln>
        </p:spPr>
      </p:sp>
      <p:sp>
        <p:nvSpPr>
          <p:cNvPr id="20" name="Text 18"/>
          <p:cNvSpPr txBox="1"/>
          <p:nvPr/>
        </p:nvSpPr>
        <p:spPr>
          <a:xfrm>
            <a:off x="731520" y="3657600"/>
            <a:ext cx="10698480" cy="685800"/>
          </a:xfrm>
          <a:prstGeom prst="rect">
            <a:avLst/>
          </a:prstGeom>
          <a:noFill/>
          <a:ln/>
        </p:spPr>
        <p:txBody>
          <a:bodyPr wrap="square" lIns="0" tIns="0" rIns="0" bIns="0" rtlCol="0" anchor="ctr"/>
          <a:lstStyle/>
          <a:p>
            <a:pPr marL="0" indent="0" algn="ctr">
              <a:buNone/>
            </a:pPr>
            <a:r>
              <a:rPr lang="en-US" sz="1700" b="1" kern="0" spc="200" dirty="0">
                <a:solidFill>
                  <a:schemeClr val="bg1"/>
                </a:solidFill>
              </a:rPr>
              <a:t>HOST OPERATING SYSTEM  ·  ONE SHARED KERNEL</a:t>
            </a:r>
            <a:endParaRPr lang="en-US" sz="1700" dirty="0"/>
          </a:p>
        </p:txBody>
      </p:sp>
      <p:sp>
        <p:nvSpPr>
          <p:cNvPr id="21" name="Shape 19"/>
          <p:cNvSpPr/>
          <p:nvPr/>
        </p:nvSpPr>
        <p:spPr>
          <a:xfrm>
            <a:off x="731520" y="4480560"/>
            <a:ext cx="10698480" cy="502920"/>
          </a:xfrm>
          <a:prstGeom prst="roundRect">
            <a:avLst>
              <a:gd name="adj" fmla="val 18182"/>
            </a:avLst>
          </a:prstGeom>
          <a:solidFill>
            <a:srgbClr val="2B3346"/>
          </a:solidFill>
          <a:ln w="12700">
            <a:solidFill>
              <a:srgbClr val="2B3346"/>
            </a:solidFill>
            <a:prstDash val="solid"/>
          </a:ln>
        </p:spPr>
      </p:sp>
      <p:sp>
        <p:nvSpPr>
          <p:cNvPr id="22" name="Text 20"/>
          <p:cNvSpPr txBox="1"/>
          <p:nvPr/>
        </p:nvSpPr>
        <p:spPr>
          <a:xfrm>
            <a:off x="731520" y="4480560"/>
            <a:ext cx="10698480" cy="502920"/>
          </a:xfrm>
          <a:prstGeom prst="rect">
            <a:avLst/>
          </a:prstGeom>
          <a:noFill/>
          <a:ln/>
        </p:spPr>
        <p:txBody>
          <a:bodyPr wrap="square" lIns="0" tIns="0" rIns="0" bIns="0" rtlCol="0" anchor="ctr"/>
          <a:lstStyle/>
          <a:p>
            <a:pPr marL="0" indent="0" algn="ctr">
              <a:buNone/>
            </a:pPr>
            <a:r>
              <a:rPr lang="en-US" sz="1500" dirty="0">
                <a:solidFill>
                  <a:schemeClr val="bg2"/>
                </a:solidFill>
              </a:rPr>
              <a:t>Hardware</a:t>
            </a:r>
            <a:endParaRPr lang="en-US" sz="1500" dirty="0"/>
          </a:p>
        </p:txBody>
      </p:sp>
      <p:sp>
        <p:nvSpPr>
          <p:cNvPr id="23" name="Text 21"/>
          <p:cNvSpPr txBox="1"/>
          <p:nvPr/>
        </p:nvSpPr>
        <p:spPr>
          <a:xfrm>
            <a:off x="731520" y="5257800"/>
            <a:ext cx="10607040" cy="731520"/>
          </a:xfrm>
          <a:prstGeom prst="rect">
            <a:avLst/>
          </a:prstGeom>
          <a:noFill/>
          <a:ln/>
        </p:spPr>
        <p:txBody>
          <a:bodyPr wrap="square" lIns="0" tIns="0" rIns="0" bIns="0" rtlCol="0" anchor="t"/>
          <a:lstStyle/>
          <a:p>
            <a:pPr marL="0" indent="0">
              <a:buNone/>
            </a:pPr>
            <a:r>
              <a:rPr lang="en-US" sz="1700" b="1" dirty="0">
                <a:solidFill>
                  <a:schemeClr val="accent2"/>
                </a:solidFill>
              </a:rPr>
              <a:t>Key idea: </a:t>
            </a:r>
            <a:r>
              <a:rPr lang="en-US" sz="1700" dirty="0">
                <a:solidFill>
                  <a:schemeClr val="bg1"/>
                </a:solidFill>
              </a:rPr>
              <a:t>no separate guest OS per container. Each container is just an isolated process (or group of processes) running on the same host kernel.</a:t>
            </a:r>
            <a:endParaRPr lang="en-US" sz="17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CONTAINERS VS VMs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Virtual machine vs container architecture</a:t>
            </a:r>
            <a:endParaRPr lang="en-US" sz="3000" dirty="0"/>
          </a:p>
        </p:txBody>
      </p:sp>
      <p:sp>
        <p:nvSpPr>
          <p:cNvPr id="4" name="Text 2"/>
          <p:cNvSpPr txBox="1"/>
          <p:nvPr/>
        </p:nvSpPr>
        <p:spPr>
          <a:xfrm>
            <a:off x="731520" y="1417320"/>
            <a:ext cx="5074920" cy="365760"/>
          </a:xfrm>
          <a:prstGeom prst="rect">
            <a:avLst/>
          </a:prstGeom>
          <a:noFill/>
          <a:ln/>
        </p:spPr>
        <p:txBody>
          <a:bodyPr wrap="square" lIns="0" tIns="0" rIns="0" bIns="0" rtlCol="0" anchor="t"/>
          <a:lstStyle/>
          <a:p>
            <a:pPr marL="0" indent="0" algn="ctr">
              <a:buNone/>
            </a:pPr>
            <a:r>
              <a:rPr lang="en-US" sz="1800" b="1" dirty="0">
                <a:solidFill>
                  <a:schemeClr val="bg1"/>
                </a:solidFill>
              </a:rPr>
              <a:t>Virtual machines</a:t>
            </a:r>
            <a:endParaRPr lang="en-US" sz="1800" dirty="0"/>
          </a:p>
        </p:txBody>
      </p:sp>
      <p:sp>
        <p:nvSpPr>
          <p:cNvPr id="5" name="Text 3"/>
          <p:cNvSpPr txBox="1"/>
          <p:nvPr/>
        </p:nvSpPr>
        <p:spPr>
          <a:xfrm>
            <a:off x="731520" y="1783080"/>
            <a:ext cx="5074920" cy="274320"/>
          </a:xfrm>
          <a:prstGeom prst="rect">
            <a:avLst/>
          </a:prstGeom>
          <a:noFill/>
          <a:ln/>
        </p:spPr>
        <p:txBody>
          <a:bodyPr wrap="square" lIns="0" tIns="0" rIns="0" bIns="0" rtlCol="0" anchor="t"/>
          <a:lstStyle/>
          <a:p>
            <a:pPr marL="0" indent="0" algn="ctr">
              <a:buNone/>
            </a:pPr>
            <a:r>
              <a:rPr lang="en-US" sz="1300" dirty="0">
                <a:solidFill>
                  <a:schemeClr val="accent4"/>
                </a:solidFill>
              </a:rPr>
              <a:t>Heavy footprint · a full guest OS each</a:t>
            </a:r>
            <a:endParaRPr lang="en-US" sz="1300" dirty="0"/>
          </a:p>
        </p:txBody>
      </p:sp>
      <p:sp>
        <p:nvSpPr>
          <p:cNvPr id="6" name="Text 4"/>
          <p:cNvSpPr txBox="1"/>
          <p:nvPr/>
        </p:nvSpPr>
        <p:spPr>
          <a:xfrm>
            <a:off x="6355080" y="1417320"/>
            <a:ext cx="5074920" cy="365760"/>
          </a:xfrm>
          <a:prstGeom prst="rect">
            <a:avLst/>
          </a:prstGeom>
          <a:noFill/>
          <a:ln/>
        </p:spPr>
        <p:txBody>
          <a:bodyPr wrap="square" lIns="0" tIns="0" rIns="0" bIns="0" rtlCol="0" anchor="t"/>
          <a:lstStyle/>
          <a:p>
            <a:pPr marL="0" indent="0" algn="ctr">
              <a:buNone/>
            </a:pPr>
            <a:r>
              <a:rPr lang="en-US" sz="1800" b="1" dirty="0">
                <a:solidFill>
                  <a:schemeClr val="bg1"/>
                </a:solidFill>
              </a:rPr>
              <a:t>Docker containers</a:t>
            </a:r>
            <a:endParaRPr lang="en-US" sz="1800" dirty="0"/>
          </a:p>
        </p:txBody>
      </p:sp>
      <p:sp>
        <p:nvSpPr>
          <p:cNvPr id="7" name="Text 5"/>
          <p:cNvSpPr txBox="1"/>
          <p:nvPr/>
        </p:nvSpPr>
        <p:spPr>
          <a:xfrm>
            <a:off x="6355080" y="1783080"/>
            <a:ext cx="5074920" cy="274320"/>
          </a:xfrm>
          <a:prstGeom prst="rect">
            <a:avLst/>
          </a:prstGeom>
          <a:noFill/>
          <a:ln/>
        </p:spPr>
        <p:txBody>
          <a:bodyPr wrap="square" lIns="0" tIns="0" rIns="0" bIns="0" rtlCol="0" anchor="t"/>
          <a:lstStyle/>
          <a:p>
            <a:pPr marL="0" indent="0" algn="ctr">
              <a:buNone/>
            </a:pPr>
            <a:r>
              <a:rPr lang="en-US" sz="1300" dirty="0">
                <a:solidFill>
                  <a:schemeClr val="accent2"/>
                </a:solidFill>
              </a:rPr>
              <a:t>Lightweight · one shared host kernel</a:t>
            </a:r>
            <a:endParaRPr lang="en-US" sz="1300" dirty="0"/>
          </a:p>
        </p:txBody>
      </p:sp>
      <p:sp>
        <p:nvSpPr>
          <p:cNvPr id="8" name="Shape 6"/>
          <p:cNvSpPr/>
          <p:nvPr/>
        </p:nvSpPr>
        <p:spPr>
          <a:xfrm>
            <a:off x="731520" y="2240280"/>
            <a:ext cx="2487168" cy="420624"/>
          </a:xfrm>
          <a:prstGeom prst="roundRect">
            <a:avLst>
              <a:gd name="adj" fmla="val 21739"/>
            </a:avLst>
          </a:prstGeom>
          <a:solidFill>
            <a:schemeClr val="accent5"/>
          </a:solidFill>
          <a:ln w="12700">
            <a:solidFill>
              <a:schemeClr val="accent6"/>
            </a:solidFill>
            <a:prstDash val="solid"/>
          </a:ln>
        </p:spPr>
      </p:sp>
      <p:sp>
        <p:nvSpPr>
          <p:cNvPr id="9" name="Text 7"/>
          <p:cNvSpPr txBox="1"/>
          <p:nvPr/>
        </p:nvSpPr>
        <p:spPr>
          <a:xfrm>
            <a:off x="804672" y="2240280"/>
            <a:ext cx="234086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App A</a:t>
            </a:r>
            <a:endParaRPr lang="en-US" sz="1400" dirty="0"/>
          </a:p>
        </p:txBody>
      </p:sp>
      <p:sp>
        <p:nvSpPr>
          <p:cNvPr id="10" name="Shape 8"/>
          <p:cNvSpPr/>
          <p:nvPr/>
        </p:nvSpPr>
        <p:spPr>
          <a:xfrm>
            <a:off x="731520" y="2734056"/>
            <a:ext cx="2487168" cy="420624"/>
          </a:xfrm>
          <a:prstGeom prst="roundRect">
            <a:avLst>
              <a:gd name="adj" fmla="val 21739"/>
            </a:avLst>
          </a:prstGeom>
          <a:solidFill>
            <a:schemeClr val="tx2"/>
          </a:solidFill>
          <a:ln w="12700">
            <a:solidFill>
              <a:schemeClr val="accent6"/>
            </a:solidFill>
            <a:prstDash val="solid"/>
          </a:ln>
        </p:spPr>
      </p:sp>
      <p:sp>
        <p:nvSpPr>
          <p:cNvPr id="11" name="Text 9"/>
          <p:cNvSpPr txBox="1"/>
          <p:nvPr/>
        </p:nvSpPr>
        <p:spPr>
          <a:xfrm>
            <a:off x="804672" y="2734056"/>
            <a:ext cx="234086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Bins / libs</a:t>
            </a:r>
            <a:endParaRPr lang="en-US" sz="1400" dirty="0"/>
          </a:p>
        </p:txBody>
      </p:sp>
      <p:sp>
        <p:nvSpPr>
          <p:cNvPr id="12" name="Shape 10"/>
          <p:cNvSpPr/>
          <p:nvPr/>
        </p:nvSpPr>
        <p:spPr>
          <a:xfrm>
            <a:off x="731520" y="3227832"/>
            <a:ext cx="2487168" cy="493776"/>
          </a:xfrm>
          <a:prstGeom prst="roundRect">
            <a:avLst>
              <a:gd name="adj" fmla="val 18519"/>
            </a:avLst>
          </a:prstGeom>
          <a:solidFill>
            <a:srgbClr val="3A2430"/>
          </a:solidFill>
          <a:ln w="12700">
            <a:solidFill>
              <a:schemeClr val="accent4"/>
            </a:solidFill>
            <a:prstDash val="solid"/>
          </a:ln>
        </p:spPr>
      </p:sp>
      <p:sp>
        <p:nvSpPr>
          <p:cNvPr id="13" name="Text 11"/>
          <p:cNvSpPr txBox="1"/>
          <p:nvPr/>
        </p:nvSpPr>
        <p:spPr>
          <a:xfrm>
            <a:off x="804672" y="3227832"/>
            <a:ext cx="2340864" cy="493776"/>
          </a:xfrm>
          <a:prstGeom prst="rect">
            <a:avLst/>
          </a:prstGeom>
          <a:noFill/>
          <a:ln/>
        </p:spPr>
        <p:txBody>
          <a:bodyPr wrap="square" lIns="0" tIns="0" rIns="0" bIns="0" rtlCol="0" anchor="ctr"/>
          <a:lstStyle/>
          <a:p>
            <a:pPr marL="0" indent="0" algn="ctr">
              <a:spcAft>
                <a:spcPts val="200"/>
              </a:spcAft>
              <a:buNone/>
            </a:pPr>
            <a:r>
              <a:rPr lang="en-US" sz="1400" b="1" dirty="0">
                <a:solidFill>
                  <a:schemeClr val="accent4"/>
                </a:solidFill>
              </a:rPr>
              <a:t>Guest OS (full kernel)</a:t>
            </a:r>
            <a:endParaRPr lang="en-US" sz="1400" dirty="0"/>
          </a:p>
        </p:txBody>
      </p:sp>
      <p:sp>
        <p:nvSpPr>
          <p:cNvPr id="14" name="Shape 12"/>
          <p:cNvSpPr/>
          <p:nvPr/>
        </p:nvSpPr>
        <p:spPr>
          <a:xfrm>
            <a:off x="3319272" y="2240280"/>
            <a:ext cx="2487168" cy="420624"/>
          </a:xfrm>
          <a:prstGeom prst="roundRect">
            <a:avLst>
              <a:gd name="adj" fmla="val 21739"/>
            </a:avLst>
          </a:prstGeom>
          <a:solidFill>
            <a:schemeClr val="accent5"/>
          </a:solidFill>
          <a:ln w="12700">
            <a:solidFill>
              <a:schemeClr val="accent6"/>
            </a:solidFill>
            <a:prstDash val="solid"/>
          </a:ln>
        </p:spPr>
      </p:sp>
      <p:sp>
        <p:nvSpPr>
          <p:cNvPr id="15" name="Text 13"/>
          <p:cNvSpPr txBox="1"/>
          <p:nvPr/>
        </p:nvSpPr>
        <p:spPr>
          <a:xfrm>
            <a:off x="3392424" y="2240280"/>
            <a:ext cx="234086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App B</a:t>
            </a:r>
            <a:endParaRPr lang="en-US" sz="1400" dirty="0"/>
          </a:p>
        </p:txBody>
      </p:sp>
      <p:sp>
        <p:nvSpPr>
          <p:cNvPr id="16" name="Shape 14"/>
          <p:cNvSpPr/>
          <p:nvPr/>
        </p:nvSpPr>
        <p:spPr>
          <a:xfrm>
            <a:off x="3319272" y="2734056"/>
            <a:ext cx="2487168" cy="420624"/>
          </a:xfrm>
          <a:prstGeom prst="roundRect">
            <a:avLst>
              <a:gd name="adj" fmla="val 21739"/>
            </a:avLst>
          </a:prstGeom>
          <a:solidFill>
            <a:schemeClr val="tx2"/>
          </a:solidFill>
          <a:ln w="12700">
            <a:solidFill>
              <a:schemeClr val="accent6"/>
            </a:solidFill>
            <a:prstDash val="solid"/>
          </a:ln>
        </p:spPr>
      </p:sp>
      <p:sp>
        <p:nvSpPr>
          <p:cNvPr id="17" name="Text 15"/>
          <p:cNvSpPr txBox="1"/>
          <p:nvPr/>
        </p:nvSpPr>
        <p:spPr>
          <a:xfrm>
            <a:off x="3392424" y="2734056"/>
            <a:ext cx="234086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Bins / libs</a:t>
            </a:r>
            <a:endParaRPr lang="en-US" sz="1400" dirty="0"/>
          </a:p>
        </p:txBody>
      </p:sp>
      <p:sp>
        <p:nvSpPr>
          <p:cNvPr id="18" name="Shape 16"/>
          <p:cNvSpPr/>
          <p:nvPr/>
        </p:nvSpPr>
        <p:spPr>
          <a:xfrm>
            <a:off x="3319272" y="3227832"/>
            <a:ext cx="2487168" cy="493776"/>
          </a:xfrm>
          <a:prstGeom prst="roundRect">
            <a:avLst>
              <a:gd name="adj" fmla="val 18519"/>
            </a:avLst>
          </a:prstGeom>
          <a:solidFill>
            <a:srgbClr val="3A2430"/>
          </a:solidFill>
          <a:ln w="12700">
            <a:solidFill>
              <a:schemeClr val="accent4"/>
            </a:solidFill>
            <a:prstDash val="solid"/>
          </a:ln>
        </p:spPr>
      </p:sp>
      <p:sp>
        <p:nvSpPr>
          <p:cNvPr id="19" name="Text 17"/>
          <p:cNvSpPr txBox="1"/>
          <p:nvPr/>
        </p:nvSpPr>
        <p:spPr>
          <a:xfrm>
            <a:off x="3392424" y="3227832"/>
            <a:ext cx="2340864" cy="493776"/>
          </a:xfrm>
          <a:prstGeom prst="rect">
            <a:avLst/>
          </a:prstGeom>
          <a:noFill/>
          <a:ln/>
        </p:spPr>
        <p:txBody>
          <a:bodyPr wrap="square" lIns="0" tIns="0" rIns="0" bIns="0" rtlCol="0" anchor="ctr"/>
          <a:lstStyle/>
          <a:p>
            <a:pPr marL="0" indent="0" algn="ctr">
              <a:spcAft>
                <a:spcPts val="200"/>
              </a:spcAft>
              <a:buNone/>
            </a:pPr>
            <a:r>
              <a:rPr lang="en-US" sz="1400" b="1" dirty="0">
                <a:solidFill>
                  <a:schemeClr val="accent4"/>
                </a:solidFill>
              </a:rPr>
              <a:t>Guest OS (full kernel)</a:t>
            </a:r>
            <a:endParaRPr lang="en-US" sz="1400" dirty="0"/>
          </a:p>
        </p:txBody>
      </p:sp>
      <p:sp>
        <p:nvSpPr>
          <p:cNvPr id="20" name="Shape 18"/>
          <p:cNvSpPr/>
          <p:nvPr/>
        </p:nvSpPr>
        <p:spPr>
          <a:xfrm>
            <a:off x="731520" y="3849624"/>
            <a:ext cx="5074920" cy="420624"/>
          </a:xfrm>
          <a:prstGeom prst="roundRect">
            <a:avLst>
              <a:gd name="adj" fmla="val 21739"/>
            </a:avLst>
          </a:prstGeom>
          <a:solidFill>
            <a:srgbClr val="1E3A5F"/>
          </a:solidFill>
          <a:ln w="12700">
            <a:solidFill>
              <a:schemeClr val="accent6"/>
            </a:solidFill>
            <a:prstDash val="solid"/>
          </a:ln>
        </p:spPr>
      </p:sp>
      <p:sp>
        <p:nvSpPr>
          <p:cNvPr id="21" name="Text 19"/>
          <p:cNvSpPr txBox="1"/>
          <p:nvPr/>
        </p:nvSpPr>
        <p:spPr>
          <a:xfrm>
            <a:off x="804672" y="3849624"/>
            <a:ext cx="4928616"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Hypervisor</a:t>
            </a:r>
            <a:endParaRPr lang="en-US" sz="1400" dirty="0"/>
          </a:p>
        </p:txBody>
      </p:sp>
      <p:sp>
        <p:nvSpPr>
          <p:cNvPr id="22" name="Shape 20"/>
          <p:cNvSpPr/>
          <p:nvPr/>
        </p:nvSpPr>
        <p:spPr>
          <a:xfrm>
            <a:off x="731520" y="4343400"/>
            <a:ext cx="5074920" cy="420624"/>
          </a:xfrm>
          <a:prstGeom prst="roundRect">
            <a:avLst>
              <a:gd name="adj" fmla="val 21739"/>
            </a:avLst>
          </a:prstGeom>
          <a:solidFill>
            <a:srgbClr val="2B3346"/>
          </a:solidFill>
          <a:ln w="12700">
            <a:solidFill>
              <a:schemeClr val="accent6"/>
            </a:solidFill>
            <a:prstDash val="solid"/>
          </a:ln>
        </p:spPr>
      </p:sp>
      <p:sp>
        <p:nvSpPr>
          <p:cNvPr id="23" name="Text 21"/>
          <p:cNvSpPr txBox="1"/>
          <p:nvPr/>
        </p:nvSpPr>
        <p:spPr>
          <a:xfrm>
            <a:off x="804672" y="4343400"/>
            <a:ext cx="4928616"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Host infrastructure &amp; hardware</a:t>
            </a:r>
            <a:endParaRPr lang="en-US" sz="1400" dirty="0"/>
          </a:p>
        </p:txBody>
      </p:sp>
      <p:sp>
        <p:nvSpPr>
          <p:cNvPr id="24" name="Shape 22"/>
          <p:cNvSpPr/>
          <p:nvPr/>
        </p:nvSpPr>
        <p:spPr>
          <a:xfrm>
            <a:off x="6355080" y="2240280"/>
            <a:ext cx="1618488" cy="420624"/>
          </a:xfrm>
          <a:prstGeom prst="roundRect">
            <a:avLst>
              <a:gd name="adj" fmla="val 21739"/>
            </a:avLst>
          </a:prstGeom>
          <a:solidFill>
            <a:schemeClr val="accent5"/>
          </a:solidFill>
          <a:ln w="12700">
            <a:solidFill>
              <a:schemeClr val="accent6"/>
            </a:solidFill>
            <a:prstDash val="solid"/>
          </a:ln>
        </p:spPr>
      </p:sp>
      <p:sp>
        <p:nvSpPr>
          <p:cNvPr id="25" name="Text 23"/>
          <p:cNvSpPr txBox="1"/>
          <p:nvPr/>
        </p:nvSpPr>
        <p:spPr>
          <a:xfrm>
            <a:off x="6428232" y="2240280"/>
            <a:ext cx="147218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App A</a:t>
            </a:r>
            <a:endParaRPr lang="en-US" sz="1400" dirty="0"/>
          </a:p>
        </p:txBody>
      </p:sp>
      <p:sp>
        <p:nvSpPr>
          <p:cNvPr id="26" name="Shape 24"/>
          <p:cNvSpPr/>
          <p:nvPr/>
        </p:nvSpPr>
        <p:spPr>
          <a:xfrm>
            <a:off x="6355080" y="2734056"/>
            <a:ext cx="1618488" cy="420624"/>
          </a:xfrm>
          <a:prstGeom prst="roundRect">
            <a:avLst>
              <a:gd name="adj" fmla="val 21739"/>
            </a:avLst>
          </a:prstGeom>
          <a:solidFill>
            <a:schemeClr val="tx2"/>
          </a:solidFill>
          <a:ln w="12700">
            <a:solidFill>
              <a:schemeClr val="accent6"/>
            </a:solidFill>
            <a:prstDash val="solid"/>
          </a:ln>
        </p:spPr>
      </p:sp>
      <p:sp>
        <p:nvSpPr>
          <p:cNvPr id="27" name="Text 25"/>
          <p:cNvSpPr txBox="1"/>
          <p:nvPr/>
        </p:nvSpPr>
        <p:spPr>
          <a:xfrm>
            <a:off x="6428232" y="2734056"/>
            <a:ext cx="147218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Libs</a:t>
            </a:r>
            <a:endParaRPr lang="en-US" sz="1400" dirty="0"/>
          </a:p>
        </p:txBody>
      </p:sp>
      <p:sp>
        <p:nvSpPr>
          <p:cNvPr id="28" name="Shape 26"/>
          <p:cNvSpPr/>
          <p:nvPr/>
        </p:nvSpPr>
        <p:spPr>
          <a:xfrm>
            <a:off x="8083296" y="2240280"/>
            <a:ext cx="1618488" cy="420624"/>
          </a:xfrm>
          <a:prstGeom prst="roundRect">
            <a:avLst>
              <a:gd name="adj" fmla="val 21739"/>
            </a:avLst>
          </a:prstGeom>
          <a:solidFill>
            <a:schemeClr val="accent5"/>
          </a:solidFill>
          <a:ln w="12700">
            <a:solidFill>
              <a:schemeClr val="accent6"/>
            </a:solidFill>
            <a:prstDash val="solid"/>
          </a:ln>
        </p:spPr>
      </p:sp>
      <p:sp>
        <p:nvSpPr>
          <p:cNvPr id="29" name="Text 27"/>
          <p:cNvSpPr txBox="1"/>
          <p:nvPr/>
        </p:nvSpPr>
        <p:spPr>
          <a:xfrm>
            <a:off x="8156448" y="2240280"/>
            <a:ext cx="147218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App B</a:t>
            </a:r>
            <a:endParaRPr lang="en-US" sz="1400" dirty="0"/>
          </a:p>
        </p:txBody>
      </p:sp>
      <p:sp>
        <p:nvSpPr>
          <p:cNvPr id="30" name="Shape 28"/>
          <p:cNvSpPr/>
          <p:nvPr/>
        </p:nvSpPr>
        <p:spPr>
          <a:xfrm>
            <a:off x="8083296" y="2734056"/>
            <a:ext cx="1618488" cy="420624"/>
          </a:xfrm>
          <a:prstGeom prst="roundRect">
            <a:avLst>
              <a:gd name="adj" fmla="val 21739"/>
            </a:avLst>
          </a:prstGeom>
          <a:solidFill>
            <a:schemeClr val="tx2"/>
          </a:solidFill>
          <a:ln w="12700">
            <a:solidFill>
              <a:schemeClr val="accent6"/>
            </a:solidFill>
            <a:prstDash val="solid"/>
          </a:ln>
        </p:spPr>
      </p:sp>
      <p:sp>
        <p:nvSpPr>
          <p:cNvPr id="31" name="Text 29"/>
          <p:cNvSpPr txBox="1"/>
          <p:nvPr/>
        </p:nvSpPr>
        <p:spPr>
          <a:xfrm>
            <a:off x="8156448" y="2734056"/>
            <a:ext cx="147218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Libs</a:t>
            </a:r>
            <a:endParaRPr lang="en-US" sz="1400" dirty="0"/>
          </a:p>
        </p:txBody>
      </p:sp>
      <p:sp>
        <p:nvSpPr>
          <p:cNvPr id="32" name="Shape 30"/>
          <p:cNvSpPr/>
          <p:nvPr/>
        </p:nvSpPr>
        <p:spPr>
          <a:xfrm>
            <a:off x="9811512" y="2240280"/>
            <a:ext cx="1618488" cy="420624"/>
          </a:xfrm>
          <a:prstGeom prst="roundRect">
            <a:avLst>
              <a:gd name="adj" fmla="val 21739"/>
            </a:avLst>
          </a:prstGeom>
          <a:solidFill>
            <a:schemeClr val="accent5"/>
          </a:solidFill>
          <a:ln w="12700">
            <a:solidFill>
              <a:schemeClr val="accent6"/>
            </a:solidFill>
            <a:prstDash val="solid"/>
          </a:ln>
        </p:spPr>
      </p:sp>
      <p:sp>
        <p:nvSpPr>
          <p:cNvPr id="33" name="Text 31"/>
          <p:cNvSpPr txBox="1"/>
          <p:nvPr/>
        </p:nvSpPr>
        <p:spPr>
          <a:xfrm>
            <a:off x="9884664" y="2240280"/>
            <a:ext cx="147218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App C</a:t>
            </a:r>
            <a:endParaRPr lang="en-US" sz="1400" dirty="0"/>
          </a:p>
        </p:txBody>
      </p:sp>
      <p:sp>
        <p:nvSpPr>
          <p:cNvPr id="34" name="Shape 32"/>
          <p:cNvSpPr/>
          <p:nvPr/>
        </p:nvSpPr>
        <p:spPr>
          <a:xfrm>
            <a:off x="9811512" y="2734056"/>
            <a:ext cx="1618488" cy="420624"/>
          </a:xfrm>
          <a:prstGeom prst="roundRect">
            <a:avLst>
              <a:gd name="adj" fmla="val 21739"/>
            </a:avLst>
          </a:prstGeom>
          <a:solidFill>
            <a:schemeClr val="tx2"/>
          </a:solidFill>
          <a:ln w="12700">
            <a:solidFill>
              <a:schemeClr val="accent6"/>
            </a:solidFill>
            <a:prstDash val="solid"/>
          </a:ln>
        </p:spPr>
      </p:sp>
      <p:sp>
        <p:nvSpPr>
          <p:cNvPr id="35" name="Text 33"/>
          <p:cNvSpPr txBox="1"/>
          <p:nvPr/>
        </p:nvSpPr>
        <p:spPr>
          <a:xfrm>
            <a:off x="9884664" y="2734056"/>
            <a:ext cx="1472184"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Libs</a:t>
            </a:r>
            <a:endParaRPr lang="en-US" sz="1400" dirty="0"/>
          </a:p>
        </p:txBody>
      </p:sp>
      <p:sp>
        <p:nvSpPr>
          <p:cNvPr id="36" name="Shape 34"/>
          <p:cNvSpPr/>
          <p:nvPr/>
        </p:nvSpPr>
        <p:spPr>
          <a:xfrm>
            <a:off x="6355080" y="3227832"/>
            <a:ext cx="5074920" cy="493776"/>
          </a:xfrm>
          <a:prstGeom prst="roundRect">
            <a:avLst>
              <a:gd name="adj" fmla="val 18519"/>
            </a:avLst>
          </a:prstGeom>
          <a:solidFill>
            <a:srgbClr val="0F3A66"/>
          </a:solidFill>
          <a:ln w="12700">
            <a:solidFill>
              <a:schemeClr val="accent1"/>
            </a:solidFill>
            <a:prstDash val="solid"/>
          </a:ln>
        </p:spPr>
      </p:sp>
      <p:sp>
        <p:nvSpPr>
          <p:cNvPr id="37" name="Text 35"/>
          <p:cNvSpPr txBox="1"/>
          <p:nvPr/>
        </p:nvSpPr>
        <p:spPr>
          <a:xfrm>
            <a:off x="6428232" y="3227832"/>
            <a:ext cx="4928616" cy="493776"/>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Docker Engine</a:t>
            </a:r>
            <a:endParaRPr lang="en-US" sz="1400" dirty="0"/>
          </a:p>
        </p:txBody>
      </p:sp>
      <p:sp>
        <p:nvSpPr>
          <p:cNvPr id="38" name="Shape 36"/>
          <p:cNvSpPr/>
          <p:nvPr/>
        </p:nvSpPr>
        <p:spPr>
          <a:xfrm>
            <a:off x="6355080" y="3849624"/>
            <a:ext cx="5074920" cy="420624"/>
          </a:xfrm>
          <a:prstGeom prst="roundRect">
            <a:avLst>
              <a:gd name="adj" fmla="val 21739"/>
            </a:avLst>
          </a:prstGeom>
          <a:solidFill>
            <a:srgbClr val="0F3B3A"/>
          </a:solidFill>
          <a:ln w="12700">
            <a:solidFill>
              <a:schemeClr val="accent2"/>
            </a:solidFill>
            <a:prstDash val="solid"/>
          </a:ln>
        </p:spPr>
      </p:sp>
      <p:sp>
        <p:nvSpPr>
          <p:cNvPr id="39" name="Text 37"/>
          <p:cNvSpPr txBox="1"/>
          <p:nvPr/>
        </p:nvSpPr>
        <p:spPr>
          <a:xfrm>
            <a:off x="6428232" y="3849624"/>
            <a:ext cx="4928616"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accent2"/>
                </a:solidFill>
              </a:rPr>
              <a:t>Host OS &amp; shared kernel</a:t>
            </a:r>
            <a:endParaRPr lang="en-US" sz="1400" dirty="0"/>
          </a:p>
        </p:txBody>
      </p:sp>
      <p:sp>
        <p:nvSpPr>
          <p:cNvPr id="40" name="Shape 38"/>
          <p:cNvSpPr/>
          <p:nvPr/>
        </p:nvSpPr>
        <p:spPr>
          <a:xfrm>
            <a:off x="6355080" y="4343400"/>
            <a:ext cx="5074920" cy="420624"/>
          </a:xfrm>
          <a:prstGeom prst="roundRect">
            <a:avLst>
              <a:gd name="adj" fmla="val 21739"/>
            </a:avLst>
          </a:prstGeom>
          <a:solidFill>
            <a:srgbClr val="2B3346"/>
          </a:solidFill>
          <a:ln w="12700">
            <a:solidFill>
              <a:schemeClr val="accent6"/>
            </a:solidFill>
            <a:prstDash val="solid"/>
          </a:ln>
        </p:spPr>
      </p:sp>
      <p:sp>
        <p:nvSpPr>
          <p:cNvPr id="41" name="Text 39"/>
          <p:cNvSpPr txBox="1"/>
          <p:nvPr/>
        </p:nvSpPr>
        <p:spPr>
          <a:xfrm>
            <a:off x="6428232" y="4343400"/>
            <a:ext cx="4928616" cy="420624"/>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Host infrastructure &amp; hardware</a:t>
            </a:r>
            <a:endParaRPr lang="en-US" sz="1400" dirty="0"/>
          </a:p>
        </p:txBody>
      </p:sp>
      <p:sp>
        <p:nvSpPr>
          <p:cNvPr id="42" name="Shape 40"/>
          <p:cNvSpPr/>
          <p:nvPr/>
        </p:nvSpPr>
        <p:spPr>
          <a:xfrm>
            <a:off x="731520" y="5120640"/>
            <a:ext cx="10698480" cy="777240"/>
          </a:xfrm>
          <a:prstGeom prst="roundRect">
            <a:avLst>
              <a:gd name="adj" fmla="val 11765"/>
            </a:avLst>
          </a:prstGeom>
          <a:solidFill>
            <a:schemeClr val="tx2"/>
          </a:solidFill>
          <a:ln w="12700">
            <a:solidFill>
              <a:schemeClr val="accent6"/>
            </a:solidFill>
            <a:prstDash val="solid"/>
          </a:ln>
        </p:spPr>
      </p:sp>
      <p:sp>
        <p:nvSpPr>
          <p:cNvPr id="43" name="Text 41"/>
          <p:cNvSpPr txBox="1"/>
          <p:nvPr/>
        </p:nvSpPr>
        <p:spPr>
          <a:xfrm>
            <a:off x="1051560" y="5120640"/>
            <a:ext cx="10149840" cy="777240"/>
          </a:xfrm>
          <a:prstGeom prst="rect">
            <a:avLst/>
          </a:prstGeom>
          <a:noFill/>
          <a:ln/>
        </p:spPr>
        <p:txBody>
          <a:bodyPr wrap="square" lIns="0" tIns="0" rIns="0" bIns="0" rtlCol="0" anchor="ctr"/>
          <a:lstStyle/>
          <a:p>
            <a:pPr marL="0" indent="0">
              <a:buNone/>
            </a:pPr>
            <a:r>
              <a:rPr lang="en-US" sz="1700" b="1" dirty="0">
                <a:solidFill>
                  <a:schemeClr val="accent2"/>
                </a:solidFill>
              </a:rPr>
              <a:t>The fundamental rule:  </a:t>
            </a:r>
            <a:r>
              <a:rPr lang="en-US" sz="1700" dirty="0">
                <a:solidFill>
                  <a:schemeClr val="bg1"/>
                </a:solidFill>
              </a:rPr>
              <a:t>VMs isolate full hardware and OS. Containers isolate processes on a shared kernel.</a:t>
            </a:r>
            <a:endParaRPr lang="en-US" sz="1700" dirty="0"/>
          </a:p>
        </p:txBody>
      </p:sp>
      <p:sp>
        <p:nvSpPr>
          <p:cNvPr id="44"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A SIMPLE ANALOGY</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Separate houses vs apartments in one building</a:t>
            </a:r>
            <a:endParaRPr lang="en-US" sz="3000" dirty="0"/>
          </a:p>
        </p:txBody>
      </p:sp>
      <p:sp>
        <p:nvSpPr>
          <p:cNvPr id="4" name="Shape 2"/>
          <p:cNvSpPr/>
          <p:nvPr/>
        </p:nvSpPr>
        <p:spPr>
          <a:xfrm>
            <a:off x="2011680" y="1645920"/>
            <a:ext cx="2011680" cy="914400"/>
          </a:xfrm>
          <a:prstGeom prst="triangle">
            <a:avLst/>
          </a:prstGeom>
          <a:solidFill>
            <a:srgbClr val="0B1426"/>
          </a:solidFill>
          <a:ln w="25400">
            <a:solidFill>
              <a:schemeClr val="accent4"/>
            </a:solidFill>
            <a:prstDash val="solid"/>
          </a:ln>
        </p:spPr>
      </p:sp>
      <p:sp>
        <p:nvSpPr>
          <p:cNvPr id="5" name="Shape 3"/>
          <p:cNvSpPr/>
          <p:nvPr/>
        </p:nvSpPr>
        <p:spPr>
          <a:xfrm>
            <a:off x="2240280" y="2560320"/>
            <a:ext cx="1554480" cy="1143000"/>
          </a:xfrm>
          <a:prstGeom prst="rect">
            <a:avLst/>
          </a:prstGeom>
          <a:solidFill>
            <a:srgbClr val="0B1426"/>
          </a:solidFill>
          <a:ln w="25400">
            <a:solidFill>
              <a:schemeClr val="accent4"/>
            </a:solidFill>
            <a:prstDash val="solid"/>
          </a:ln>
        </p:spPr>
      </p:sp>
      <p:sp>
        <p:nvSpPr>
          <p:cNvPr id="6" name="Shape 4"/>
          <p:cNvSpPr/>
          <p:nvPr/>
        </p:nvSpPr>
        <p:spPr>
          <a:xfrm>
            <a:off x="2788920" y="3063240"/>
            <a:ext cx="457200" cy="640080"/>
          </a:xfrm>
          <a:prstGeom prst="rect">
            <a:avLst/>
          </a:prstGeom>
          <a:solidFill>
            <a:schemeClr val="accent4"/>
          </a:solidFill>
          <a:ln w="12700">
            <a:solidFill>
              <a:schemeClr val="accent4"/>
            </a:solidFill>
            <a:prstDash val="solid"/>
          </a:ln>
        </p:spPr>
      </p:sp>
      <p:sp>
        <p:nvSpPr>
          <p:cNvPr id="7" name="Shape 5"/>
          <p:cNvSpPr/>
          <p:nvPr/>
        </p:nvSpPr>
        <p:spPr>
          <a:xfrm>
            <a:off x="7909560" y="1645920"/>
            <a:ext cx="1737360" cy="2057400"/>
          </a:xfrm>
          <a:prstGeom prst="rect">
            <a:avLst/>
          </a:prstGeom>
          <a:solidFill>
            <a:srgbClr val="0B1426"/>
          </a:solidFill>
          <a:ln w="25400">
            <a:solidFill>
              <a:schemeClr val="accent2"/>
            </a:solidFill>
            <a:prstDash val="solid"/>
          </a:ln>
        </p:spPr>
      </p:sp>
      <p:sp>
        <p:nvSpPr>
          <p:cNvPr id="8" name="Shape 6"/>
          <p:cNvSpPr/>
          <p:nvPr/>
        </p:nvSpPr>
        <p:spPr>
          <a:xfrm>
            <a:off x="8110728" y="1828800"/>
            <a:ext cx="320040" cy="347472"/>
          </a:xfrm>
          <a:prstGeom prst="rect">
            <a:avLst/>
          </a:prstGeom>
          <a:solidFill>
            <a:schemeClr val="accent5"/>
          </a:solidFill>
          <a:ln w="9525">
            <a:solidFill>
              <a:schemeClr val="accent2"/>
            </a:solidFill>
            <a:prstDash val="solid"/>
          </a:ln>
        </p:spPr>
      </p:sp>
      <p:sp>
        <p:nvSpPr>
          <p:cNvPr id="9" name="Shape 7"/>
          <p:cNvSpPr/>
          <p:nvPr/>
        </p:nvSpPr>
        <p:spPr>
          <a:xfrm>
            <a:off x="8613648" y="1828800"/>
            <a:ext cx="320040" cy="347472"/>
          </a:xfrm>
          <a:prstGeom prst="rect">
            <a:avLst/>
          </a:prstGeom>
          <a:solidFill>
            <a:schemeClr val="accent2"/>
          </a:solidFill>
          <a:ln w="9525">
            <a:solidFill>
              <a:schemeClr val="accent2"/>
            </a:solidFill>
            <a:prstDash val="solid"/>
          </a:ln>
        </p:spPr>
      </p:sp>
      <p:sp>
        <p:nvSpPr>
          <p:cNvPr id="10" name="Shape 8"/>
          <p:cNvSpPr/>
          <p:nvPr/>
        </p:nvSpPr>
        <p:spPr>
          <a:xfrm>
            <a:off x="9116568" y="1828800"/>
            <a:ext cx="320040" cy="347472"/>
          </a:xfrm>
          <a:prstGeom prst="rect">
            <a:avLst/>
          </a:prstGeom>
          <a:solidFill>
            <a:schemeClr val="accent5"/>
          </a:solidFill>
          <a:ln w="9525">
            <a:solidFill>
              <a:schemeClr val="accent2"/>
            </a:solidFill>
            <a:prstDash val="solid"/>
          </a:ln>
        </p:spPr>
      </p:sp>
      <p:sp>
        <p:nvSpPr>
          <p:cNvPr id="11" name="Shape 9"/>
          <p:cNvSpPr/>
          <p:nvPr/>
        </p:nvSpPr>
        <p:spPr>
          <a:xfrm>
            <a:off x="8110728" y="2377440"/>
            <a:ext cx="320040" cy="347472"/>
          </a:xfrm>
          <a:prstGeom prst="rect">
            <a:avLst/>
          </a:prstGeom>
          <a:solidFill>
            <a:schemeClr val="accent2"/>
          </a:solidFill>
          <a:ln w="9525">
            <a:solidFill>
              <a:schemeClr val="accent2"/>
            </a:solidFill>
            <a:prstDash val="solid"/>
          </a:ln>
        </p:spPr>
      </p:sp>
      <p:sp>
        <p:nvSpPr>
          <p:cNvPr id="12" name="Shape 10"/>
          <p:cNvSpPr/>
          <p:nvPr/>
        </p:nvSpPr>
        <p:spPr>
          <a:xfrm>
            <a:off x="8613648" y="2377440"/>
            <a:ext cx="320040" cy="347472"/>
          </a:xfrm>
          <a:prstGeom prst="rect">
            <a:avLst/>
          </a:prstGeom>
          <a:solidFill>
            <a:schemeClr val="accent5"/>
          </a:solidFill>
          <a:ln w="9525">
            <a:solidFill>
              <a:schemeClr val="accent2"/>
            </a:solidFill>
            <a:prstDash val="solid"/>
          </a:ln>
        </p:spPr>
      </p:sp>
      <p:sp>
        <p:nvSpPr>
          <p:cNvPr id="13" name="Shape 11"/>
          <p:cNvSpPr/>
          <p:nvPr/>
        </p:nvSpPr>
        <p:spPr>
          <a:xfrm>
            <a:off x="9116568" y="2377440"/>
            <a:ext cx="320040" cy="347472"/>
          </a:xfrm>
          <a:prstGeom prst="rect">
            <a:avLst/>
          </a:prstGeom>
          <a:solidFill>
            <a:schemeClr val="accent2"/>
          </a:solidFill>
          <a:ln w="9525">
            <a:solidFill>
              <a:schemeClr val="accent2"/>
            </a:solidFill>
            <a:prstDash val="solid"/>
          </a:ln>
        </p:spPr>
      </p:sp>
      <p:sp>
        <p:nvSpPr>
          <p:cNvPr id="14" name="Shape 12"/>
          <p:cNvSpPr/>
          <p:nvPr/>
        </p:nvSpPr>
        <p:spPr>
          <a:xfrm>
            <a:off x="8110728" y="2926080"/>
            <a:ext cx="320040" cy="347472"/>
          </a:xfrm>
          <a:prstGeom prst="rect">
            <a:avLst/>
          </a:prstGeom>
          <a:solidFill>
            <a:schemeClr val="accent5"/>
          </a:solidFill>
          <a:ln w="9525">
            <a:solidFill>
              <a:schemeClr val="accent2"/>
            </a:solidFill>
            <a:prstDash val="solid"/>
          </a:ln>
        </p:spPr>
      </p:sp>
      <p:sp>
        <p:nvSpPr>
          <p:cNvPr id="15" name="Shape 13"/>
          <p:cNvSpPr/>
          <p:nvPr/>
        </p:nvSpPr>
        <p:spPr>
          <a:xfrm>
            <a:off x="8613648" y="2926080"/>
            <a:ext cx="320040" cy="347472"/>
          </a:xfrm>
          <a:prstGeom prst="rect">
            <a:avLst/>
          </a:prstGeom>
          <a:solidFill>
            <a:schemeClr val="accent2"/>
          </a:solidFill>
          <a:ln w="9525">
            <a:solidFill>
              <a:schemeClr val="accent2"/>
            </a:solidFill>
            <a:prstDash val="solid"/>
          </a:ln>
        </p:spPr>
      </p:sp>
      <p:sp>
        <p:nvSpPr>
          <p:cNvPr id="16" name="Shape 14"/>
          <p:cNvSpPr/>
          <p:nvPr/>
        </p:nvSpPr>
        <p:spPr>
          <a:xfrm>
            <a:off x="9116568" y="2926080"/>
            <a:ext cx="320040" cy="347472"/>
          </a:xfrm>
          <a:prstGeom prst="rect">
            <a:avLst/>
          </a:prstGeom>
          <a:solidFill>
            <a:schemeClr val="accent5"/>
          </a:solidFill>
          <a:ln w="9525">
            <a:solidFill>
              <a:schemeClr val="accent2"/>
            </a:solidFill>
            <a:prstDash val="solid"/>
          </a:ln>
        </p:spPr>
      </p:sp>
      <p:sp>
        <p:nvSpPr>
          <p:cNvPr id="17" name="Text 15"/>
          <p:cNvSpPr txBox="1"/>
          <p:nvPr/>
        </p:nvSpPr>
        <p:spPr>
          <a:xfrm>
            <a:off x="731520" y="3977640"/>
            <a:ext cx="5120640" cy="457200"/>
          </a:xfrm>
          <a:prstGeom prst="rect">
            <a:avLst/>
          </a:prstGeom>
          <a:noFill/>
          <a:ln/>
        </p:spPr>
        <p:txBody>
          <a:bodyPr wrap="square" lIns="0" tIns="0" rIns="0" bIns="0" rtlCol="0" anchor="t"/>
          <a:lstStyle/>
          <a:p>
            <a:pPr marL="0" indent="0" algn="ctr">
              <a:buNone/>
            </a:pPr>
            <a:r>
              <a:rPr lang="en-US" sz="2000" b="1" dirty="0">
                <a:solidFill>
                  <a:schemeClr val="accent4"/>
                </a:solidFill>
              </a:rPr>
              <a:t>Virtual machine = a separate house</a:t>
            </a:r>
            <a:endParaRPr lang="en-US" sz="2000" dirty="0"/>
          </a:p>
        </p:txBody>
      </p:sp>
      <p:sp>
        <p:nvSpPr>
          <p:cNvPr id="18" name="Text 16"/>
          <p:cNvSpPr txBox="1"/>
          <p:nvPr/>
        </p:nvSpPr>
        <p:spPr>
          <a:xfrm>
            <a:off x="914400" y="4480560"/>
            <a:ext cx="4754880" cy="1188720"/>
          </a:xfrm>
          <a:prstGeom prst="rect">
            <a:avLst/>
          </a:prstGeom>
          <a:noFill/>
          <a:ln/>
        </p:spPr>
        <p:txBody>
          <a:bodyPr wrap="square" lIns="0" tIns="0" rIns="0" bIns="0" rtlCol="0" anchor="t"/>
          <a:lstStyle/>
          <a:p>
            <a:pPr marL="0" indent="0" algn="ctr">
              <a:buNone/>
            </a:pPr>
            <a:r>
              <a:rPr lang="en-US" sz="1600" dirty="0">
                <a:solidFill>
                  <a:schemeClr val="bg1"/>
                </a:solidFill>
              </a:rPr>
              <a:t>Its own foundation, plumbing and utilities (a guest OS). Total independence, but expensive to build and slow to move into.</a:t>
            </a:r>
            <a:endParaRPr lang="en-US" sz="1600" dirty="0"/>
          </a:p>
        </p:txBody>
      </p:sp>
      <p:sp>
        <p:nvSpPr>
          <p:cNvPr id="19" name="Text 17"/>
          <p:cNvSpPr txBox="1"/>
          <p:nvPr/>
        </p:nvSpPr>
        <p:spPr>
          <a:xfrm>
            <a:off x="6309360" y="3977640"/>
            <a:ext cx="5120640" cy="457200"/>
          </a:xfrm>
          <a:prstGeom prst="rect">
            <a:avLst/>
          </a:prstGeom>
          <a:noFill/>
          <a:ln/>
        </p:spPr>
        <p:txBody>
          <a:bodyPr wrap="square" lIns="0" tIns="0" rIns="0" bIns="0" rtlCol="0" anchor="t"/>
          <a:lstStyle/>
          <a:p>
            <a:pPr marL="0" indent="0" algn="ctr">
              <a:buNone/>
            </a:pPr>
            <a:r>
              <a:rPr lang="en-US" sz="2000" b="1" dirty="0">
                <a:solidFill>
                  <a:schemeClr val="accent2"/>
                </a:solidFill>
              </a:rPr>
              <a:t>Container = an apartment in a building</a:t>
            </a:r>
            <a:endParaRPr lang="en-US" sz="2000" dirty="0"/>
          </a:p>
        </p:txBody>
      </p:sp>
      <p:sp>
        <p:nvSpPr>
          <p:cNvPr id="20" name="Text 18"/>
          <p:cNvSpPr txBox="1"/>
          <p:nvPr/>
        </p:nvSpPr>
        <p:spPr>
          <a:xfrm>
            <a:off x="6492240" y="4480560"/>
            <a:ext cx="4754880" cy="1188720"/>
          </a:xfrm>
          <a:prstGeom prst="rect">
            <a:avLst/>
          </a:prstGeom>
          <a:noFill/>
          <a:ln/>
        </p:spPr>
        <p:txBody>
          <a:bodyPr wrap="square" lIns="0" tIns="0" rIns="0" bIns="0" rtlCol="0" anchor="t"/>
          <a:lstStyle/>
          <a:p>
            <a:pPr marL="0" indent="0" algn="ctr">
              <a:buNone/>
            </a:pPr>
            <a:r>
              <a:rPr lang="en-US" sz="1600" dirty="0">
                <a:solidFill>
                  <a:schemeClr val="bg1"/>
                </a:solidFill>
              </a:rPr>
              <a:t>Your own locked space (processes, files, network), but the building’s foundation and plumbing (the host kernel) are shared. Fast to move into, cheap to run many.</a:t>
            </a:r>
            <a:endParaRPr lang="en-US" sz="1600" dirty="0"/>
          </a:p>
        </p:txBody>
      </p:sp>
      <p:sp>
        <p:nvSpPr>
          <p:cNvPr id="21" name="Shape 19"/>
          <p:cNvSpPr/>
          <p:nvPr/>
        </p:nvSpPr>
        <p:spPr>
          <a:xfrm>
            <a:off x="6099048" y="1737360"/>
            <a:ext cx="0" cy="3931920"/>
          </a:xfrm>
          <a:prstGeom prst="line">
            <a:avLst/>
          </a:prstGeom>
          <a:noFill/>
          <a:ln w="12700">
            <a:solidFill>
              <a:schemeClr val="accent6"/>
            </a:solidFill>
            <a:prstDash val="solid"/>
          </a:ln>
        </p:spPr>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CONTAINERS VS VMs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Side by side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508760"/>
          <a:ext cx="10698480" cy="4114800"/>
        </p:xfrm>
        <a:graphic>
          <a:graphicData uri="http://schemas.openxmlformats.org/drawingml/2006/table">
            <a:tbl>
              <a:tblPr/>
              <a:tblGrid>
                <a:gridCol w="23774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457200">
                <a:tc>
                  <a:txBody>
                    <a:bodyPr/>
                    <a:lstStyle/>
                    <a:p>
                      <a:pPr marL="0" indent="0">
                        <a:buNone/>
                      </a:pP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tc>
                  <a:txBody>
                    <a:bodyPr/>
                    <a:lstStyle/>
                    <a:p>
                      <a:pPr marL="0" indent="0">
                        <a:buNone/>
                      </a:pPr>
                      <a:r>
                        <a:rPr lang="en-US" sz="1400" b="1" dirty="0">
                          <a:solidFill>
                            <a:schemeClr val="accent4"/>
                          </a:solidFill>
                        </a:rPr>
                        <a:t>Virtual machine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tc>
                  <a:txBody>
                    <a:bodyPr/>
                    <a:lstStyle/>
                    <a:p>
                      <a:pPr marL="0" indent="0">
                        <a:buNone/>
                      </a:pPr>
                      <a:r>
                        <a:rPr lang="en-US" sz="1400" b="1" dirty="0">
                          <a:solidFill>
                            <a:schemeClr val="accent2"/>
                          </a:solidFill>
                        </a:rPr>
                        <a:t>Docker container</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bg1"/>
                          </a:solidFill>
                        </a:rPr>
                        <a:t>Architecture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E9D5D8"/>
                          </a:solidFill>
                        </a:rPr>
                        <a:t>Full guest OS per instance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D3F2EC"/>
                          </a:solidFill>
                        </a:rPr>
                        <a:t>Shares the host kernel</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bg1"/>
                          </a:solidFill>
                        </a:rPr>
                        <a:t>Startup time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E9D5D8"/>
                          </a:solidFill>
                        </a:rPr>
                        <a:t>Minutes</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D3F2EC"/>
                          </a:solidFill>
                        </a:rPr>
                        <a:t>Seconds</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bg1"/>
                          </a:solidFill>
                        </a:rPr>
                        <a:t>Resource usage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E9D5D8"/>
                          </a:solidFill>
                        </a:rPr>
                        <a:t>Higher (own OS overhead)</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D3F2EC"/>
                          </a:solidFill>
                        </a:rPr>
                        <a:t>Lower (process-level only)</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bg1"/>
                          </a:solidFill>
                        </a:rPr>
                        <a:t>Isolation</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E9D5D8"/>
                          </a:solidFill>
                        </a:rPr>
                        <a:t>Strong, hardware-level</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D3F2EC"/>
                          </a:solidFill>
                        </a:rPr>
                        <a:t>Strong, kernel-level</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chemeClr val="bg1"/>
                          </a:solidFill>
                        </a:rPr>
                        <a:t>Portability</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E9D5D8"/>
                          </a:solidFill>
                        </a:rPr>
                        <a:t>Large images, OS-bound</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D3F2EC"/>
                          </a:solidFill>
                        </a:rPr>
                        <a:t>Small images, portable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5"/>
                  </a:ext>
                </a:extLst>
              </a:tr>
              <a:tr h="457200">
                <a:tc>
                  <a:txBody>
                    <a:bodyPr/>
                    <a:lstStyle/>
                    <a:p>
                      <a:pPr marL="0" indent="0">
                        <a:buNone/>
                      </a:pPr>
                      <a:r>
                        <a:rPr lang="en-US" sz="1400" b="1" dirty="0">
                          <a:solidFill>
                            <a:schemeClr val="bg1"/>
                          </a:solidFill>
                        </a:rPr>
                        <a:t>Density</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E9D5D8"/>
                          </a:solidFill>
                        </a:rPr>
                        <a:t>Fewer workloads per host</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D3F2EC"/>
                          </a:solidFill>
                        </a:rPr>
                        <a:t>Many more workloads per host</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6"/>
                  </a:ext>
                </a:extLst>
              </a:tr>
              <a:tr h="457200">
                <a:tc>
                  <a:txBody>
                    <a:bodyPr/>
                    <a:lstStyle/>
                    <a:p>
                      <a:pPr marL="0" indent="0">
                        <a:buNone/>
                      </a:pPr>
                      <a:r>
                        <a:rPr lang="en-US" sz="1400" b="1" dirty="0">
                          <a:solidFill>
                            <a:schemeClr val="bg1"/>
                          </a:solidFill>
                        </a:rPr>
                        <a:t>OS requirement</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E9D5D8"/>
                          </a:solidFill>
                        </a:rPr>
                        <a:t>Any guest OS, independent</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D3F2EC"/>
                          </a:solidFill>
                        </a:rPr>
                        <a:t>Must share host kernel family</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7"/>
                  </a:ext>
                </a:extLst>
              </a:tr>
              <a:tr h="457200">
                <a:tc>
                  <a:txBody>
                    <a:bodyPr/>
                    <a:lstStyle/>
                    <a:p>
                      <a:pPr marL="0" indent="0">
                        <a:buNone/>
                      </a:pPr>
                      <a:r>
                        <a:rPr lang="en-US" sz="1400" b="1" dirty="0">
                          <a:solidFill>
                            <a:schemeClr val="bg1"/>
                          </a:solidFill>
                        </a:rPr>
                        <a:t>Typical use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E9D5D8"/>
                          </a:solidFill>
                        </a:rPr>
                        <a:t>Full isolation, legacy apps, multi-OS</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D3F2EC"/>
                          </a:solidFill>
                        </a:rPr>
                        <a:t>Microservices, CI/CD, cloud-native apps</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731520" y="5760720"/>
            <a:ext cx="10698480" cy="502920"/>
          </a:xfrm>
          <a:prstGeom prst="rect">
            <a:avLst/>
          </a:prstGeom>
          <a:noFill/>
          <a:ln/>
        </p:spPr>
        <p:txBody>
          <a:bodyPr wrap="square" lIns="0" tIns="0" rIns="0" bIns="0" rtlCol="0" anchor="t"/>
          <a:lstStyle/>
          <a:p>
            <a:pPr marL="0" indent="0">
              <a:buNone/>
            </a:pPr>
            <a:r>
              <a:rPr lang="en-US" sz="1300" i="1" dirty="0">
                <a:solidFill>
                  <a:schemeClr val="bg2"/>
                </a:solidFill>
              </a:rPr>
              <a:t>Docker isn’t always “better” than VMs: they solve similar problems differently. VMs give stronger hardware-level isolation; containers are lighter and faster.</a:t>
            </a:r>
            <a:endParaRPr lang="en-US" sz="13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863840" y="1280160"/>
            <a:ext cx="3840480" cy="3291840"/>
          </a:xfrm>
          <a:prstGeom prst="rect">
            <a:avLst/>
          </a:prstGeom>
          <a:noFill/>
          <a:ln/>
        </p:spPr>
        <p:txBody>
          <a:bodyPr wrap="square" lIns="0" tIns="0" rIns="0" bIns="0" rtlCol="0" anchor="ctr"/>
          <a:lstStyle/>
          <a:p>
            <a:pPr marL="0" indent="0" algn="r">
              <a:buNone/>
            </a:pPr>
            <a:r>
              <a:rPr lang="en-US" sz="22000" b="1" dirty="0">
                <a:solidFill>
                  <a:schemeClr val="accent5"/>
                </a:solidFill>
              </a:rPr>
              <a:t>04</a:t>
            </a:r>
            <a:endParaRPr lang="en-US" sz="22000" dirty="0"/>
          </a:p>
        </p:txBody>
      </p:sp>
      <p:sp>
        <p:nvSpPr>
          <p:cNvPr id="3" name="Text 0"/>
          <p:cNvSpPr>
            <a:spLocks noGrp="1"/>
          </p:cNvSpPr>
          <p:nvPr>
            <p:ph type="body" idx="100" hasCustomPrompt="1"/>
          </p:nvPr>
        </p:nvSpPr>
        <p:spPr>
          <a:xfrm>
            <a:off x="731520" y="2148840"/>
            <a:ext cx="7315200" cy="365760"/>
          </a:xfrm>
          <a:prstGeom prst="rect">
            <a:avLst/>
          </a:prstGeom>
          <a:noFill/>
          <a:ln/>
        </p:spPr>
        <p:txBody>
          <a:bodyPr wrap="square" lIns="0" tIns="0" rIns="0" bIns="0" rtlCol="0"/>
          <a:lstStyle/>
          <a:p>
            <a:pPr marL="0" indent="0">
              <a:buNone/>
            </a:pPr>
            <a:r>
              <a:rPr lang="en-US" sz="1400" b="1" kern="0" spc="400" dirty="0">
                <a:solidFill>
                  <a:schemeClr val="accent2"/>
                </a:solidFill>
              </a:rPr>
              <a:t>SECTION 04</a:t>
            </a:r>
            <a:endParaRPr lang="en-US" sz="1400" dirty="0"/>
          </a:p>
        </p:txBody>
      </p:sp>
      <p:sp>
        <p:nvSpPr>
          <p:cNvPr id="4" name="Text 0"/>
          <p:cNvSpPr>
            <a:spLocks noGrp="1"/>
          </p:cNvSpPr>
          <p:nvPr>
            <p:ph type="title" idx="101" hasCustomPrompt="1"/>
          </p:nvPr>
        </p:nvSpPr>
        <p:spPr>
          <a:xfrm>
            <a:off x="731520" y="2560320"/>
            <a:ext cx="6766560" cy="1371600"/>
          </a:xfrm>
          <a:prstGeom prst="rect">
            <a:avLst/>
          </a:prstGeom>
          <a:noFill/>
          <a:ln/>
        </p:spPr>
        <p:txBody>
          <a:bodyPr wrap="square" lIns="0" tIns="0" rIns="0" bIns="0" rtlCol="0" anchor="t"/>
          <a:lstStyle/>
          <a:p>
            <a:pPr marL="0" indent="0" algn="l">
              <a:buNone/>
            </a:pPr>
            <a:r>
              <a:rPr lang="en-US" sz="4000" b="1" dirty="0">
                <a:solidFill>
                  <a:schemeClr val="bg1"/>
                </a:solidFill>
              </a:rPr>
              <a:t>Docker fundamentals</a:t>
            </a:r>
            <a:endParaRPr lang="en-US" sz="4000" dirty="0"/>
          </a:p>
        </p:txBody>
      </p:sp>
      <p:sp>
        <p:nvSpPr>
          <p:cNvPr id="5" name="Text 0"/>
          <p:cNvSpPr>
            <a:spLocks noGrp="1"/>
          </p:cNvSpPr>
          <p:nvPr>
            <p:ph type="body" idx="102" hasCustomPrompt="1"/>
          </p:nvPr>
        </p:nvSpPr>
        <p:spPr>
          <a:xfrm>
            <a:off x="731520" y="4069080"/>
            <a:ext cx="6583680" cy="1280160"/>
          </a:xfrm>
          <a:prstGeom prst="rect">
            <a:avLst/>
          </a:prstGeom>
          <a:noFill/>
          <a:ln/>
        </p:spPr>
        <p:txBody>
          <a:bodyPr wrap="square" lIns="0" tIns="0" rIns="0" bIns="0" rtlCol="0" anchor="t"/>
          <a:lstStyle/>
          <a:p>
            <a:pPr marL="0" indent="0" algn="l">
              <a:buNone/>
            </a:pPr>
            <a:r>
              <a:rPr lang="en-US" sz="2200" i="1" dirty="0">
                <a:solidFill>
                  <a:schemeClr val="bg2"/>
                </a:solidFill>
              </a:rPr>
              <a:t>Containers existed for decades. So why did Docker change everything?</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WHAT IS DOCKER?</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One box that runs the same way everywhere</a:t>
            </a:r>
            <a:endParaRPr lang="en-US" sz="3000" dirty="0"/>
          </a:p>
        </p:txBody>
      </p:sp>
      <p:sp>
        <p:nvSpPr>
          <p:cNvPr id="4" name="Text 2"/>
          <p:cNvSpPr txBox="1"/>
          <p:nvPr/>
        </p:nvSpPr>
        <p:spPr>
          <a:xfrm>
            <a:off x="731520" y="1600200"/>
            <a:ext cx="4206240" cy="2743200"/>
          </a:xfrm>
          <a:prstGeom prst="rect">
            <a:avLst/>
          </a:prstGeom>
          <a:noFill/>
          <a:ln/>
        </p:spPr>
        <p:txBody>
          <a:bodyPr wrap="square" lIns="0" tIns="0" rIns="0" bIns="0" rtlCol="0" anchor="t"/>
          <a:lstStyle/>
          <a:p>
            <a:pPr marL="0" indent="0">
              <a:buNone/>
            </a:pPr>
            <a:r>
              <a:rPr lang="en-US" sz="2000" dirty="0">
                <a:solidFill>
                  <a:schemeClr val="bg1"/>
                </a:solidFill>
              </a:rPr>
              <a:t>Docker is a tool that packs an app and everything it needs (code, runtime, libraries) into one box called a container. That container runs the same way on any computer.</a:t>
            </a:r>
            <a:endParaRPr lang="en-US" sz="2000" dirty="0"/>
          </a:p>
        </p:txBody>
      </p:sp>
      <p:sp>
        <p:nvSpPr>
          <p:cNvPr id="5" name="Text 3"/>
          <p:cNvSpPr txBox="1"/>
          <p:nvPr/>
        </p:nvSpPr>
        <p:spPr>
          <a:xfrm>
            <a:off x="5394960" y="1554480"/>
            <a:ext cx="6035040" cy="274320"/>
          </a:xfrm>
          <a:prstGeom prst="rect">
            <a:avLst/>
          </a:prstGeom>
          <a:noFill/>
          <a:ln/>
        </p:spPr>
        <p:txBody>
          <a:bodyPr wrap="square" lIns="0" tIns="0" rIns="0" bIns="0" rtlCol="0" anchor="t"/>
          <a:lstStyle/>
          <a:p>
            <a:pPr marL="0" indent="0">
              <a:buNone/>
            </a:pPr>
            <a:r>
              <a:rPr lang="en-US" sz="1200" b="1" kern="0" spc="200" dirty="0">
                <a:solidFill>
                  <a:schemeClr val="bg2"/>
                </a:solidFill>
              </a:rPr>
              <a:t>EXAMPLE · AN ONLINE SHOPPING WEBSITE</a:t>
            </a:r>
            <a:endParaRPr lang="en-US" sz="1200" dirty="0"/>
          </a:p>
        </p:txBody>
      </p:sp>
      <p:sp>
        <p:nvSpPr>
          <p:cNvPr id="6" name="Text 4"/>
          <p:cNvSpPr txBox="1"/>
          <p:nvPr/>
        </p:nvSpPr>
        <p:spPr>
          <a:xfrm>
            <a:off x="5394960" y="1965960"/>
            <a:ext cx="2834640" cy="365760"/>
          </a:xfrm>
          <a:prstGeom prst="rect">
            <a:avLst/>
          </a:prstGeom>
          <a:noFill/>
          <a:ln/>
        </p:spPr>
        <p:txBody>
          <a:bodyPr wrap="square" lIns="0" tIns="0" rIns="0" bIns="0" rtlCol="0" anchor="t"/>
          <a:lstStyle/>
          <a:p>
            <a:pPr marL="0" indent="0" algn="ctr">
              <a:buNone/>
            </a:pPr>
            <a:r>
              <a:rPr lang="en-US" sz="1600" b="1" dirty="0">
                <a:solidFill>
                  <a:schemeClr val="accent4"/>
                </a:solidFill>
              </a:rPr>
              <a:t>Without Docker</a:t>
            </a:r>
            <a:endParaRPr lang="en-US" sz="1600" dirty="0"/>
          </a:p>
        </p:txBody>
      </p:sp>
      <p:sp>
        <p:nvSpPr>
          <p:cNvPr id="7" name="Text 5"/>
          <p:cNvSpPr txBox="1"/>
          <p:nvPr/>
        </p:nvSpPr>
        <p:spPr>
          <a:xfrm>
            <a:off x="8595360" y="1965960"/>
            <a:ext cx="2834640" cy="365760"/>
          </a:xfrm>
          <a:prstGeom prst="rect">
            <a:avLst/>
          </a:prstGeom>
          <a:noFill/>
          <a:ln/>
        </p:spPr>
        <p:txBody>
          <a:bodyPr wrap="square" lIns="0" tIns="0" rIns="0" bIns="0" rtlCol="0" anchor="t"/>
          <a:lstStyle/>
          <a:p>
            <a:pPr marL="0" indent="0" algn="ctr">
              <a:buNone/>
            </a:pPr>
            <a:r>
              <a:rPr lang="en-US" sz="1600" b="1" dirty="0">
                <a:solidFill>
                  <a:schemeClr val="accent2"/>
                </a:solidFill>
              </a:rPr>
              <a:t>With Docker</a:t>
            </a:r>
            <a:endParaRPr lang="en-US" sz="1600" dirty="0"/>
          </a:p>
        </p:txBody>
      </p:sp>
      <p:sp>
        <p:nvSpPr>
          <p:cNvPr id="8" name="Shape 6"/>
          <p:cNvSpPr/>
          <p:nvPr/>
        </p:nvSpPr>
        <p:spPr>
          <a:xfrm>
            <a:off x="5394960" y="2468880"/>
            <a:ext cx="2834640" cy="914400"/>
          </a:xfrm>
          <a:prstGeom prst="roundRect">
            <a:avLst>
              <a:gd name="adj" fmla="val 10000"/>
            </a:avLst>
          </a:prstGeom>
          <a:solidFill>
            <a:schemeClr val="tx2"/>
          </a:solidFill>
          <a:ln w="12700">
            <a:solidFill>
              <a:schemeClr val="accent6"/>
            </a:solidFill>
            <a:prstDash val="solid"/>
          </a:ln>
        </p:spPr>
      </p:sp>
      <p:sp>
        <p:nvSpPr>
          <p:cNvPr id="9" name="Text 7"/>
          <p:cNvSpPr txBox="1"/>
          <p:nvPr/>
        </p:nvSpPr>
        <p:spPr>
          <a:xfrm>
            <a:off x="5468112" y="2468880"/>
            <a:ext cx="2688336" cy="91440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Developer laptop</a:t>
            </a:r>
            <a:endParaRPr lang="en-US" sz="1500" dirty="0"/>
          </a:p>
          <a:p>
            <a:pPr marL="0" indent="0" algn="ctr">
              <a:spcAft>
                <a:spcPts val="200"/>
              </a:spcAft>
              <a:buNone/>
            </a:pPr>
            <a:r>
              <a:rPr lang="en-US" sz="1300" dirty="0">
                <a:solidFill>
                  <a:schemeClr val="bg2"/>
                </a:solidFill>
              </a:rPr>
              <a:t>Node.js 20 · app works</a:t>
            </a:r>
            <a:endParaRPr lang="en-US" sz="1500" dirty="0"/>
          </a:p>
        </p:txBody>
      </p:sp>
      <p:sp>
        <p:nvSpPr>
          <p:cNvPr id="10" name="Shape 8"/>
          <p:cNvSpPr/>
          <p:nvPr/>
        </p:nvSpPr>
        <p:spPr>
          <a:xfrm>
            <a:off x="6812280" y="3429000"/>
            <a:ext cx="0" cy="457200"/>
          </a:xfrm>
          <a:prstGeom prst="line">
            <a:avLst/>
          </a:prstGeom>
          <a:noFill/>
          <a:ln w="22225">
            <a:solidFill>
              <a:schemeClr val="bg2"/>
            </a:solidFill>
            <a:prstDash val="solid"/>
            <a:tailEnd type="triangle"/>
          </a:ln>
        </p:spPr>
      </p:sp>
      <p:sp>
        <p:nvSpPr>
          <p:cNvPr id="11" name="Shape 9"/>
          <p:cNvSpPr/>
          <p:nvPr/>
        </p:nvSpPr>
        <p:spPr>
          <a:xfrm>
            <a:off x="5394960" y="3931920"/>
            <a:ext cx="2834640" cy="914400"/>
          </a:xfrm>
          <a:prstGeom prst="roundRect">
            <a:avLst>
              <a:gd name="adj" fmla="val 10000"/>
            </a:avLst>
          </a:prstGeom>
          <a:solidFill>
            <a:srgbClr val="3A2430"/>
          </a:solidFill>
          <a:ln w="12700">
            <a:solidFill>
              <a:schemeClr val="accent4"/>
            </a:solidFill>
            <a:prstDash val="solid"/>
          </a:ln>
        </p:spPr>
      </p:sp>
      <p:sp>
        <p:nvSpPr>
          <p:cNvPr id="12" name="Text 10"/>
          <p:cNvSpPr txBox="1"/>
          <p:nvPr/>
        </p:nvSpPr>
        <p:spPr>
          <a:xfrm>
            <a:off x="5468112" y="3931920"/>
            <a:ext cx="2688336" cy="914400"/>
          </a:xfrm>
          <a:prstGeom prst="rect">
            <a:avLst/>
          </a:prstGeom>
          <a:noFill/>
          <a:ln/>
        </p:spPr>
        <p:txBody>
          <a:bodyPr wrap="square" lIns="0" tIns="0" rIns="0" bIns="0" rtlCol="0" anchor="ctr"/>
          <a:lstStyle/>
          <a:p>
            <a:pPr marL="0" indent="0" algn="ctr">
              <a:spcAft>
                <a:spcPts val="200"/>
              </a:spcAft>
              <a:buNone/>
            </a:pPr>
            <a:r>
              <a:rPr lang="en-US" sz="1500" b="1" dirty="0">
                <a:solidFill>
                  <a:schemeClr val="accent4"/>
                </a:solidFill>
              </a:rPr>
              <a:t>Production server</a:t>
            </a:r>
            <a:endParaRPr lang="en-US" sz="1500" dirty="0"/>
          </a:p>
          <a:p>
            <a:pPr marL="0" indent="0" algn="ctr">
              <a:spcAft>
                <a:spcPts val="200"/>
              </a:spcAft>
              <a:buNone/>
            </a:pPr>
            <a:r>
              <a:rPr lang="en-US" sz="1300" dirty="0">
                <a:solidFill>
                  <a:srgbClr val="E9D5D8"/>
                </a:solidFill>
              </a:rPr>
              <a:t>Node.js 16 · app crashes</a:t>
            </a:r>
            <a:endParaRPr lang="en-US" sz="1500" dirty="0"/>
          </a:p>
        </p:txBody>
      </p:sp>
      <p:sp>
        <p:nvSpPr>
          <p:cNvPr id="13" name="Shape 11"/>
          <p:cNvSpPr/>
          <p:nvPr/>
        </p:nvSpPr>
        <p:spPr>
          <a:xfrm>
            <a:off x="8595360" y="2468880"/>
            <a:ext cx="2834640" cy="914400"/>
          </a:xfrm>
          <a:prstGeom prst="roundRect">
            <a:avLst>
              <a:gd name="adj" fmla="val 10000"/>
            </a:avLst>
          </a:prstGeom>
          <a:solidFill>
            <a:srgbClr val="0F3A66"/>
          </a:solidFill>
          <a:ln w="12700">
            <a:solidFill>
              <a:schemeClr val="accent1"/>
            </a:solidFill>
            <a:prstDash val="solid"/>
          </a:ln>
        </p:spPr>
      </p:sp>
      <p:sp>
        <p:nvSpPr>
          <p:cNvPr id="14" name="Text 12"/>
          <p:cNvSpPr txBox="1"/>
          <p:nvPr/>
        </p:nvSpPr>
        <p:spPr>
          <a:xfrm>
            <a:off x="8668512" y="2468880"/>
            <a:ext cx="2688336" cy="91440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Docker container</a:t>
            </a:r>
            <a:endParaRPr lang="en-US" sz="1500" dirty="0"/>
          </a:p>
          <a:p>
            <a:pPr marL="0" indent="0" algn="ctr">
              <a:spcAft>
                <a:spcPts val="200"/>
              </a:spcAft>
              <a:buNone/>
            </a:pPr>
            <a:r>
              <a:rPr lang="en-US" sz="1300" dirty="0">
                <a:solidFill>
                  <a:srgbClr val="CFE3FA"/>
                </a:solidFill>
              </a:rPr>
              <a:t>App + Node.js 20 + libraries</a:t>
            </a:r>
            <a:endParaRPr lang="en-US" sz="1500" dirty="0"/>
          </a:p>
        </p:txBody>
      </p:sp>
      <p:sp>
        <p:nvSpPr>
          <p:cNvPr id="15" name="Shape 13"/>
          <p:cNvSpPr/>
          <p:nvPr/>
        </p:nvSpPr>
        <p:spPr>
          <a:xfrm>
            <a:off x="10012680" y="3429000"/>
            <a:ext cx="0" cy="457200"/>
          </a:xfrm>
          <a:prstGeom prst="line">
            <a:avLst/>
          </a:prstGeom>
          <a:noFill/>
          <a:ln w="22225">
            <a:solidFill>
              <a:schemeClr val="bg2"/>
            </a:solidFill>
            <a:prstDash val="solid"/>
            <a:tailEnd type="triangle"/>
          </a:ln>
        </p:spPr>
      </p:sp>
      <p:sp>
        <p:nvSpPr>
          <p:cNvPr id="16" name="Shape 14"/>
          <p:cNvSpPr/>
          <p:nvPr/>
        </p:nvSpPr>
        <p:spPr>
          <a:xfrm>
            <a:off x="8595360" y="3931920"/>
            <a:ext cx="2834640" cy="914400"/>
          </a:xfrm>
          <a:prstGeom prst="roundRect">
            <a:avLst>
              <a:gd name="adj" fmla="val 10000"/>
            </a:avLst>
          </a:prstGeom>
          <a:solidFill>
            <a:srgbClr val="0F3B3A"/>
          </a:solidFill>
          <a:ln w="12700">
            <a:solidFill>
              <a:schemeClr val="accent2"/>
            </a:solidFill>
            <a:prstDash val="solid"/>
          </a:ln>
        </p:spPr>
      </p:sp>
      <p:sp>
        <p:nvSpPr>
          <p:cNvPr id="17" name="Text 15"/>
          <p:cNvSpPr txBox="1"/>
          <p:nvPr/>
        </p:nvSpPr>
        <p:spPr>
          <a:xfrm>
            <a:off x="8668512" y="3931920"/>
            <a:ext cx="2688336" cy="914400"/>
          </a:xfrm>
          <a:prstGeom prst="rect">
            <a:avLst/>
          </a:prstGeom>
          <a:noFill/>
          <a:ln/>
        </p:spPr>
        <p:txBody>
          <a:bodyPr wrap="square" lIns="0" tIns="0" rIns="0" bIns="0" rtlCol="0" anchor="ctr"/>
          <a:lstStyle/>
          <a:p>
            <a:pPr marL="0" indent="0" algn="ctr">
              <a:spcAft>
                <a:spcPts val="200"/>
              </a:spcAft>
              <a:buNone/>
            </a:pPr>
            <a:r>
              <a:rPr lang="en-US" sz="1500" b="1" dirty="0">
                <a:solidFill>
                  <a:schemeClr val="accent2"/>
                </a:solidFill>
              </a:rPr>
              <a:t>Any server or cloud</a:t>
            </a:r>
            <a:endParaRPr lang="en-US" sz="1500" dirty="0"/>
          </a:p>
          <a:p>
            <a:pPr marL="0" indent="0" algn="ctr">
              <a:spcAft>
                <a:spcPts val="200"/>
              </a:spcAft>
              <a:buNone/>
            </a:pPr>
            <a:r>
              <a:rPr lang="en-US" sz="1300" dirty="0">
                <a:solidFill>
                  <a:srgbClr val="D3F2EC"/>
                </a:solidFill>
              </a:rPr>
              <a:t>Same container · app works</a:t>
            </a:r>
            <a:endParaRPr lang="en-US" sz="1500" dirty="0"/>
          </a:p>
        </p:txBody>
      </p:sp>
      <p:sp>
        <p:nvSpPr>
          <p:cNvPr id="18" name="Text 16"/>
          <p:cNvSpPr txBox="1"/>
          <p:nvPr/>
        </p:nvSpPr>
        <p:spPr>
          <a:xfrm>
            <a:off x="5394960" y="5166360"/>
            <a:ext cx="6035040" cy="411480"/>
          </a:xfrm>
          <a:prstGeom prst="rect">
            <a:avLst/>
          </a:prstGeom>
          <a:noFill/>
          <a:ln/>
        </p:spPr>
        <p:txBody>
          <a:bodyPr wrap="square" lIns="0" tIns="0" rIns="0" bIns="0" rtlCol="0" anchor="t"/>
          <a:lstStyle/>
          <a:p>
            <a:pPr marL="0" indent="0" algn="ctr">
              <a:buNone/>
            </a:pPr>
            <a:r>
              <a:rPr lang="en-US" sz="1600" b="1" dirty="0">
                <a:solidFill>
                  <a:schemeClr val="bg1"/>
                </a:solidFill>
              </a:rPr>
              <a:t>Docker ends the “it works on my machine” problem.</a:t>
            </a:r>
            <a:endParaRPr lang="en-US" sz="16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WHY DOCKER?</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Containers existed. So why Docker?</a:t>
            </a:r>
            <a:endParaRPr lang="en-US" sz="3000" dirty="0"/>
          </a:p>
        </p:txBody>
      </p:sp>
      <p:sp>
        <p:nvSpPr>
          <p:cNvPr id="4" name="Text 2"/>
          <p:cNvSpPr txBox="1"/>
          <p:nvPr/>
        </p:nvSpPr>
        <p:spPr>
          <a:xfrm>
            <a:off x="731520" y="1463040"/>
            <a:ext cx="10698480" cy="365760"/>
          </a:xfrm>
          <a:prstGeom prst="rect">
            <a:avLst/>
          </a:prstGeom>
          <a:noFill/>
          <a:ln/>
        </p:spPr>
        <p:txBody>
          <a:bodyPr wrap="square" lIns="0" tIns="0" rIns="0" bIns="0" rtlCol="0" anchor="t"/>
          <a:lstStyle/>
          <a:p>
            <a:pPr marL="0" indent="0">
              <a:buNone/>
            </a:pPr>
            <a:r>
              <a:rPr lang="en-US" sz="1600" dirty="0">
                <a:solidFill>
                  <a:schemeClr val="bg2"/>
                </a:solidFill>
              </a:rPr>
              <a:t>Earlier container technology (chroot, LXC) was powerful but hard to use in practice:</a:t>
            </a:r>
            <a:endParaRPr lang="en-US" sz="1600" dirty="0"/>
          </a:p>
        </p:txBody>
      </p:sp>
      <p:sp>
        <p:nvSpPr>
          <p:cNvPr id="5" name="Shape 3"/>
          <p:cNvSpPr/>
          <p:nvPr/>
        </p:nvSpPr>
        <p:spPr>
          <a:xfrm>
            <a:off x="731520" y="1965960"/>
            <a:ext cx="2560320" cy="438912"/>
          </a:xfrm>
          <a:prstGeom prst="roundRect">
            <a:avLst>
              <a:gd name="adj" fmla="val 50000"/>
            </a:avLst>
          </a:prstGeom>
          <a:solidFill>
            <a:srgbClr val="3A2430"/>
          </a:solidFill>
          <a:ln w="12700">
            <a:solidFill>
              <a:srgbClr val="3A2430"/>
            </a:solidFill>
            <a:prstDash val="solid"/>
          </a:ln>
        </p:spPr>
      </p:sp>
      <p:sp>
        <p:nvSpPr>
          <p:cNvPr id="6" name="Text 4"/>
          <p:cNvSpPr txBox="1"/>
          <p:nvPr/>
        </p:nvSpPr>
        <p:spPr>
          <a:xfrm>
            <a:off x="731520" y="1965960"/>
            <a:ext cx="2560320" cy="438912"/>
          </a:xfrm>
          <a:prstGeom prst="rect">
            <a:avLst/>
          </a:prstGeom>
          <a:noFill/>
          <a:ln/>
        </p:spPr>
        <p:txBody>
          <a:bodyPr wrap="square" lIns="0" tIns="0" rIns="0" bIns="0" rtlCol="0" anchor="ctr"/>
          <a:lstStyle/>
          <a:p>
            <a:pPr marL="0" indent="0" algn="ctr">
              <a:buNone/>
            </a:pPr>
            <a:r>
              <a:rPr lang="en-US" sz="1300" b="1" dirty="0">
                <a:solidFill>
                  <a:schemeClr val="accent4"/>
                </a:solidFill>
              </a:rPr>
              <a:t>Complex to configure</a:t>
            </a:r>
            <a:endParaRPr lang="en-US" sz="1300" dirty="0"/>
          </a:p>
        </p:txBody>
      </p:sp>
      <p:sp>
        <p:nvSpPr>
          <p:cNvPr id="7" name="Shape 5"/>
          <p:cNvSpPr/>
          <p:nvPr/>
        </p:nvSpPr>
        <p:spPr>
          <a:xfrm>
            <a:off x="3474720" y="1965960"/>
            <a:ext cx="2560320" cy="438912"/>
          </a:xfrm>
          <a:prstGeom prst="roundRect">
            <a:avLst>
              <a:gd name="adj" fmla="val 50000"/>
            </a:avLst>
          </a:prstGeom>
          <a:solidFill>
            <a:srgbClr val="3A2430"/>
          </a:solidFill>
          <a:ln w="12700">
            <a:solidFill>
              <a:srgbClr val="3A2430"/>
            </a:solidFill>
            <a:prstDash val="solid"/>
          </a:ln>
        </p:spPr>
      </p:sp>
      <p:sp>
        <p:nvSpPr>
          <p:cNvPr id="8" name="Text 6"/>
          <p:cNvSpPr txBox="1"/>
          <p:nvPr/>
        </p:nvSpPr>
        <p:spPr>
          <a:xfrm>
            <a:off x="3474720" y="1965960"/>
            <a:ext cx="2560320" cy="438912"/>
          </a:xfrm>
          <a:prstGeom prst="rect">
            <a:avLst/>
          </a:prstGeom>
          <a:noFill/>
          <a:ln/>
        </p:spPr>
        <p:txBody>
          <a:bodyPr wrap="square" lIns="0" tIns="0" rIns="0" bIns="0" rtlCol="0" anchor="ctr"/>
          <a:lstStyle/>
          <a:p>
            <a:pPr marL="0" indent="0" algn="ctr">
              <a:buNone/>
            </a:pPr>
            <a:r>
              <a:rPr lang="en-US" sz="1300" b="1" dirty="0">
                <a:solidFill>
                  <a:schemeClr val="accent4"/>
                </a:solidFill>
              </a:rPr>
              <a:t>Difficult packaging</a:t>
            </a:r>
            <a:endParaRPr lang="en-US" sz="1300" dirty="0"/>
          </a:p>
        </p:txBody>
      </p:sp>
      <p:sp>
        <p:nvSpPr>
          <p:cNvPr id="9" name="Shape 7"/>
          <p:cNvSpPr/>
          <p:nvPr/>
        </p:nvSpPr>
        <p:spPr>
          <a:xfrm>
            <a:off x="6217920" y="1965960"/>
            <a:ext cx="2560320" cy="438912"/>
          </a:xfrm>
          <a:prstGeom prst="roundRect">
            <a:avLst>
              <a:gd name="adj" fmla="val 50000"/>
            </a:avLst>
          </a:prstGeom>
          <a:solidFill>
            <a:srgbClr val="3A2430"/>
          </a:solidFill>
          <a:ln w="12700">
            <a:solidFill>
              <a:srgbClr val="3A2430"/>
            </a:solidFill>
            <a:prstDash val="solid"/>
          </a:ln>
        </p:spPr>
      </p:sp>
      <p:sp>
        <p:nvSpPr>
          <p:cNvPr id="10" name="Text 8"/>
          <p:cNvSpPr txBox="1"/>
          <p:nvPr/>
        </p:nvSpPr>
        <p:spPr>
          <a:xfrm>
            <a:off x="6217920" y="1965960"/>
            <a:ext cx="2560320" cy="438912"/>
          </a:xfrm>
          <a:prstGeom prst="rect">
            <a:avLst/>
          </a:prstGeom>
          <a:noFill/>
          <a:ln/>
        </p:spPr>
        <p:txBody>
          <a:bodyPr wrap="square" lIns="0" tIns="0" rIns="0" bIns="0" rtlCol="0" anchor="ctr"/>
          <a:lstStyle/>
          <a:p>
            <a:pPr marL="0" indent="0" algn="ctr">
              <a:buNone/>
            </a:pPr>
            <a:r>
              <a:rPr lang="en-US" sz="1300" b="1" dirty="0">
                <a:solidFill>
                  <a:schemeClr val="accent4"/>
                </a:solidFill>
              </a:rPr>
              <a:t>Difficult distribution</a:t>
            </a:r>
            <a:endParaRPr lang="en-US" sz="1300" dirty="0"/>
          </a:p>
        </p:txBody>
      </p:sp>
      <p:sp>
        <p:nvSpPr>
          <p:cNvPr id="11" name="Shape 9"/>
          <p:cNvSpPr/>
          <p:nvPr/>
        </p:nvSpPr>
        <p:spPr>
          <a:xfrm>
            <a:off x="731520" y="2532888"/>
            <a:ext cx="2560320" cy="438912"/>
          </a:xfrm>
          <a:prstGeom prst="roundRect">
            <a:avLst>
              <a:gd name="adj" fmla="val 50000"/>
            </a:avLst>
          </a:prstGeom>
          <a:solidFill>
            <a:srgbClr val="3A2430"/>
          </a:solidFill>
          <a:ln w="12700">
            <a:solidFill>
              <a:srgbClr val="3A2430"/>
            </a:solidFill>
            <a:prstDash val="solid"/>
          </a:ln>
        </p:spPr>
      </p:sp>
      <p:sp>
        <p:nvSpPr>
          <p:cNvPr id="12" name="Text 10"/>
          <p:cNvSpPr txBox="1"/>
          <p:nvPr/>
        </p:nvSpPr>
        <p:spPr>
          <a:xfrm>
            <a:off x="731520" y="2532888"/>
            <a:ext cx="2560320" cy="438912"/>
          </a:xfrm>
          <a:prstGeom prst="rect">
            <a:avLst/>
          </a:prstGeom>
          <a:noFill/>
          <a:ln/>
        </p:spPr>
        <p:txBody>
          <a:bodyPr wrap="square" lIns="0" tIns="0" rIns="0" bIns="0" rtlCol="0" anchor="ctr"/>
          <a:lstStyle/>
          <a:p>
            <a:pPr marL="0" indent="0" algn="ctr">
              <a:buNone/>
            </a:pPr>
            <a:r>
              <a:rPr lang="en-US" sz="1300" b="1" dirty="0">
                <a:solidFill>
                  <a:schemeClr val="accent4"/>
                </a:solidFill>
              </a:rPr>
              <a:t>Environment inconsistency</a:t>
            </a:r>
            <a:endParaRPr lang="en-US" sz="1300" dirty="0"/>
          </a:p>
        </p:txBody>
      </p:sp>
      <p:sp>
        <p:nvSpPr>
          <p:cNvPr id="13" name="Shape 11"/>
          <p:cNvSpPr/>
          <p:nvPr/>
        </p:nvSpPr>
        <p:spPr>
          <a:xfrm>
            <a:off x="3474720" y="2532888"/>
            <a:ext cx="2560320" cy="438912"/>
          </a:xfrm>
          <a:prstGeom prst="roundRect">
            <a:avLst>
              <a:gd name="adj" fmla="val 50000"/>
            </a:avLst>
          </a:prstGeom>
          <a:solidFill>
            <a:srgbClr val="3A2430"/>
          </a:solidFill>
          <a:ln w="12700">
            <a:solidFill>
              <a:srgbClr val="3A2430"/>
            </a:solidFill>
            <a:prstDash val="solid"/>
          </a:ln>
        </p:spPr>
      </p:sp>
      <p:sp>
        <p:nvSpPr>
          <p:cNvPr id="14" name="Text 12"/>
          <p:cNvSpPr txBox="1"/>
          <p:nvPr/>
        </p:nvSpPr>
        <p:spPr>
          <a:xfrm>
            <a:off x="3474720" y="2532888"/>
            <a:ext cx="2560320" cy="438912"/>
          </a:xfrm>
          <a:prstGeom prst="rect">
            <a:avLst/>
          </a:prstGeom>
          <a:noFill/>
          <a:ln/>
        </p:spPr>
        <p:txBody>
          <a:bodyPr wrap="square" lIns="0" tIns="0" rIns="0" bIns="0" rtlCol="0" anchor="ctr"/>
          <a:lstStyle/>
          <a:p>
            <a:pPr marL="0" indent="0" algn="ctr">
              <a:buNone/>
            </a:pPr>
            <a:r>
              <a:rPr lang="en-US" sz="1300" b="1" dirty="0">
                <a:solidFill>
                  <a:schemeClr val="accent4"/>
                </a:solidFill>
              </a:rPr>
              <a:t>Poor developer experience</a:t>
            </a:r>
            <a:endParaRPr lang="en-US" sz="1300" dirty="0"/>
          </a:p>
        </p:txBody>
      </p:sp>
      <p:sp>
        <p:nvSpPr>
          <p:cNvPr id="15" name="Shape 13"/>
          <p:cNvSpPr/>
          <p:nvPr/>
        </p:nvSpPr>
        <p:spPr>
          <a:xfrm>
            <a:off x="6217920" y="2532888"/>
            <a:ext cx="2560320" cy="438912"/>
          </a:xfrm>
          <a:prstGeom prst="roundRect">
            <a:avLst>
              <a:gd name="adj" fmla="val 50000"/>
            </a:avLst>
          </a:prstGeom>
          <a:solidFill>
            <a:srgbClr val="3A2430"/>
          </a:solidFill>
          <a:ln w="12700">
            <a:solidFill>
              <a:srgbClr val="3A2430"/>
            </a:solidFill>
            <a:prstDash val="solid"/>
          </a:ln>
        </p:spPr>
      </p:sp>
      <p:sp>
        <p:nvSpPr>
          <p:cNvPr id="16" name="Text 14"/>
          <p:cNvSpPr txBox="1"/>
          <p:nvPr/>
        </p:nvSpPr>
        <p:spPr>
          <a:xfrm>
            <a:off x="6217920" y="2532888"/>
            <a:ext cx="2560320" cy="438912"/>
          </a:xfrm>
          <a:prstGeom prst="rect">
            <a:avLst/>
          </a:prstGeom>
          <a:noFill/>
          <a:ln/>
        </p:spPr>
        <p:txBody>
          <a:bodyPr wrap="square" lIns="0" tIns="0" rIns="0" bIns="0" rtlCol="0" anchor="ctr"/>
          <a:lstStyle/>
          <a:p>
            <a:pPr marL="0" indent="0" algn="ctr">
              <a:buNone/>
            </a:pPr>
            <a:r>
              <a:rPr lang="en-US" sz="1300" b="1" dirty="0">
                <a:solidFill>
                  <a:schemeClr val="accent4"/>
                </a:solidFill>
              </a:rPr>
              <a:t>Hard to repeat deployments</a:t>
            </a:r>
            <a:endParaRPr lang="en-US" sz="1300" dirty="0"/>
          </a:p>
        </p:txBody>
      </p:sp>
      <p:sp>
        <p:nvSpPr>
          <p:cNvPr id="17" name="Text 15"/>
          <p:cNvSpPr txBox="1"/>
          <p:nvPr/>
        </p:nvSpPr>
        <p:spPr>
          <a:xfrm>
            <a:off x="731520" y="3291840"/>
            <a:ext cx="5029200" cy="365760"/>
          </a:xfrm>
          <a:prstGeom prst="rect">
            <a:avLst/>
          </a:prstGeom>
          <a:noFill/>
          <a:ln/>
        </p:spPr>
        <p:txBody>
          <a:bodyPr wrap="square" lIns="0" tIns="0" rIns="0" bIns="0" rtlCol="0" anchor="t"/>
          <a:lstStyle/>
          <a:p>
            <a:pPr marL="0" indent="0">
              <a:buNone/>
            </a:pPr>
            <a:r>
              <a:rPr lang="en-US" sz="1700" b="1" dirty="0">
                <a:solidFill>
                  <a:schemeClr val="accent4"/>
                </a:solidFill>
              </a:rPr>
              <a:t>Before Docker</a:t>
            </a:r>
            <a:endParaRPr lang="en-US" sz="1700" dirty="0"/>
          </a:p>
        </p:txBody>
      </p:sp>
      <p:sp>
        <p:nvSpPr>
          <p:cNvPr id="18" name="Shape 16"/>
          <p:cNvSpPr/>
          <p:nvPr/>
        </p:nvSpPr>
        <p:spPr>
          <a:xfrm>
            <a:off x="731520" y="3749040"/>
            <a:ext cx="5029200" cy="365760"/>
          </a:xfrm>
          <a:prstGeom prst="roundRect">
            <a:avLst>
              <a:gd name="adj" fmla="val 50000"/>
            </a:avLst>
          </a:prstGeom>
          <a:solidFill>
            <a:schemeClr val="tx2"/>
          </a:solidFill>
          <a:ln w="12700">
            <a:solidFill>
              <a:schemeClr val="tx2"/>
            </a:solidFill>
            <a:prstDash val="solid"/>
          </a:ln>
        </p:spPr>
      </p:sp>
      <p:sp>
        <p:nvSpPr>
          <p:cNvPr id="19" name="Text 17"/>
          <p:cNvSpPr txBox="1"/>
          <p:nvPr/>
        </p:nvSpPr>
        <p:spPr>
          <a:xfrm>
            <a:off x="731520" y="3749040"/>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Code</a:t>
            </a:r>
            <a:endParaRPr lang="en-US" sz="1400" dirty="0"/>
          </a:p>
        </p:txBody>
      </p:sp>
      <p:sp>
        <p:nvSpPr>
          <p:cNvPr id="20" name="Shape 18"/>
          <p:cNvSpPr/>
          <p:nvPr/>
        </p:nvSpPr>
        <p:spPr>
          <a:xfrm>
            <a:off x="3246120" y="4123944"/>
            <a:ext cx="0" cy="91440"/>
          </a:xfrm>
          <a:prstGeom prst="line">
            <a:avLst/>
          </a:prstGeom>
          <a:noFill/>
          <a:ln w="15875">
            <a:solidFill>
              <a:schemeClr val="accent4"/>
            </a:solidFill>
            <a:prstDash val="solid"/>
            <a:tailEnd type="triangle"/>
          </a:ln>
        </p:spPr>
      </p:sp>
      <p:sp>
        <p:nvSpPr>
          <p:cNvPr id="21" name="Shape 19"/>
          <p:cNvSpPr/>
          <p:nvPr/>
        </p:nvSpPr>
        <p:spPr>
          <a:xfrm>
            <a:off x="731520" y="4224528"/>
            <a:ext cx="5029200" cy="365760"/>
          </a:xfrm>
          <a:prstGeom prst="roundRect">
            <a:avLst>
              <a:gd name="adj" fmla="val 50000"/>
            </a:avLst>
          </a:prstGeom>
          <a:solidFill>
            <a:schemeClr val="tx2"/>
          </a:solidFill>
          <a:ln w="12700">
            <a:solidFill>
              <a:schemeClr val="tx2"/>
            </a:solidFill>
            <a:prstDash val="solid"/>
          </a:ln>
        </p:spPr>
      </p:sp>
      <p:sp>
        <p:nvSpPr>
          <p:cNvPr id="22" name="Text 20"/>
          <p:cNvSpPr txBox="1"/>
          <p:nvPr/>
        </p:nvSpPr>
        <p:spPr>
          <a:xfrm>
            <a:off x="731520" y="4224528"/>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 dependencies installed by hand</a:t>
            </a:r>
            <a:endParaRPr lang="en-US" sz="1400" dirty="0"/>
          </a:p>
        </p:txBody>
      </p:sp>
      <p:sp>
        <p:nvSpPr>
          <p:cNvPr id="23" name="Shape 21"/>
          <p:cNvSpPr/>
          <p:nvPr/>
        </p:nvSpPr>
        <p:spPr>
          <a:xfrm>
            <a:off x="3246120" y="4599432"/>
            <a:ext cx="0" cy="91440"/>
          </a:xfrm>
          <a:prstGeom prst="line">
            <a:avLst/>
          </a:prstGeom>
          <a:noFill/>
          <a:ln w="15875">
            <a:solidFill>
              <a:schemeClr val="accent4"/>
            </a:solidFill>
            <a:prstDash val="solid"/>
            <a:tailEnd type="triangle"/>
          </a:ln>
        </p:spPr>
      </p:sp>
      <p:sp>
        <p:nvSpPr>
          <p:cNvPr id="24" name="Shape 22"/>
          <p:cNvSpPr/>
          <p:nvPr/>
        </p:nvSpPr>
        <p:spPr>
          <a:xfrm>
            <a:off x="731520" y="4700016"/>
            <a:ext cx="5029200" cy="365760"/>
          </a:xfrm>
          <a:prstGeom prst="roundRect">
            <a:avLst>
              <a:gd name="adj" fmla="val 50000"/>
            </a:avLst>
          </a:prstGeom>
          <a:solidFill>
            <a:schemeClr val="tx2"/>
          </a:solidFill>
          <a:ln w="12700">
            <a:solidFill>
              <a:schemeClr val="tx2"/>
            </a:solidFill>
            <a:prstDash val="solid"/>
          </a:ln>
        </p:spPr>
      </p:sp>
      <p:sp>
        <p:nvSpPr>
          <p:cNvPr id="25" name="Text 23"/>
          <p:cNvSpPr txBox="1"/>
          <p:nvPr/>
        </p:nvSpPr>
        <p:spPr>
          <a:xfrm>
            <a:off x="731520" y="4700016"/>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 manual configuration</a:t>
            </a:r>
            <a:endParaRPr lang="en-US" sz="1400" dirty="0"/>
          </a:p>
        </p:txBody>
      </p:sp>
      <p:sp>
        <p:nvSpPr>
          <p:cNvPr id="26" name="Shape 24"/>
          <p:cNvSpPr/>
          <p:nvPr/>
        </p:nvSpPr>
        <p:spPr>
          <a:xfrm>
            <a:off x="3246120" y="5074920"/>
            <a:ext cx="0" cy="91440"/>
          </a:xfrm>
          <a:prstGeom prst="line">
            <a:avLst/>
          </a:prstGeom>
          <a:noFill/>
          <a:ln w="15875">
            <a:solidFill>
              <a:schemeClr val="accent4"/>
            </a:solidFill>
            <a:prstDash val="solid"/>
            <a:tailEnd type="triangle"/>
          </a:ln>
        </p:spPr>
      </p:sp>
      <p:sp>
        <p:nvSpPr>
          <p:cNvPr id="27" name="Shape 25"/>
          <p:cNvSpPr/>
          <p:nvPr/>
        </p:nvSpPr>
        <p:spPr>
          <a:xfrm>
            <a:off x="731520" y="5175504"/>
            <a:ext cx="5029200" cy="365760"/>
          </a:xfrm>
          <a:prstGeom prst="roundRect">
            <a:avLst>
              <a:gd name="adj" fmla="val 50000"/>
            </a:avLst>
          </a:prstGeom>
          <a:solidFill>
            <a:schemeClr val="tx2"/>
          </a:solidFill>
          <a:ln w="12700">
            <a:solidFill>
              <a:schemeClr val="tx2"/>
            </a:solidFill>
            <a:prstDash val="solid"/>
          </a:ln>
        </p:spPr>
      </p:sp>
      <p:sp>
        <p:nvSpPr>
          <p:cNvPr id="28" name="Text 26"/>
          <p:cNvSpPr txBox="1"/>
          <p:nvPr/>
        </p:nvSpPr>
        <p:spPr>
          <a:xfrm>
            <a:off x="731520" y="5175504"/>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“It works on my machine”</a:t>
            </a:r>
            <a:endParaRPr lang="en-US" sz="1400" dirty="0"/>
          </a:p>
        </p:txBody>
      </p:sp>
      <p:sp>
        <p:nvSpPr>
          <p:cNvPr id="29" name="Text 27"/>
          <p:cNvSpPr txBox="1"/>
          <p:nvPr/>
        </p:nvSpPr>
        <p:spPr>
          <a:xfrm>
            <a:off x="6400800" y="3291840"/>
            <a:ext cx="5029200" cy="365760"/>
          </a:xfrm>
          <a:prstGeom prst="rect">
            <a:avLst/>
          </a:prstGeom>
          <a:noFill/>
          <a:ln/>
        </p:spPr>
        <p:txBody>
          <a:bodyPr wrap="square" lIns="0" tIns="0" rIns="0" bIns="0" rtlCol="0" anchor="t"/>
          <a:lstStyle/>
          <a:p>
            <a:pPr marL="0" indent="0">
              <a:buNone/>
            </a:pPr>
            <a:r>
              <a:rPr lang="en-US" sz="1700" b="1" dirty="0">
                <a:solidFill>
                  <a:schemeClr val="accent2"/>
                </a:solidFill>
              </a:rPr>
              <a:t>After Docker</a:t>
            </a:r>
            <a:endParaRPr lang="en-US" sz="1700" dirty="0"/>
          </a:p>
        </p:txBody>
      </p:sp>
      <p:sp>
        <p:nvSpPr>
          <p:cNvPr id="30" name="Shape 28"/>
          <p:cNvSpPr/>
          <p:nvPr/>
        </p:nvSpPr>
        <p:spPr>
          <a:xfrm>
            <a:off x="6400800" y="3749040"/>
            <a:ext cx="5029200" cy="365760"/>
          </a:xfrm>
          <a:prstGeom prst="roundRect">
            <a:avLst>
              <a:gd name="adj" fmla="val 50000"/>
            </a:avLst>
          </a:prstGeom>
          <a:solidFill>
            <a:srgbClr val="0F3B3A"/>
          </a:solidFill>
          <a:ln w="12700">
            <a:solidFill>
              <a:srgbClr val="0F3B3A"/>
            </a:solidFill>
            <a:prstDash val="solid"/>
          </a:ln>
        </p:spPr>
      </p:sp>
      <p:sp>
        <p:nvSpPr>
          <p:cNvPr id="31" name="Text 29"/>
          <p:cNvSpPr txBox="1"/>
          <p:nvPr/>
        </p:nvSpPr>
        <p:spPr>
          <a:xfrm>
            <a:off x="6400800" y="3749040"/>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Code + dependencies + config</a:t>
            </a:r>
            <a:endParaRPr lang="en-US" sz="1400" dirty="0"/>
          </a:p>
        </p:txBody>
      </p:sp>
      <p:sp>
        <p:nvSpPr>
          <p:cNvPr id="32" name="Shape 30"/>
          <p:cNvSpPr/>
          <p:nvPr/>
        </p:nvSpPr>
        <p:spPr>
          <a:xfrm>
            <a:off x="8915400" y="4123944"/>
            <a:ext cx="0" cy="91440"/>
          </a:xfrm>
          <a:prstGeom prst="line">
            <a:avLst/>
          </a:prstGeom>
          <a:noFill/>
          <a:ln w="15875">
            <a:solidFill>
              <a:schemeClr val="accent2"/>
            </a:solidFill>
            <a:prstDash val="solid"/>
            <a:tailEnd type="triangle"/>
          </a:ln>
        </p:spPr>
      </p:sp>
      <p:sp>
        <p:nvSpPr>
          <p:cNvPr id="33" name="Shape 31"/>
          <p:cNvSpPr/>
          <p:nvPr/>
        </p:nvSpPr>
        <p:spPr>
          <a:xfrm>
            <a:off x="6400800" y="4224528"/>
            <a:ext cx="5029200" cy="365760"/>
          </a:xfrm>
          <a:prstGeom prst="roundRect">
            <a:avLst>
              <a:gd name="adj" fmla="val 50000"/>
            </a:avLst>
          </a:prstGeom>
          <a:solidFill>
            <a:srgbClr val="0F3B3A"/>
          </a:solidFill>
          <a:ln w="12700">
            <a:solidFill>
              <a:srgbClr val="0F3B3A"/>
            </a:solidFill>
            <a:prstDash val="solid"/>
          </a:ln>
        </p:spPr>
      </p:sp>
      <p:sp>
        <p:nvSpPr>
          <p:cNvPr id="34" name="Text 32"/>
          <p:cNvSpPr txBox="1"/>
          <p:nvPr/>
        </p:nvSpPr>
        <p:spPr>
          <a:xfrm>
            <a:off x="6400800" y="4224528"/>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Docker image</a:t>
            </a:r>
            <a:endParaRPr lang="en-US" sz="1400" dirty="0"/>
          </a:p>
        </p:txBody>
      </p:sp>
      <p:sp>
        <p:nvSpPr>
          <p:cNvPr id="35" name="Shape 33"/>
          <p:cNvSpPr/>
          <p:nvPr/>
        </p:nvSpPr>
        <p:spPr>
          <a:xfrm>
            <a:off x="8915400" y="4599432"/>
            <a:ext cx="0" cy="91440"/>
          </a:xfrm>
          <a:prstGeom prst="line">
            <a:avLst/>
          </a:prstGeom>
          <a:noFill/>
          <a:ln w="15875">
            <a:solidFill>
              <a:schemeClr val="accent2"/>
            </a:solidFill>
            <a:prstDash val="solid"/>
            <a:tailEnd type="triangle"/>
          </a:ln>
        </p:spPr>
      </p:sp>
      <p:sp>
        <p:nvSpPr>
          <p:cNvPr id="36" name="Shape 34"/>
          <p:cNvSpPr/>
          <p:nvPr/>
        </p:nvSpPr>
        <p:spPr>
          <a:xfrm>
            <a:off x="6400800" y="4700016"/>
            <a:ext cx="5029200" cy="365760"/>
          </a:xfrm>
          <a:prstGeom prst="roundRect">
            <a:avLst>
              <a:gd name="adj" fmla="val 50000"/>
            </a:avLst>
          </a:prstGeom>
          <a:solidFill>
            <a:srgbClr val="0F3B3A"/>
          </a:solidFill>
          <a:ln w="12700">
            <a:solidFill>
              <a:srgbClr val="0F3B3A"/>
            </a:solidFill>
            <a:prstDash val="solid"/>
          </a:ln>
        </p:spPr>
      </p:sp>
      <p:sp>
        <p:nvSpPr>
          <p:cNvPr id="37" name="Text 35"/>
          <p:cNvSpPr txBox="1"/>
          <p:nvPr/>
        </p:nvSpPr>
        <p:spPr>
          <a:xfrm>
            <a:off x="6400800" y="4700016"/>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Registry</a:t>
            </a:r>
            <a:endParaRPr lang="en-US" sz="1400" dirty="0"/>
          </a:p>
        </p:txBody>
      </p:sp>
      <p:sp>
        <p:nvSpPr>
          <p:cNvPr id="38" name="Shape 36"/>
          <p:cNvSpPr/>
          <p:nvPr/>
        </p:nvSpPr>
        <p:spPr>
          <a:xfrm>
            <a:off x="8915400" y="5074920"/>
            <a:ext cx="0" cy="91440"/>
          </a:xfrm>
          <a:prstGeom prst="line">
            <a:avLst/>
          </a:prstGeom>
          <a:noFill/>
          <a:ln w="15875">
            <a:solidFill>
              <a:schemeClr val="accent2"/>
            </a:solidFill>
            <a:prstDash val="solid"/>
            <a:tailEnd type="triangle"/>
          </a:ln>
        </p:spPr>
      </p:sp>
      <p:sp>
        <p:nvSpPr>
          <p:cNvPr id="39" name="Shape 37"/>
          <p:cNvSpPr/>
          <p:nvPr/>
        </p:nvSpPr>
        <p:spPr>
          <a:xfrm>
            <a:off x="6400800" y="5175504"/>
            <a:ext cx="5029200" cy="365760"/>
          </a:xfrm>
          <a:prstGeom prst="roundRect">
            <a:avLst>
              <a:gd name="adj" fmla="val 50000"/>
            </a:avLst>
          </a:prstGeom>
          <a:solidFill>
            <a:srgbClr val="0F3B3A"/>
          </a:solidFill>
          <a:ln w="12700">
            <a:solidFill>
              <a:srgbClr val="0F3B3A"/>
            </a:solidFill>
            <a:prstDash val="solid"/>
          </a:ln>
        </p:spPr>
      </p:sp>
      <p:sp>
        <p:nvSpPr>
          <p:cNvPr id="40" name="Text 38"/>
          <p:cNvSpPr txBox="1"/>
          <p:nvPr/>
        </p:nvSpPr>
        <p:spPr>
          <a:xfrm>
            <a:off x="6400800" y="5175504"/>
            <a:ext cx="5029200" cy="365760"/>
          </a:xfrm>
          <a:prstGeom prst="rect">
            <a:avLst/>
          </a:prstGeom>
          <a:noFill/>
          <a:ln/>
        </p:spPr>
        <p:txBody>
          <a:bodyPr wrap="square" lIns="0" tIns="0" rIns="0" bIns="0" rtlCol="0" anchor="ctr"/>
          <a:lstStyle/>
          <a:p>
            <a:pPr marL="0" indent="0" algn="ctr">
              <a:buNone/>
            </a:pPr>
            <a:r>
              <a:rPr lang="en-US" sz="1400" dirty="0">
                <a:solidFill>
                  <a:schemeClr val="bg1"/>
                </a:solidFill>
              </a:rPr>
              <a:t>Container: the same environment everywhere</a:t>
            </a:r>
            <a:endParaRPr lang="en-US" sz="1400" dirty="0"/>
          </a:p>
        </p:txBody>
      </p:sp>
      <p:sp>
        <p:nvSpPr>
          <p:cNvPr id="41"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THE DOCKER PLATFORM</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Five parts, one platform</a:t>
            </a:r>
            <a:endParaRPr lang="en-US" sz="3000" dirty="0"/>
          </a:p>
        </p:txBody>
      </p:sp>
      <p:sp>
        <p:nvSpPr>
          <p:cNvPr id="4" name="Shape 2"/>
          <p:cNvSpPr/>
          <p:nvPr/>
        </p:nvSpPr>
        <p:spPr>
          <a:xfrm>
            <a:off x="4956048" y="2880360"/>
            <a:ext cx="2286000" cy="1828800"/>
          </a:xfrm>
          <a:prstGeom prst="ellipse">
            <a:avLst/>
          </a:prstGeom>
          <a:solidFill>
            <a:srgbClr val="0F3A66"/>
          </a:solidFill>
          <a:ln w="25400">
            <a:solidFill>
              <a:schemeClr val="accent1"/>
            </a:solidFill>
            <a:prstDash val="solid"/>
          </a:ln>
        </p:spPr>
      </p:sp>
      <p:sp>
        <p:nvSpPr>
          <p:cNvPr id="5" name="Text 3"/>
          <p:cNvSpPr txBox="1"/>
          <p:nvPr/>
        </p:nvSpPr>
        <p:spPr>
          <a:xfrm>
            <a:off x="4956048" y="2880360"/>
            <a:ext cx="2286000" cy="1828800"/>
          </a:xfrm>
          <a:prstGeom prst="rect">
            <a:avLst/>
          </a:prstGeom>
          <a:noFill/>
          <a:ln/>
        </p:spPr>
        <p:txBody>
          <a:bodyPr wrap="square" lIns="0" tIns="0" rIns="0" bIns="0" rtlCol="0" anchor="ctr"/>
          <a:lstStyle/>
          <a:p>
            <a:pPr marL="0" indent="0" algn="ctr">
              <a:buNone/>
            </a:pPr>
            <a:r>
              <a:rPr lang="en-US" sz="2000" b="1" dirty="0">
                <a:solidFill>
                  <a:schemeClr val="bg1"/>
                </a:solidFill>
              </a:rPr>
              <a:t>Docker</a:t>
            </a:r>
            <a:endParaRPr lang="en-US" sz="2000" dirty="0"/>
          </a:p>
          <a:p>
            <a:pPr marL="0" indent="0" algn="ctr">
              <a:buNone/>
            </a:pPr>
            <a:r>
              <a:rPr lang="en-US" sz="2000" b="1" dirty="0">
                <a:solidFill>
                  <a:schemeClr val="bg1"/>
                </a:solidFill>
              </a:rPr>
              <a:t>platform</a:t>
            </a:r>
            <a:endParaRPr lang="en-US" sz="2000" dirty="0"/>
          </a:p>
        </p:txBody>
      </p:sp>
      <p:sp>
        <p:nvSpPr>
          <p:cNvPr id="6" name="Shape 4"/>
          <p:cNvSpPr/>
          <p:nvPr/>
        </p:nvSpPr>
        <p:spPr>
          <a:xfrm>
            <a:off x="731520" y="1600200"/>
            <a:ext cx="3291840" cy="1417320"/>
          </a:xfrm>
          <a:prstGeom prst="roundRect">
            <a:avLst>
              <a:gd name="adj" fmla="val 6452"/>
            </a:avLst>
          </a:prstGeom>
          <a:solidFill>
            <a:schemeClr val="tx2"/>
          </a:solidFill>
          <a:ln w="12700">
            <a:solidFill>
              <a:schemeClr val="accent6"/>
            </a:solidFill>
            <a:prstDash val="solid"/>
          </a:ln>
        </p:spPr>
      </p:sp>
      <p:sp>
        <p:nvSpPr>
          <p:cNvPr id="7" name="Text 5"/>
          <p:cNvSpPr txBox="1"/>
          <p:nvPr/>
        </p:nvSpPr>
        <p:spPr>
          <a:xfrm>
            <a:off x="932688" y="1737360"/>
            <a:ext cx="2926080" cy="365760"/>
          </a:xfrm>
          <a:prstGeom prst="rect">
            <a:avLst/>
          </a:prstGeom>
          <a:noFill/>
          <a:ln/>
        </p:spPr>
        <p:txBody>
          <a:bodyPr wrap="square" lIns="0" tIns="0" rIns="0" bIns="0" rtlCol="0" anchor="t"/>
          <a:lstStyle/>
          <a:p>
            <a:pPr marL="0" indent="0">
              <a:buNone/>
            </a:pPr>
            <a:r>
              <a:rPr lang="en-US" sz="1700" b="1" dirty="0">
                <a:solidFill>
                  <a:schemeClr val="accent2"/>
                </a:solidFill>
              </a:rPr>
              <a:t>Docker CLI</a:t>
            </a:r>
            <a:endParaRPr lang="en-US" sz="1700" dirty="0"/>
          </a:p>
        </p:txBody>
      </p:sp>
      <p:sp>
        <p:nvSpPr>
          <p:cNvPr id="8" name="Text 6"/>
          <p:cNvSpPr txBox="1"/>
          <p:nvPr/>
        </p:nvSpPr>
        <p:spPr>
          <a:xfrm>
            <a:off x="932688" y="2103120"/>
            <a:ext cx="2926080" cy="868680"/>
          </a:xfrm>
          <a:prstGeom prst="rect">
            <a:avLst/>
          </a:prstGeom>
          <a:noFill/>
          <a:ln/>
        </p:spPr>
        <p:txBody>
          <a:bodyPr wrap="square" lIns="0" tIns="0" rIns="0" bIns="0" rtlCol="0" anchor="t"/>
          <a:lstStyle/>
          <a:p>
            <a:pPr marL="0" indent="0">
              <a:buNone/>
            </a:pPr>
            <a:r>
              <a:rPr lang="en-US" sz="1400" dirty="0">
                <a:solidFill>
                  <a:schemeClr val="bg1"/>
                </a:solidFill>
              </a:rPr>
              <a:t>The commands you type, such as docker run. It talks to the Engine.</a:t>
            </a:r>
            <a:endParaRPr lang="en-US" sz="1400" dirty="0"/>
          </a:p>
        </p:txBody>
      </p:sp>
      <p:sp>
        <p:nvSpPr>
          <p:cNvPr id="9" name="Shape 7"/>
          <p:cNvSpPr/>
          <p:nvPr/>
        </p:nvSpPr>
        <p:spPr>
          <a:xfrm>
            <a:off x="731520" y="4251960"/>
            <a:ext cx="3291840" cy="1417320"/>
          </a:xfrm>
          <a:prstGeom prst="roundRect">
            <a:avLst>
              <a:gd name="adj" fmla="val 6452"/>
            </a:avLst>
          </a:prstGeom>
          <a:solidFill>
            <a:schemeClr val="tx2"/>
          </a:solidFill>
          <a:ln w="12700">
            <a:solidFill>
              <a:schemeClr val="accent6"/>
            </a:solidFill>
            <a:prstDash val="solid"/>
          </a:ln>
        </p:spPr>
      </p:sp>
      <p:sp>
        <p:nvSpPr>
          <p:cNvPr id="10" name="Text 8"/>
          <p:cNvSpPr txBox="1"/>
          <p:nvPr/>
        </p:nvSpPr>
        <p:spPr>
          <a:xfrm>
            <a:off x="932688" y="4389120"/>
            <a:ext cx="2926080" cy="365760"/>
          </a:xfrm>
          <a:prstGeom prst="rect">
            <a:avLst/>
          </a:prstGeom>
          <a:noFill/>
          <a:ln/>
        </p:spPr>
        <p:txBody>
          <a:bodyPr wrap="square" lIns="0" tIns="0" rIns="0" bIns="0" rtlCol="0" anchor="t"/>
          <a:lstStyle/>
          <a:p>
            <a:pPr marL="0" indent="0">
              <a:buNone/>
            </a:pPr>
            <a:r>
              <a:rPr lang="en-US" sz="1700" b="1" dirty="0">
                <a:solidFill>
                  <a:schemeClr val="accent2"/>
                </a:solidFill>
              </a:rPr>
              <a:t>Docker Engine</a:t>
            </a:r>
            <a:endParaRPr lang="en-US" sz="1700" dirty="0"/>
          </a:p>
        </p:txBody>
      </p:sp>
      <p:sp>
        <p:nvSpPr>
          <p:cNvPr id="11" name="Text 9"/>
          <p:cNvSpPr txBox="1"/>
          <p:nvPr/>
        </p:nvSpPr>
        <p:spPr>
          <a:xfrm>
            <a:off x="932688" y="4754880"/>
            <a:ext cx="2926080" cy="868680"/>
          </a:xfrm>
          <a:prstGeom prst="rect">
            <a:avLst/>
          </a:prstGeom>
          <a:noFill/>
          <a:ln/>
        </p:spPr>
        <p:txBody>
          <a:bodyPr wrap="square" lIns="0" tIns="0" rIns="0" bIns="0" rtlCol="0" anchor="t"/>
          <a:lstStyle/>
          <a:p>
            <a:pPr marL="0" indent="0">
              <a:buNone/>
            </a:pPr>
            <a:r>
              <a:rPr lang="en-US" sz="1400" dirty="0">
                <a:solidFill>
                  <a:schemeClr val="bg1"/>
                </a:solidFill>
              </a:rPr>
              <a:t>The background service (daemon) that builds and runs everything.</a:t>
            </a:r>
            <a:endParaRPr lang="en-US" sz="1400" dirty="0"/>
          </a:p>
        </p:txBody>
      </p:sp>
      <p:sp>
        <p:nvSpPr>
          <p:cNvPr id="12" name="Shape 10"/>
          <p:cNvSpPr/>
          <p:nvPr/>
        </p:nvSpPr>
        <p:spPr>
          <a:xfrm>
            <a:off x="8183880" y="1600200"/>
            <a:ext cx="3291840" cy="1417320"/>
          </a:xfrm>
          <a:prstGeom prst="roundRect">
            <a:avLst>
              <a:gd name="adj" fmla="val 6452"/>
            </a:avLst>
          </a:prstGeom>
          <a:solidFill>
            <a:schemeClr val="tx2"/>
          </a:solidFill>
          <a:ln w="12700">
            <a:solidFill>
              <a:schemeClr val="accent6"/>
            </a:solidFill>
            <a:prstDash val="solid"/>
          </a:ln>
        </p:spPr>
      </p:sp>
      <p:sp>
        <p:nvSpPr>
          <p:cNvPr id="13" name="Text 11"/>
          <p:cNvSpPr txBox="1"/>
          <p:nvPr/>
        </p:nvSpPr>
        <p:spPr>
          <a:xfrm>
            <a:off x="8385048" y="1737360"/>
            <a:ext cx="2926080" cy="365760"/>
          </a:xfrm>
          <a:prstGeom prst="rect">
            <a:avLst/>
          </a:prstGeom>
          <a:noFill/>
          <a:ln/>
        </p:spPr>
        <p:txBody>
          <a:bodyPr wrap="square" lIns="0" tIns="0" rIns="0" bIns="0" rtlCol="0" anchor="t"/>
          <a:lstStyle/>
          <a:p>
            <a:pPr marL="0" indent="0">
              <a:buNone/>
            </a:pPr>
            <a:r>
              <a:rPr lang="en-US" sz="1700" b="1" dirty="0">
                <a:solidFill>
                  <a:schemeClr val="accent2"/>
                </a:solidFill>
              </a:rPr>
              <a:t>Images</a:t>
            </a:r>
            <a:endParaRPr lang="en-US" sz="1700" dirty="0"/>
          </a:p>
        </p:txBody>
      </p:sp>
      <p:sp>
        <p:nvSpPr>
          <p:cNvPr id="14" name="Text 12"/>
          <p:cNvSpPr txBox="1"/>
          <p:nvPr/>
        </p:nvSpPr>
        <p:spPr>
          <a:xfrm>
            <a:off x="8385048" y="2103120"/>
            <a:ext cx="2926080" cy="868680"/>
          </a:xfrm>
          <a:prstGeom prst="rect">
            <a:avLst/>
          </a:prstGeom>
          <a:noFill/>
          <a:ln/>
        </p:spPr>
        <p:txBody>
          <a:bodyPr wrap="square" lIns="0" tIns="0" rIns="0" bIns="0" rtlCol="0" anchor="t"/>
          <a:lstStyle/>
          <a:p>
            <a:pPr marL="0" indent="0">
              <a:buNone/>
            </a:pPr>
            <a:r>
              <a:rPr lang="en-US" sz="1400" dirty="0">
                <a:solidFill>
                  <a:schemeClr val="bg1"/>
                </a:solidFill>
              </a:rPr>
              <a:t>Read-only templates used to create containers.</a:t>
            </a:r>
            <a:endParaRPr lang="en-US" sz="1400" dirty="0"/>
          </a:p>
        </p:txBody>
      </p:sp>
      <p:sp>
        <p:nvSpPr>
          <p:cNvPr id="15" name="Shape 13"/>
          <p:cNvSpPr/>
          <p:nvPr/>
        </p:nvSpPr>
        <p:spPr>
          <a:xfrm>
            <a:off x="8183880" y="4251960"/>
            <a:ext cx="3291840" cy="1417320"/>
          </a:xfrm>
          <a:prstGeom prst="roundRect">
            <a:avLst>
              <a:gd name="adj" fmla="val 6452"/>
            </a:avLst>
          </a:prstGeom>
          <a:solidFill>
            <a:schemeClr val="tx2"/>
          </a:solidFill>
          <a:ln w="12700">
            <a:solidFill>
              <a:schemeClr val="accent6"/>
            </a:solidFill>
            <a:prstDash val="solid"/>
          </a:ln>
        </p:spPr>
      </p:sp>
      <p:sp>
        <p:nvSpPr>
          <p:cNvPr id="16" name="Text 14"/>
          <p:cNvSpPr txBox="1"/>
          <p:nvPr/>
        </p:nvSpPr>
        <p:spPr>
          <a:xfrm>
            <a:off x="8385048" y="4389120"/>
            <a:ext cx="2926080" cy="365760"/>
          </a:xfrm>
          <a:prstGeom prst="rect">
            <a:avLst/>
          </a:prstGeom>
          <a:noFill/>
          <a:ln/>
        </p:spPr>
        <p:txBody>
          <a:bodyPr wrap="square" lIns="0" tIns="0" rIns="0" bIns="0" rtlCol="0" anchor="t"/>
          <a:lstStyle/>
          <a:p>
            <a:pPr marL="0" indent="0">
              <a:buNone/>
            </a:pPr>
            <a:r>
              <a:rPr lang="en-US" sz="1700" b="1" dirty="0">
                <a:solidFill>
                  <a:schemeClr val="accent2"/>
                </a:solidFill>
              </a:rPr>
              <a:t>Containers</a:t>
            </a:r>
            <a:endParaRPr lang="en-US" sz="1700" dirty="0"/>
          </a:p>
        </p:txBody>
      </p:sp>
      <p:sp>
        <p:nvSpPr>
          <p:cNvPr id="17" name="Text 15"/>
          <p:cNvSpPr txBox="1"/>
          <p:nvPr/>
        </p:nvSpPr>
        <p:spPr>
          <a:xfrm>
            <a:off x="8385048" y="4754880"/>
            <a:ext cx="2926080" cy="868680"/>
          </a:xfrm>
          <a:prstGeom prst="rect">
            <a:avLst/>
          </a:prstGeom>
          <a:noFill/>
          <a:ln/>
        </p:spPr>
        <p:txBody>
          <a:bodyPr wrap="square" lIns="0" tIns="0" rIns="0" bIns="0" rtlCol="0" anchor="t"/>
          <a:lstStyle/>
          <a:p>
            <a:pPr marL="0" indent="0">
              <a:buNone/>
            </a:pPr>
            <a:r>
              <a:rPr lang="en-US" sz="1400" dirty="0">
                <a:solidFill>
                  <a:schemeClr val="bg1"/>
                </a:solidFill>
              </a:rPr>
              <a:t>Running instances of images: isolated processes.</a:t>
            </a:r>
            <a:endParaRPr lang="en-US" sz="1400" dirty="0"/>
          </a:p>
        </p:txBody>
      </p:sp>
      <p:sp>
        <p:nvSpPr>
          <p:cNvPr id="18" name="Shape 16"/>
          <p:cNvSpPr/>
          <p:nvPr/>
        </p:nvSpPr>
        <p:spPr>
          <a:xfrm>
            <a:off x="4206240" y="5029200"/>
            <a:ext cx="3794760" cy="1097280"/>
          </a:xfrm>
          <a:prstGeom prst="roundRect">
            <a:avLst>
              <a:gd name="adj" fmla="val 8333"/>
            </a:avLst>
          </a:prstGeom>
          <a:solidFill>
            <a:schemeClr val="tx2"/>
          </a:solidFill>
          <a:ln w="12700">
            <a:solidFill>
              <a:schemeClr val="accent6"/>
            </a:solidFill>
            <a:prstDash val="solid"/>
          </a:ln>
        </p:spPr>
      </p:sp>
      <p:sp>
        <p:nvSpPr>
          <p:cNvPr id="19" name="Text 17"/>
          <p:cNvSpPr txBox="1"/>
          <p:nvPr/>
        </p:nvSpPr>
        <p:spPr>
          <a:xfrm>
            <a:off x="4407408" y="5166360"/>
            <a:ext cx="3429000" cy="365760"/>
          </a:xfrm>
          <a:prstGeom prst="rect">
            <a:avLst/>
          </a:prstGeom>
          <a:noFill/>
          <a:ln/>
        </p:spPr>
        <p:txBody>
          <a:bodyPr wrap="square" lIns="0" tIns="0" rIns="0" bIns="0" rtlCol="0" anchor="t"/>
          <a:lstStyle/>
          <a:p>
            <a:pPr marL="0" indent="0">
              <a:buNone/>
            </a:pPr>
            <a:r>
              <a:rPr lang="en-US" sz="1700" b="1" dirty="0">
                <a:solidFill>
                  <a:schemeClr val="accent3"/>
                </a:solidFill>
              </a:rPr>
              <a:t>Registry</a:t>
            </a:r>
            <a:endParaRPr lang="en-US" sz="1700" dirty="0"/>
          </a:p>
        </p:txBody>
      </p:sp>
      <p:sp>
        <p:nvSpPr>
          <p:cNvPr id="20" name="Text 18"/>
          <p:cNvSpPr txBox="1"/>
          <p:nvPr/>
        </p:nvSpPr>
        <p:spPr>
          <a:xfrm>
            <a:off x="4407408" y="5532120"/>
            <a:ext cx="3429000" cy="548640"/>
          </a:xfrm>
          <a:prstGeom prst="rect">
            <a:avLst/>
          </a:prstGeom>
          <a:noFill/>
          <a:ln/>
        </p:spPr>
        <p:txBody>
          <a:bodyPr wrap="square" lIns="0" tIns="0" rIns="0" bIns="0" rtlCol="0" anchor="t"/>
          <a:lstStyle/>
          <a:p>
            <a:pPr marL="0" indent="0">
              <a:buNone/>
            </a:pPr>
            <a:r>
              <a:rPr lang="en-US" sz="1400" dirty="0">
                <a:solidFill>
                  <a:schemeClr val="bg1"/>
                </a:solidFill>
              </a:rPr>
              <a:t>Where images are stored and shared, e.g. Docker Hub.</a:t>
            </a:r>
            <a:endParaRPr lang="en-US" sz="1400" dirty="0"/>
          </a:p>
        </p:txBody>
      </p:sp>
      <p:sp>
        <p:nvSpPr>
          <p:cNvPr id="21" name="Shape 19"/>
          <p:cNvSpPr/>
          <p:nvPr/>
        </p:nvSpPr>
        <p:spPr>
          <a:xfrm>
            <a:off x="4023360" y="2377440"/>
            <a:ext cx="1115568" cy="1005840"/>
          </a:xfrm>
          <a:prstGeom prst="line">
            <a:avLst/>
          </a:prstGeom>
          <a:noFill/>
          <a:ln w="15875">
            <a:solidFill>
              <a:schemeClr val="accent6"/>
            </a:solidFill>
            <a:prstDash val="solid"/>
          </a:ln>
        </p:spPr>
      </p:sp>
      <p:sp>
        <p:nvSpPr>
          <p:cNvPr id="22" name="Shape 20"/>
          <p:cNvSpPr/>
          <p:nvPr/>
        </p:nvSpPr>
        <p:spPr>
          <a:xfrm flipV="1">
            <a:off x="4023360" y="4114800"/>
            <a:ext cx="1024128" cy="822960"/>
          </a:xfrm>
          <a:prstGeom prst="line">
            <a:avLst/>
          </a:prstGeom>
          <a:noFill/>
          <a:ln w="15875">
            <a:solidFill>
              <a:schemeClr val="accent6"/>
            </a:solidFill>
            <a:prstDash val="solid"/>
          </a:ln>
        </p:spPr>
      </p:sp>
      <p:sp>
        <p:nvSpPr>
          <p:cNvPr id="23" name="Shape 21"/>
          <p:cNvSpPr/>
          <p:nvPr/>
        </p:nvSpPr>
        <p:spPr>
          <a:xfrm flipH="1">
            <a:off x="7059168" y="2377440"/>
            <a:ext cx="1124712" cy="1005840"/>
          </a:xfrm>
          <a:prstGeom prst="line">
            <a:avLst/>
          </a:prstGeom>
          <a:noFill/>
          <a:ln w="15875">
            <a:solidFill>
              <a:schemeClr val="accent6"/>
            </a:solidFill>
            <a:prstDash val="solid"/>
          </a:ln>
        </p:spPr>
      </p:sp>
      <p:sp>
        <p:nvSpPr>
          <p:cNvPr id="24" name="Shape 22"/>
          <p:cNvSpPr/>
          <p:nvPr/>
        </p:nvSpPr>
        <p:spPr>
          <a:xfrm flipH="1" flipV="1">
            <a:off x="7150608" y="4114800"/>
            <a:ext cx="1033272" cy="822960"/>
          </a:xfrm>
          <a:prstGeom prst="line">
            <a:avLst/>
          </a:prstGeom>
          <a:noFill/>
          <a:ln w="15875">
            <a:solidFill>
              <a:schemeClr val="accent6"/>
            </a:solidFill>
            <a:prstDash val="solid"/>
          </a:ln>
        </p:spPr>
      </p:sp>
      <p:sp>
        <p:nvSpPr>
          <p:cNvPr id="25" name="Shape 23"/>
          <p:cNvSpPr/>
          <p:nvPr/>
        </p:nvSpPr>
        <p:spPr>
          <a:xfrm>
            <a:off x="6099048" y="4709160"/>
            <a:ext cx="0" cy="320040"/>
          </a:xfrm>
          <a:prstGeom prst="line">
            <a:avLst/>
          </a:prstGeom>
          <a:noFill/>
          <a:ln w="15875">
            <a:solidFill>
              <a:schemeClr val="accent6"/>
            </a:solidFill>
            <a:prstDash val="solid"/>
          </a:ln>
        </p:spPr>
      </p:sp>
      <p:sp>
        <p:nvSpPr>
          <p:cNvPr id="26"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DOCKER ARCHITECTURE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How the pieces talk to each other</a:t>
            </a:r>
            <a:endParaRPr lang="en-US" sz="3000" dirty="0"/>
          </a:p>
        </p:txBody>
      </p:sp>
      <p:sp>
        <p:nvSpPr>
          <p:cNvPr id="4" name="Shape 2"/>
          <p:cNvSpPr/>
          <p:nvPr/>
        </p:nvSpPr>
        <p:spPr>
          <a:xfrm>
            <a:off x="731520" y="1691640"/>
            <a:ext cx="1874520" cy="1051560"/>
          </a:xfrm>
          <a:prstGeom prst="roundRect">
            <a:avLst>
              <a:gd name="adj" fmla="val 8696"/>
            </a:avLst>
          </a:prstGeom>
          <a:solidFill>
            <a:schemeClr val="tx2"/>
          </a:solidFill>
          <a:ln w="12700">
            <a:solidFill>
              <a:schemeClr val="accent6"/>
            </a:solidFill>
            <a:prstDash val="solid"/>
          </a:ln>
        </p:spPr>
      </p:sp>
      <p:sp>
        <p:nvSpPr>
          <p:cNvPr id="5" name="Text 3"/>
          <p:cNvSpPr txBox="1"/>
          <p:nvPr/>
        </p:nvSpPr>
        <p:spPr>
          <a:xfrm>
            <a:off x="804672" y="1691640"/>
            <a:ext cx="1728216" cy="105156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Docker CLI</a:t>
            </a:r>
            <a:endParaRPr lang="en-US" sz="1500" dirty="0"/>
          </a:p>
          <a:p>
            <a:pPr marL="0" indent="0" algn="ctr">
              <a:spcAft>
                <a:spcPts val="200"/>
              </a:spcAft>
              <a:buNone/>
            </a:pPr>
            <a:r>
              <a:rPr lang="en-US" sz="1200" dirty="0">
                <a:solidFill>
                  <a:schemeClr val="bg2"/>
                </a:solidFill>
                <a:latin typeface="Consolas" pitchFamily="34" charset="0"/>
                <a:ea typeface="Consolas" pitchFamily="34" charset="-122"/>
                <a:cs typeface="Consolas" pitchFamily="34" charset="-120"/>
              </a:rPr>
              <a:t>docker run · ps · build</a:t>
            </a:r>
            <a:endParaRPr lang="en-US" sz="1500" dirty="0"/>
          </a:p>
        </p:txBody>
      </p:sp>
      <p:sp>
        <p:nvSpPr>
          <p:cNvPr id="6" name="Shape 4"/>
          <p:cNvSpPr/>
          <p:nvPr/>
        </p:nvSpPr>
        <p:spPr>
          <a:xfrm>
            <a:off x="2642616" y="2221992"/>
            <a:ext cx="256032" cy="0"/>
          </a:xfrm>
          <a:prstGeom prst="line">
            <a:avLst/>
          </a:prstGeom>
          <a:noFill/>
          <a:ln w="22225">
            <a:solidFill>
              <a:schemeClr val="accent1"/>
            </a:solidFill>
            <a:prstDash val="solid"/>
            <a:tailEnd type="triangle"/>
          </a:ln>
        </p:spPr>
      </p:sp>
      <p:sp>
        <p:nvSpPr>
          <p:cNvPr id="7" name="Shape 5"/>
          <p:cNvSpPr/>
          <p:nvPr/>
        </p:nvSpPr>
        <p:spPr>
          <a:xfrm>
            <a:off x="2935224" y="1691640"/>
            <a:ext cx="1874520" cy="1051560"/>
          </a:xfrm>
          <a:prstGeom prst="roundRect">
            <a:avLst>
              <a:gd name="adj" fmla="val 8696"/>
            </a:avLst>
          </a:prstGeom>
          <a:solidFill>
            <a:schemeClr val="tx2"/>
          </a:solidFill>
          <a:ln w="12700">
            <a:solidFill>
              <a:schemeClr val="accent6"/>
            </a:solidFill>
            <a:prstDash val="solid"/>
          </a:ln>
        </p:spPr>
      </p:sp>
      <p:sp>
        <p:nvSpPr>
          <p:cNvPr id="8" name="Text 6"/>
          <p:cNvSpPr txBox="1"/>
          <p:nvPr/>
        </p:nvSpPr>
        <p:spPr>
          <a:xfrm>
            <a:off x="3008376" y="1691640"/>
            <a:ext cx="1728216" cy="105156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Docker API</a:t>
            </a:r>
            <a:endParaRPr lang="en-US" sz="1500" dirty="0"/>
          </a:p>
          <a:p>
            <a:pPr marL="0" indent="0" algn="ctr">
              <a:spcAft>
                <a:spcPts val="200"/>
              </a:spcAft>
              <a:buNone/>
            </a:pPr>
            <a:r>
              <a:rPr lang="en-US" sz="1200" dirty="0">
                <a:solidFill>
                  <a:schemeClr val="bg2"/>
                </a:solidFill>
                <a:latin typeface="Consolas" pitchFamily="34" charset="0"/>
                <a:ea typeface="Consolas" pitchFamily="34" charset="-122"/>
                <a:cs typeface="Consolas" pitchFamily="34" charset="-120"/>
              </a:rPr>
              <a:t>REST over a socket</a:t>
            </a:r>
            <a:endParaRPr lang="en-US" sz="1500" dirty="0"/>
          </a:p>
        </p:txBody>
      </p:sp>
      <p:sp>
        <p:nvSpPr>
          <p:cNvPr id="9" name="Shape 7"/>
          <p:cNvSpPr/>
          <p:nvPr/>
        </p:nvSpPr>
        <p:spPr>
          <a:xfrm>
            <a:off x="4846320" y="2221992"/>
            <a:ext cx="256032" cy="0"/>
          </a:xfrm>
          <a:prstGeom prst="line">
            <a:avLst/>
          </a:prstGeom>
          <a:noFill/>
          <a:ln w="22225">
            <a:solidFill>
              <a:schemeClr val="accent1"/>
            </a:solidFill>
            <a:prstDash val="solid"/>
            <a:tailEnd type="triangle"/>
          </a:ln>
        </p:spPr>
      </p:sp>
      <p:sp>
        <p:nvSpPr>
          <p:cNvPr id="10" name="Shape 8"/>
          <p:cNvSpPr/>
          <p:nvPr/>
        </p:nvSpPr>
        <p:spPr>
          <a:xfrm>
            <a:off x="5138928" y="1691640"/>
            <a:ext cx="1874520" cy="1051560"/>
          </a:xfrm>
          <a:prstGeom prst="roundRect">
            <a:avLst>
              <a:gd name="adj" fmla="val 8696"/>
            </a:avLst>
          </a:prstGeom>
          <a:solidFill>
            <a:schemeClr val="tx2"/>
          </a:solidFill>
          <a:ln w="12700">
            <a:solidFill>
              <a:schemeClr val="accent6"/>
            </a:solidFill>
            <a:prstDash val="solid"/>
          </a:ln>
        </p:spPr>
      </p:sp>
      <p:sp>
        <p:nvSpPr>
          <p:cNvPr id="11" name="Text 9"/>
          <p:cNvSpPr txBox="1"/>
          <p:nvPr/>
        </p:nvSpPr>
        <p:spPr>
          <a:xfrm>
            <a:off x="5212080" y="1691640"/>
            <a:ext cx="1728216" cy="105156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Docker daemon</a:t>
            </a:r>
            <a:endParaRPr lang="en-US" sz="1500" dirty="0"/>
          </a:p>
          <a:p>
            <a:pPr marL="0" indent="0" algn="ctr">
              <a:spcAft>
                <a:spcPts val="200"/>
              </a:spcAft>
              <a:buNone/>
            </a:pPr>
            <a:r>
              <a:rPr lang="en-US" sz="1200" dirty="0">
                <a:solidFill>
                  <a:schemeClr val="bg2"/>
                </a:solidFill>
                <a:latin typeface="Consolas" pitchFamily="34" charset="0"/>
                <a:ea typeface="Consolas" pitchFamily="34" charset="-122"/>
                <a:cs typeface="Consolas" pitchFamily="34" charset="-120"/>
              </a:rPr>
              <a:t>dockerd</a:t>
            </a:r>
            <a:endParaRPr lang="en-US" sz="1500" dirty="0"/>
          </a:p>
        </p:txBody>
      </p:sp>
      <p:sp>
        <p:nvSpPr>
          <p:cNvPr id="12" name="Shape 10"/>
          <p:cNvSpPr/>
          <p:nvPr/>
        </p:nvSpPr>
        <p:spPr>
          <a:xfrm>
            <a:off x="7050024" y="2221992"/>
            <a:ext cx="256032" cy="0"/>
          </a:xfrm>
          <a:prstGeom prst="line">
            <a:avLst/>
          </a:prstGeom>
          <a:noFill/>
          <a:ln w="22225">
            <a:solidFill>
              <a:schemeClr val="accent1"/>
            </a:solidFill>
            <a:prstDash val="solid"/>
            <a:tailEnd type="triangle"/>
          </a:ln>
        </p:spPr>
      </p:sp>
      <p:sp>
        <p:nvSpPr>
          <p:cNvPr id="13" name="Shape 11"/>
          <p:cNvSpPr/>
          <p:nvPr/>
        </p:nvSpPr>
        <p:spPr>
          <a:xfrm>
            <a:off x="7342632" y="1691640"/>
            <a:ext cx="1874520" cy="1051560"/>
          </a:xfrm>
          <a:prstGeom prst="roundRect">
            <a:avLst>
              <a:gd name="adj" fmla="val 8696"/>
            </a:avLst>
          </a:prstGeom>
          <a:solidFill>
            <a:schemeClr val="tx2"/>
          </a:solidFill>
          <a:ln w="12700">
            <a:solidFill>
              <a:schemeClr val="accent6"/>
            </a:solidFill>
            <a:prstDash val="solid"/>
          </a:ln>
        </p:spPr>
      </p:sp>
      <p:sp>
        <p:nvSpPr>
          <p:cNvPr id="14" name="Text 12"/>
          <p:cNvSpPr txBox="1"/>
          <p:nvPr/>
        </p:nvSpPr>
        <p:spPr>
          <a:xfrm>
            <a:off x="7415784" y="1691640"/>
            <a:ext cx="1728216" cy="105156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Container runtime</a:t>
            </a:r>
            <a:endParaRPr lang="en-US" sz="1500" dirty="0"/>
          </a:p>
          <a:p>
            <a:pPr marL="0" indent="0" algn="ctr">
              <a:spcAft>
                <a:spcPts val="200"/>
              </a:spcAft>
              <a:buNone/>
            </a:pPr>
            <a:r>
              <a:rPr lang="en-US" sz="1200" dirty="0">
                <a:solidFill>
                  <a:schemeClr val="bg2"/>
                </a:solidFill>
                <a:latin typeface="Consolas" pitchFamily="34" charset="0"/>
                <a:ea typeface="Consolas" pitchFamily="34" charset="-122"/>
                <a:cs typeface="Consolas" pitchFamily="34" charset="-120"/>
              </a:rPr>
              <a:t>containerd + runc</a:t>
            </a:r>
            <a:endParaRPr lang="en-US" sz="1500" dirty="0"/>
          </a:p>
        </p:txBody>
      </p:sp>
      <p:sp>
        <p:nvSpPr>
          <p:cNvPr id="15" name="Shape 13"/>
          <p:cNvSpPr/>
          <p:nvPr/>
        </p:nvSpPr>
        <p:spPr>
          <a:xfrm>
            <a:off x="9253728" y="2221992"/>
            <a:ext cx="256032" cy="0"/>
          </a:xfrm>
          <a:prstGeom prst="line">
            <a:avLst/>
          </a:prstGeom>
          <a:noFill/>
          <a:ln w="22225">
            <a:solidFill>
              <a:schemeClr val="accent1"/>
            </a:solidFill>
            <a:prstDash val="solid"/>
            <a:tailEnd type="triangle"/>
          </a:ln>
        </p:spPr>
      </p:sp>
      <p:sp>
        <p:nvSpPr>
          <p:cNvPr id="16" name="Shape 14"/>
          <p:cNvSpPr/>
          <p:nvPr/>
        </p:nvSpPr>
        <p:spPr>
          <a:xfrm>
            <a:off x="9546336" y="1691640"/>
            <a:ext cx="1874520" cy="1051560"/>
          </a:xfrm>
          <a:prstGeom prst="roundRect">
            <a:avLst>
              <a:gd name="adj" fmla="val 8696"/>
            </a:avLst>
          </a:prstGeom>
          <a:solidFill>
            <a:schemeClr val="accent1"/>
          </a:solidFill>
          <a:ln w="12700">
            <a:solidFill>
              <a:schemeClr val="accent1"/>
            </a:solidFill>
            <a:prstDash val="solid"/>
          </a:ln>
        </p:spPr>
      </p:sp>
      <p:sp>
        <p:nvSpPr>
          <p:cNvPr id="17" name="Text 15"/>
          <p:cNvSpPr txBox="1"/>
          <p:nvPr/>
        </p:nvSpPr>
        <p:spPr>
          <a:xfrm>
            <a:off x="9619488" y="1691640"/>
            <a:ext cx="1728216" cy="105156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Containers</a:t>
            </a:r>
            <a:endParaRPr lang="en-US" sz="1500" dirty="0"/>
          </a:p>
          <a:p>
            <a:pPr marL="0" indent="0" algn="ctr">
              <a:spcAft>
                <a:spcPts val="200"/>
              </a:spcAft>
              <a:buNone/>
            </a:pPr>
            <a:r>
              <a:rPr lang="en-US" sz="1200" dirty="0">
                <a:solidFill>
                  <a:schemeClr val="bg1"/>
                </a:solidFill>
              </a:rPr>
              <a:t>your running apps</a:t>
            </a:r>
            <a:endParaRPr lang="en-US" sz="1500" dirty="0"/>
          </a:p>
        </p:txBody>
      </p:sp>
      <p:sp>
        <p:nvSpPr>
          <p:cNvPr id="18" name="Text 16"/>
          <p:cNvSpPr txBox="1"/>
          <p:nvPr/>
        </p:nvSpPr>
        <p:spPr>
          <a:xfrm>
            <a:off x="731520" y="3429000"/>
            <a:ext cx="411480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THE DAEMON MANAGES</a:t>
            </a:r>
            <a:endParaRPr lang="en-US" sz="1200" dirty="0"/>
          </a:p>
        </p:txBody>
      </p:sp>
      <p:sp>
        <p:nvSpPr>
          <p:cNvPr id="19" name="Shape 17"/>
          <p:cNvSpPr/>
          <p:nvPr/>
        </p:nvSpPr>
        <p:spPr>
          <a:xfrm>
            <a:off x="731520" y="3840480"/>
            <a:ext cx="1874520" cy="475488"/>
          </a:xfrm>
          <a:prstGeom prst="roundRect">
            <a:avLst>
              <a:gd name="adj" fmla="val 50000"/>
            </a:avLst>
          </a:prstGeom>
          <a:solidFill>
            <a:schemeClr val="accent5"/>
          </a:solidFill>
          <a:ln w="12700">
            <a:solidFill>
              <a:schemeClr val="accent5"/>
            </a:solidFill>
            <a:prstDash val="solid"/>
          </a:ln>
        </p:spPr>
      </p:sp>
      <p:sp>
        <p:nvSpPr>
          <p:cNvPr id="20" name="Text 18"/>
          <p:cNvSpPr txBox="1"/>
          <p:nvPr/>
        </p:nvSpPr>
        <p:spPr>
          <a:xfrm>
            <a:off x="731520" y="3840480"/>
            <a:ext cx="1874520" cy="475488"/>
          </a:xfrm>
          <a:prstGeom prst="rect">
            <a:avLst/>
          </a:prstGeom>
          <a:noFill/>
          <a:ln/>
        </p:spPr>
        <p:txBody>
          <a:bodyPr wrap="square" lIns="0" tIns="0" rIns="0" bIns="0" rtlCol="0" anchor="ctr"/>
          <a:lstStyle/>
          <a:p>
            <a:pPr marL="0" indent="0" algn="ctr">
              <a:buNone/>
            </a:pPr>
            <a:r>
              <a:rPr lang="en-US" sz="1400" b="1" dirty="0">
                <a:solidFill>
                  <a:schemeClr val="bg1"/>
                </a:solidFill>
              </a:rPr>
              <a:t>Images</a:t>
            </a:r>
            <a:endParaRPr lang="en-US" sz="1400" dirty="0"/>
          </a:p>
        </p:txBody>
      </p:sp>
      <p:sp>
        <p:nvSpPr>
          <p:cNvPr id="21" name="Shape 19"/>
          <p:cNvSpPr/>
          <p:nvPr/>
        </p:nvSpPr>
        <p:spPr>
          <a:xfrm>
            <a:off x="2788920" y="3840480"/>
            <a:ext cx="1874520" cy="475488"/>
          </a:xfrm>
          <a:prstGeom prst="roundRect">
            <a:avLst>
              <a:gd name="adj" fmla="val 50000"/>
            </a:avLst>
          </a:prstGeom>
          <a:solidFill>
            <a:schemeClr val="accent5"/>
          </a:solidFill>
          <a:ln w="12700">
            <a:solidFill>
              <a:schemeClr val="accent5"/>
            </a:solidFill>
            <a:prstDash val="solid"/>
          </a:ln>
        </p:spPr>
      </p:sp>
      <p:sp>
        <p:nvSpPr>
          <p:cNvPr id="22" name="Text 20"/>
          <p:cNvSpPr txBox="1"/>
          <p:nvPr/>
        </p:nvSpPr>
        <p:spPr>
          <a:xfrm>
            <a:off x="2788920" y="3840480"/>
            <a:ext cx="1874520" cy="475488"/>
          </a:xfrm>
          <a:prstGeom prst="rect">
            <a:avLst/>
          </a:prstGeom>
          <a:noFill/>
          <a:ln/>
        </p:spPr>
        <p:txBody>
          <a:bodyPr wrap="square" lIns="0" tIns="0" rIns="0" bIns="0" rtlCol="0" anchor="ctr"/>
          <a:lstStyle/>
          <a:p>
            <a:pPr marL="0" indent="0" algn="ctr">
              <a:buNone/>
            </a:pPr>
            <a:r>
              <a:rPr lang="en-US" sz="1400" b="1" dirty="0">
                <a:solidFill>
                  <a:schemeClr val="bg1"/>
                </a:solidFill>
              </a:rPr>
              <a:t>Containers</a:t>
            </a:r>
            <a:endParaRPr lang="en-US" sz="1400" dirty="0"/>
          </a:p>
        </p:txBody>
      </p:sp>
      <p:sp>
        <p:nvSpPr>
          <p:cNvPr id="23" name="Shape 21"/>
          <p:cNvSpPr/>
          <p:nvPr/>
        </p:nvSpPr>
        <p:spPr>
          <a:xfrm>
            <a:off x="731520" y="4480560"/>
            <a:ext cx="1874520" cy="475488"/>
          </a:xfrm>
          <a:prstGeom prst="roundRect">
            <a:avLst>
              <a:gd name="adj" fmla="val 50000"/>
            </a:avLst>
          </a:prstGeom>
          <a:solidFill>
            <a:schemeClr val="accent5"/>
          </a:solidFill>
          <a:ln w="12700">
            <a:solidFill>
              <a:schemeClr val="accent5"/>
            </a:solidFill>
            <a:prstDash val="solid"/>
          </a:ln>
        </p:spPr>
      </p:sp>
      <p:sp>
        <p:nvSpPr>
          <p:cNvPr id="24" name="Text 22"/>
          <p:cNvSpPr txBox="1"/>
          <p:nvPr/>
        </p:nvSpPr>
        <p:spPr>
          <a:xfrm>
            <a:off x="731520" y="4480560"/>
            <a:ext cx="1874520" cy="475488"/>
          </a:xfrm>
          <a:prstGeom prst="rect">
            <a:avLst/>
          </a:prstGeom>
          <a:noFill/>
          <a:ln/>
        </p:spPr>
        <p:txBody>
          <a:bodyPr wrap="square" lIns="0" tIns="0" rIns="0" bIns="0" rtlCol="0" anchor="ctr"/>
          <a:lstStyle/>
          <a:p>
            <a:pPr marL="0" indent="0" algn="ctr">
              <a:buNone/>
            </a:pPr>
            <a:r>
              <a:rPr lang="en-US" sz="1400" b="1" dirty="0">
                <a:solidFill>
                  <a:schemeClr val="bg1"/>
                </a:solidFill>
              </a:rPr>
              <a:t>Networks</a:t>
            </a:r>
            <a:endParaRPr lang="en-US" sz="1400" dirty="0"/>
          </a:p>
        </p:txBody>
      </p:sp>
      <p:sp>
        <p:nvSpPr>
          <p:cNvPr id="25" name="Shape 23"/>
          <p:cNvSpPr/>
          <p:nvPr/>
        </p:nvSpPr>
        <p:spPr>
          <a:xfrm>
            <a:off x="2788920" y="4480560"/>
            <a:ext cx="1874520" cy="475488"/>
          </a:xfrm>
          <a:prstGeom prst="roundRect">
            <a:avLst>
              <a:gd name="adj" fmla="val 50000"/>
            </a:avLst>
          </a:prstGeom>
          <a:solidFill>
            <a:schemeClr val="accent5"/>
          </a:solidFill>
          <a:ln w="12700">
            <a:solidFill>
              <a:schemeClr val="accent5"/>
            </a:solidFill>
            <a:prstDash val="solid"/>
          </a:ln>
        </p:spPr>
      </p:sp>
      <p:sp>
        <p:nvSpPr>
          <p:cNvPr id="26" name="Text 24"/>
          <p:cNvSpPr txBox="1"/>
          <p:nvPr/>
        </p:nvSpPr>
        <p:spPr>
          <a:xfrm>
            <a:off x="2788920" y="4480560"/>
            <a:ext cx="1874520" cy="475488"/>
          </a:xfrm>
          <a:prstGeom prst="rect">
            <a:avLst/>
          </a:prstGeom>
          <a:noFill/>
          <a:ln/>
        </p:spPr>
        <p:txBody>
          <a:bodyPr wrap="square" lIns="0" tIns="0" rIns="0" bIns="0" rtlCol="0" anchor="ctr"/>
          <a:lstStyle/>
          <a:p>
            <a:pPr marL="0" indent="0" algn="ctr">
              <a:buNone/>
            </a:pPr>
            <a:r>
              <a:rPr lang="en-US" sz="1400" b="1" dirty="0">
                <a:solidFill>
                  <a:schemeClr val="bg1"/>
                </a:solidFill>
              </a:rPr>
              <a:t>Volumes</a:t>
            </a:r>
            <a:endParaRPr lang="en-US" sz="1400" dirty="0"/>
          </a:p>
        </p:txBody>
      </p:sp>
      <p:sp>
        <p:nvSpPr>
          <p:cNvPr id="27" name="Shape 25"/>
          <p:cNvSpPr/>
          <p:nvPr/>
        </p:nvSpPr>
        <p:spPr>
          <a:xfrm>
            <a:off x="6076188" y="2788920"/>
            <a:ext cx="0" cy="822960"/>
          </a:xfrm>
          <a:prstGeom prst="line">
            <a:avLst/>
          </a:prstGeom>
          <a:noFill/>
          <a:ln w="22225">
            <a:solidFill>
              <a:schemeClr val="accent3"/>
            </a:solidFill>
            <a:prstDash val="solid"/>
            <a:headEnd type="triangle"/>
            <a:tailEnd type="triangle"/>
          </a:ln>
        </p:spPr>
      </p:sp>
      <p:sp>
        <p:nvSpPr>
          <p:cNvPr id="28" name="Text 26"/>
          <p:cNvSpPr txBox="1"/>
          <p:nvPr/>
        </p:nvSpPr>
        <p:spPr>
          <a:xfrm>
            <a:off x="6185916" y="3017520"/>
            <a:ext cx="1188720" cy="274320"/>
          </a:xfrm>
          <a:prstGeom prst="rect">
            <a:avLst/>
          </a:prstGeom>
          <a:noFill/>
          <a:ln/>
        </p:spPr>
        <p:txBody>
          <a:bodyPr wrap="square" lIns="0" tIns="0" rIns="0" bIns="0" rtlCol="0" anchor="t"/>
          <a:lstStyle/>
          <a:p>
            <a:pPr marL="0" indent="0">
              <a:buNone/>
            </a:pPr>
            <a:r>
              <a:rPr lang="en-US" sz="1200" dirty="0">
                <a:solidFill>
                  <a:schemeClr val="accent3"/>
                </a:solidFill>
              </a:rPr>
              <a:t>pull / push</a:t>
            </a:r>
            <a:endParaRPr lang="en-US" sz="1200" dirty="0"/>
          </a:p>
        </p:txBody>
      </p:sp>
      <p:sp>
        <p:nvSpPr>
          <p:cNvPr id="29" name="Shape 27"/>
          <p:cNvSpPr/>
          <p:nvPr/>
        </p:nvSpPr>
        <p:spPr>
          <a:xfrm>
            <a:off x="4978908" y="3657600"/>
            <a:ext cx="2194560" cy="2240280"/>
          </a:xfrm>
          <a:prstGeom prst="roundRect">
            <a:avLst>
              <a:gd name="adj" fmla="val 4167"/>
            </a:avLst>
          </a:prstGeom>
          <a:solidFill>
            <a:schemeClr val="tx2"/>
          </a:solidFill>
          <a:ln w="12700">
            <a:solidFill>
              <a:schemeClr val="accent3"/>
            </a:solidFill>
            <a:prstDash val="solid"/>
          </a:ln>
        </p:spPr>
      </p:sp>
      <p:sp>
        <p:nvSpPr>
          <p:cNvPr id="30" name="Text 28"/>
          <p:cNvSpPr txBox="1"/>
          <p:nvPr/>
        </p:nvSpPr>
        <p:spPr>
          <a:xfrm>
            <a:off x="5161788" y="3794760"/>
            <a:ext cx="1828800" cy="365760"/>
          </a:xfrm>
          <a:prstGeom prst="rect">
            <a:avLst/>
          </a:prstGeom>
          <a:noFill/>
          <a:ln/>
        </p:spPr>
        <p:txBody>
          <a:bodyPr wrap="square" lIns="0" tIns="0" rIns="0" bIns="0" rtlCol="0" anchor="t"/>
          <a:lstStyle/>
          <a:p>
            <a:pPr marL="0" indent="0">
              <a:buNone/>
            </a:pPr>
            <a:r>
              <a:rPr lang="en-US" sz="1700" b="1" dirty="0">
                <a:solidFill>
                  <a:schemeClr val="accent3"/>
                </a:solidFill>
              </a:rPr>
              <a:t>Registry</a:t>
            </a:r>
            <a:endParaRPr lang="en-US" sz="1700" dirty="0"/>
          </a:p>
        </p:txBody>
      </p:sp>
      <p:sp>
        <p:nvSpPr>
          <p:cNvPr id="31" name="Text 29"/>
          <p:cNvSpPr txBox="1"/>
          <p:nvPr/>
        </p:nvSpPr>
        <p:spPr>
          <a:xfrm>
            <a:off x="5161788" y="4206240"/>
            <a:ext cx="1874520" cy="1554480"/>
          </a:xfrm>
          <a:prstGeom prst="rect">
            <a:avLst/>
          </a:prstGeom>
          <a:noFill/>
          <a:ln/>
        </p:spPr>
        <p:txBody>
          <a:bodyPr wrap="square" lIns="0" tIns="0" rIns="0" bIns="0" rtlCol="0" anchor="t"/>
          <a:lstStyle/>
          <a:p>
            <a:pPr marL="0" indent="0">
              <a:buNone/>
            </a:pPr>
            <a:r>
              <a:rPr lang="en-US" sz="1400" dirty="0">
                <a:solidFill>
                  <a:schemeClr val="bg1"/>
                </a:solidFill>
              </a:rPr>
              <a:t>Docker Hub, GHCR, Amazon ECR: where the daemon pulls and pushes images.</a:t>
            </a:r>
            <a:endParaRPr lang="en-US" sz="1400" dirty="0"/>
          </a:p>
        </p:txBody>
      </p:sp>
      <p:sp>
        <p:nvSpPr>
          <p:cNvPr id="32" name="Text 30"/>
          <p:cNvSpPr txBox="1"/>
          <p:nvPr/>
        </p:nvSpPr>
        <p:spPr>
          <a:xfrm>
            <a:off x="7589520" y="3429000"/>
            <a:ext cx="3840480" cy="1371600"/>
          </a:xfrm>
          <a:prstGeom prst="rect">
            <a:avLst/>
          </a:prstGeom>
          <a:noFill/>
          <a:ln/>
        </p:spPr>
        <p:txBody>
          <a:bodyPr wrap="square" lIns="0" tIns="0" rIns="0" bIns="0" rtlCol="0" anchor="t"/>
          <a:lstStyle/>
          <a:p>
            <a:pPr marL="0" indent="0">
              <a:buNone/>
            </a:pPr>
            <a:r>
              <a:rPr lang="en-US" sz="1500" dirty="0">
                <a:solidFill>
                  <a:schemeClr val="bg2"/>
                </a:solidFill>
              </a:rPr>
              <a:t>You type a command → the CLI calls the REST API → the daemon does the work → the runtime creates namespaces and cgroups → your container runs.</a:t>
            </a:r>
            <a:endParaRPr lang="en-US" sz="1500" dirty="0"/>
          </a:p>
        </p:txBody>
      </p:sp>
      <p:sp>
        <p:nvSpPr>
          <p:cNvPr id="33" name="Shape 31"/>
          <p:cNvSpPr/>
          <p:nvPr/>
        </p:nvSpPr>
        <p:spPr>
          <a:xfrm>
            <a:off x="7589520" y="4892040"/>
            <a:ext cx="3840480" cy="1005840"/>
          </a:xfrm>
          <a:prstGeom prst="roundRect">
            <a:avLst>
              <a:gd name="adj" fmla="val 9091"/>
            </a:avLst>
          </a:prstGeom>
          <a:solidFill>
            <a:schemeClr val="tx2"/>
          </a:solidFill>
          <a:ln w="12700">
            <a:solidFill>
              <a:schemeClr val="accent6"/>
            </a:solidFill>
            <a:prstDash val="solid"/>
          </a:ln>
        </p:spPr>
      </p:sp>
      <p:sp>
        <p:nvSpPr>
          <p:cNvPr id="34" name="Text 32"/>
          <p:cNvSpPr txBox="1"/>
          <p:nvPr/>
        </p:nvSpPr>
        <p:spPr>
          <a:xfrm>
            <a:off x="7772400" y="4892040"/>
            <a:ext cx="3520440" cy="1005840"/>
          </a:xfrm>
          <a:prstGeom prst="rect">
            <a:avLst/>
          </a:prstGeom>
          <a:noFill/>
          <a:ln/>
        </p:spPr>
        <p:txBody>
          <a:bodyPr wrap="square" lIns="0" tIns="0" rIns="0" bIns="0" rtlCol="0" anchor="ctr"/>
          <a:lstStyle/>
          <a:p>
            <a:pPr marL="0" indent="0">
              <a:buNone/>
            </a:pPr>
            <a:r>
              <a:rPr lang="en-US" sz="1400" b="1" dirty="0">
                <a:solidFill>
                  <a:schemeClr val="accent2"/>
                </a:solidFill>
              </a:rPr>
              <a:t>Why it matters: </a:t>
            </a:r>
            <a:r>
              <a:rPr lang="en-US" sz="1400" dirty="0">
                <a:solidFill>
                  <a:schemeClr val="bg1"/>
                </a:solidFill>
              </a:rPr>
              <a:t>the CLI is only a messenger; the daemon can even run on another machine.</a:t>
            </a:r>
            <a:endParaRPr lang="en-US" sz="1400" dirty="0"/>
          </a:p>
        </p:txBody>
      </p:sp>
      <p:sp>
        <p:nvSpPr>
          <p:cNvPr id="3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THINK ABOUT IT</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What if the Docker daemon goes down?</a:t>
            </a:r>
            <a:endParaRPr lang="en-US" sz="3000" dirty="0"/>
          </a:p>
        </p:txBody>
      </p:sp>
      <p:sp>
        <p:nvSpPr>
          <p:cNvPr id="4" name="Text 2"/>
          <p:cNvSpPr txBox="1"/>
          <p:nvPr/>
        </p:nvSpPr>
        <p:spPr>
          <a:xfrm>
            <a:off x="731520" y="1417320"/>
            <a:ext cx="10698480" cy="365760"/>
          </a:xfrm>
          <a:prstGeom prst="rect">
            <a:avLst/>
          </a:prstGeom>
          <a:noFill/>
          <a:ln/>
        </p:spPr>
        <p:txBody>
          <a:bodyPr wrap="square" lIns="0" tIns="0" rIns="0" bIns="0" rtlCol="0" anchor="t"/>
          <a:lstStyle/>
          <a:p>
            <a:pPr marL="0" indent="0">
              <a:buNone/>
            </a:pPr>
            <a:r>
              <a:rPr lang="en-US" sz="1700" dirty="0">
                <a:solidFill>
                  <a:schemeClr val="bg2"/>
                </a:solidFill>
              </a:rPr>
              <a:t>The engine stops. What happens to the containers that were running?</a:t>
            </a:r>
            <a:endParaRPr lang="en-US" sz="1700" dirty="0"/>
          </a:p>
        </p:txBody>
      </p:sp>
      <p:sp>
        <p:nvSpPr>
          <p:cNvPr id="5" name="Shape 3"/>
          <p:cNvSpPr/>
          <p:nvPr/>
        </p:nvSpPr>
        <p:spPr>
          <a:xfrm>
            <a:off x="731520" y="1920240"/>
            <a:ext cx="7680960" cy="822960"/>
          </a:xfrm>
          <a:prstGeom prst="roundRect">
            <a:avLst>
              <a:gd name="adj" fmla="val 11111"/>
            </a:avLst>
          </a:prstGeom>
          <a:solidFill>
            <a:schemeClr val="tx2"/>
          </a:solidFill>
          <a:ln w="12700">
            <a:solidFill>
              <a:schemeClr val="accent6"/>
            </a:solidFill>
            <a:prstDash val="solid"/>
          </a:ln>
        </p:spPr>
      </p:sp>
      <p:sp>
        <p:nvSpPr>
          <p:cNvPr id="6" name="Shape 4"/>
          <p:cNvSpPr/>
          <p:nvPr/>
        </p:nvSpPr>
        <p:spPr>
          <a:xfrm>
            <a:off x="960120" y="2075688"/>
            <a:ext cx="512064" cy="512064"/>
          </a:xfrm>
          <a:prstGeom prst="ellipse">
            <a:avLst/>
          </a:prstGeom>
          <a:solidFill>
            <a:schemeClr val="accent1"/>
          </a:solidFill>
          <a:ln w="12700">
            <a:solidFill>
              <a:schemeClr val="accent1"/>
            </a:solidFill>
            <a:prstDash val="solid"/>
          </a:ln>
        </p:spPr>
      </p:sp>
      <p:sp>
        <p:nvSpPr>
          <p:cNvPr id="7" name="Text 5"/>
          <p:cNvSpPr txBox="1"/>
          <p:nvPr/>
        </p:nvSpPr>
        <p:spPr>
          <a:xfrm>
            <a:off x="960120" y="207568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8" name="Text 6"/>
          <p:cNvSpPr txBox="1"/>
          <p:nvPr/>
        </p:nvSpPr>
        <p:spPr>
          <a:xfrm>
            <a:off x="1737360" y="1920240"/>
            <a:ext cx="6492240" cy="822960"/>
          </a:xfrm>
          <a:prstGeom prst="rect">
            <a:avLst/>
          </a:prstGeom>
          <a:noFill/>
          <a:ln/>
        </p:spPr>
        <p:txBody>
          <a:bodyPr wrap="square" lIns="0" tIns="0" rIns="0" bIns="0" rtlCol="0" anchor="ctr"/>
          <a:lstStyle/>
          <a:p>
            <a:pPr marL="0" indent="0">
              <a:buNone/>
            </a:pPr>
            <a:r>
              <a:rPr lang="en-US" sz="1900" dirty="0">
                <a:solidFill>
                  <a:schemeClr val="bg1"/>
                </a:solidFill>
              </a:rPr>
              <a:t>They keep running as if nothing happened</a:t>
            </a:r>
            <a:endParaRPr lang="en-US" sz="1900" dirty="0"/>
          </a:p>
        </p:txBody>
      </p:sp>
      <p:sp>
        <p:nvSpPr>
          <p:cNvPr id="9" name="Shape 7"/>
          <p:cNvSpPr/>
          <p:nvPr/>
        </p:nvSpPr>
        <p:spPr>
          <a:xfrm>
            <a:off x="731520" y="2971800"/>
            <a:ext cx="7680960" cy="822960"/>
          </a:xfrm>
          <a:prstGeom prst="roundRect">
            <a:avLst>
              <a:gd name="adj" fmla="val 11111"/>
            </a:avLst>
          </a:prstGeom>
          <a:solidFill>
            <a:schemeClr val="tx2"/>
          </a:solidFill>
          <a:ln w="12700">
            <a:solidFill>
              <a:schemeClr val="accent6"/>
            </a:solidFill>
            <a:prstDash val="solid"/>
          </a:ln>
        </p:spPr>
      </p:sp>
      <p:sp>
        <p:nvSpPr>
          <p:cNvPr id="10" name="Shape 8"/>
          <p:cNvSpPr/>
          <p:nvPr/>
        </p:nvSpPr>
        <p:spPr>
          <a:xfrm>
            <a:off x="960120" y="3127248"/>
            <a:ext cx="512064" cy="512064"/>
          </a:xfrm>
          <a:prstGeom prst="ellipse">
            <a:avLst/>
          </a:prstGeom>
          <a:solidFill>
            <a:schemeClr val="accent1"/>
          </a:solidFill>
          <a:ln w="12700">
            <a:solidFill>
              <a:schemeClr val="accent1"/>
            </a:solidFill>
            <a:prstDash val="solid"/>
          </a:ln>
        </p:spPr>
      </p:sp>
      <p:sp>
        <p:nvSpPr>
          <p:cNvPr id="11" name="Text 9"/>
          <p:cNvSpPr txBox="1"/>
          <p:nvPr/>
        </p:nvSpPr>
        <p:spPr>
          <a:xfrm>
            <a:off x="960120" y="312724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B</a:t>
            </a:r>
            <a:endParaRPr lang="en-US" sz="1800" dirty="0"/>
          </a:p>
        </p:txBody>
      </p:sp>
      <p:sp>
        <p:nvSpPr>
          <p:cNvPr id="12" name="Text 10"/>
          <p:cNvSpPr txBox="1"/>
          <p:nvPr/>
        </p:nvSpPr>
        <p:spPr>
          <a:xfrm>
            <a:off x="1737360" y="2971800"/>
            <a:ext cx="6492240" cy="822960"/>
          </a:xfrm>
          <a:prstGeom prst="rect">
            <a:avLst/>
          </a:prstGeom>
          <a:noFill/>
          <a:ln/>
        </p:spPr>
        <p:txBody>
          <a:bodyPr wrap="square" lIns="0" tIns="0" rIns="0" bIns="0" rtlCol="0" anchor="ctr"/>
          <a:lstStyle/>
          <a:p>
            <a:pPr marL="0" indent="0">
              <a:buNone/>
            </a:pPr>
            <a:r>
              <a:rPr lang="en-US" sz="1900" dirty="0">
                <a:solidFill>
                  <a:schemeClr val="bg1"/>
                </a:solidFill>
              </a:rPr>
              <a:t>They all stop</a:t>
            </a:r>
            <a:endParaRPr lang="en-US" sz="1900" dirty="0"/>
          </a:p>
        </p:txBody>
      </p:sp>
      <p:sp>
        <p:nvSpPr>
          <p:cNvPr id="13" name="Shape 11"/>
          <p:cNvSpPr/>
          <p:nvPr/>
        </p:nvSpPr>
        <p:spPr>
          <a:xfrm>
            <a:off x="731520" y="4023360"/>
            <a:ext cx="7680960" cy="822960"/>
          </a:xfrm>
          <a:prstGeom prst="roundRect">
            <a:avLst>
              <a:gd name="adj" fmla="val 11111"/>
            </a:avLst>
          </a:prstGeom>
          <a:solidFill>
            <a:schemeClr val="tx2"/>
          </a:solidFill>
          <a:ln w="12700">
            <a:solidFill>
              <a:schemeClr val="accent6"/>
            </a:solidFill>
            <a:prstDash val="solid"/>
          </a:ln>
        </p:spPr>
      </p:sp>
      <p:sp>
        <p:nvSpPr>
          <p:cNvPr id="14" name="Shape 12"/>
          <p:cNvSpPr/>
          <p:nvPr/>
        </p:nvSpPr>
        <p:spPr>
          <a:xfrm>
            <a:off x="960120" y="4178808"/>
            <a:ext cx="512064" cy="512064"/>
          </a:xfrm>
          <a:prstGeom prst="ellipse">
            <a:avLst/>
          </a:prstGeom>
          <a:solidFill>
            <a:schemeClr val="accent1"/>
          </a:solidFill>
          <a:ln w="12700">
            <a:solidFill>
              <a:schemeClr val="accent1"/>
            </a:solidFill>
            <a:prstDash val="solid"/>
          </a:ln>
        </p:spPr>
      </p:sp>
      <p:sp>
        <p:nvSpPr>
          <p:cNvPr id="15" name="Text 13"/>
          <p:cNvSpPr txBox="1"/>
          <p:nvPr/>
        </p:nvSpPr>
        <p:spPr>
          <a:xfrm>
            <a:off x="960120" y="417880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C</a:t>
            </a:r>
            <a:endParaRPr lang="en-US" sz="1800" dirty="0"/>
          </a:p>
        </p:txBody>
      </p:sp>
      <p:sp>
        <p:nvSpPr>
          <p:cNvPr id="16" name="Text 14"/>
          <p:cNvSpPr txBox="1"/>
          <p:nvPr/>
        </p:nvSpPr>
        <p:spPr>
          <a:xfrm>
            <a:off x="1737360" y="4023360"/>
            <a:ext cx="6492240" cy="822960"/>
          </a:xfrm>
          <a:prstGeom prst="rect">
            <a:avLst/>
          </a:prstGeom>
          <a:noFill/>
          <a:ln/>
        </p:spPr>
        <p:txBody>
          <a:bodyPr wrap="square" lIns="0" tIns="0" rIns="0" bIns="0" rtlCol="0" anchor="ctr"/>
          <a:lstStyle/>
          <a:p>
            <a:pPr marL="0" indent="0">
              <a:buNone/>
            </a:pPr>
            <a:r>
              <a:rPr lang="en-US" sz="1900" dirty="0">
                <a:solidFill>
                  <a:schemeClr val="bg1"/>
                </a:solidFill>
              </a:rPr>
              <a:t>It depends on how Docker is configured</a:t>
            </a:r>
            <a:endParaRPr lang="en-US" sz="1900" dirty="0"/>
          </a:p>
        </p:txBody>
      </p:sp>
      <p:sp>
        <p:nvSpPr>
          <p:cNvPr id="17" name="Text 15"/>
          <p:cNvSpPr txBox="1"/>
          <p:nvPr/>
        </p:nvSpPr>
        <p:spPr>
          <a:xfrm>
            <a:off x="8869680" y="2011680"/>
            <a:ext cx="2651760" cy="1463040"/>
          </a:xfrm>
          <a:prstGeom prst="rect">
            <a:avLst/>
          </a:prstGeom>
          <a:noFill/>
          <a:ln/>
        </p:spPr>
        <p:txBody>
          <a:bodyPr wrap="square" lIns="0" tIns="0" rIns="0" bIns="0" rtlCol="0" anchor="t"/>
          <a:lstStyle/>
          <a:p>
            <a:pPr marL="0" indent="0">
              <a:buNone/>
            </a:pPr>
            <a:r>
              <a:rPr lang="en-US" sz="2600" b="1" dirty="0">
                <a:solidFill>
                  <a:schemeClr val="accent2"/>
                </a:solidFill>
                <a:latin typeface="Segoe UI Semibold" pitchFamily="34" charset="0"/>
                <a:ea typeface="Segoe UI Semibold" pitchFamily="34" charset="-122"/>
                <a:cs typeface="Segoe UI Semibold" pitchFamily="34" charset="-120"/>
              </a:rPr>
              <a:t>Vote first.</a:t>
            </a:r>
            <a:endParaRPr lang="en-US" sz="2600" dirty="0"/>
          </a:p>
          <a:p>
            <a:pPr marL="0" indent="0">
              <a:buNone/>
            </a:pPr>
            <a:r>
              <a:rPr lang="en-US" sz="2600" b="1" dirty="0">
                <a:solidFill>
                  <a:schemeClr val="accent2"/>
                </a:solidFill>
                <a:latin typeface="Segoe UI Semibold" pitchFamily="34" charset="0"/>
                <a:ea typeface="Segoe UI Semibold" pitchFamily="34" charset="-122"/>
                <a:cs typeface="Segoe UI Semibold" pitchFamily="34" charset="-120"/>
              </a:rPr>
              <a:t>Then we test it.</a:t>
            </a:r>
            <a:endParaRPr lang="en-US" sz="2600" dirty="0"/>
          </a:p>
        </p:txBody>
      </p:sp>
      <p:sp>
        <p:nvSpPr>
          <p:cNvPr id="18" name="Text 16"/>
          <p:cNvSpPr txBox="1"/>
          <p:nvPr/>
        </p:nvSpPr>
        <p:spPr>
          <a:xfrm>
            <a:off x="8869680" y="3657600"/>
            <a:ext cx="2560320" cy="1097280"/>
          </a:xfrm>
          <a:prstGeom prst="rect">
            <a:avLst/>
          </a:prstGeom>
          <a:noFill/>
          <a:ln/>
        </p:spPr>
        <p:txBody>
          <a:bodyPr wrap="square" lIns="0" tIns="0" rIns="0" bIns="0" rtlCol="0" anchor="t"/>
          <a:lstStyle/>
          <a:p>
            <a:pPr marL="0" indent="0">
              <a:buNone/>
            </a:pPr>
            <a:r>
              <a:rPr lang="en-US" sz="1600" dirty="0">
                <a:solidFill>
                  <a:schemeClr val="bg2"/>
                </a:solidFill>
              </a:rPr>
              <a:t>Bonus: what happens to the images on disk?</a:t>
            </a:r>
            <a:endParaRPr lang="en-US" sz="16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DOCKER ARCHITECTURE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From your laptop to any machine</a:t>
            </a:r>
            <a:endParaRPr lang="en-US" sz="3000" dirty="0"/>
          </a:p>
        </p:txBody>
      </p:sp>
      <p:sp>
        <p:nvSpPr>
          <p:cNvPr id="4" name="Shape 2"/>
          <p:cNvSpPr/>
          <p:nvPr/>
        </p:nvSpPr>
        <p:spPr>
          <a:xfrm>
            <a:off x="731520" y="2148840"/>
            <a:ext cx="1691640" cy="1143000"/>
          </a:xfrm>
          <a:prstGeom prst="roundRect">
            <a:avLst>
              <a:gd name="adj" fmla="val 8000"/>
            </a:avLst>
          </a:prstGeom>
          <a:solidFill>
            <a:schemeClr val="tx2"/>
          </a:solidFill>
          <a:ln w="12700">
            <a:solidFill>
              <a:schemeClr val="accent6"/>
            </a:solidFill>
            <a:prstDash val="solid"/>
          </a:ln>
        </p:spPr>
      </p:sp>
      <p:sp>
        <p:nvSpPr>
          <p:cNvPr id="5" name="Text 3"/>
          <p:cNvSpPr txBox="1"/>
          <p:nvPr/>
        </p:nvSpPr>
        <p:spPr>
          <a:xfrm>
            <a:off x="804672" y="2148840"/>
            <a:ext cx="1545336" cy="114300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Developer</a:t>
            </a:r>
            <a:endParaRPr lang="en-US" sz="1500" dirty="0"/>
          </a:p>
          <a:p>
            <a:pPr marL="0" indent="0" algn="ctr">
              <a:spcAft>
                <a:spcPts val="200"/>
              </a:spcAft>
              <a:buNone/>
            </a:pPr>
            <a:r>
              <a:rPr lang="en-US" sz="1200" dirty="0">
                <a:solidFill>
                  <a:schemeClr val="bg2"/>
                </a:solidFill>
              </a:rPr>
              <a:t>writes code + Dockerfile</a:t>
            </a:r>
            <a:endParaRPr lang="en-US" sz="1500" dirty="0"/>
          </a:p>
        </p:txBody>
      </p:sp>
      <p:sp>
        <p:nvSpPr>
          <p:cNvPr id="6" name="Shape 4"/>
          <p:cNvSpPr/>
          <p:nvPr/>
        </p:nvSpPr>
        <p:spPr>
          <a:xfrm>
            <a:off x="2459736" y="2724912"/>
            <a:ext cx="493776" cy="0"/>
          </a:xfrm>
          <a:prstGeom prst="line">
            <a:avLst/>
          </a:prstGeom>
          <a:noFill/>
          <a:ln w="22225">
            <a:solidFill>
              <a:schemeClr val="accent1"/>
            </a:solidFill>
            <a:prstDash val="solid"/>
            <a:tailEnd type="triangle"/>
          </a:ln>
        </p:spPr>
      </p:sp>
      <p:sp>
        <p:nvSpPr>
          <p:cNvPr id="7" name="Text 5"/>
          <p:cNvSpPr txBox="1"/>
          <p:nvPr/>
        </p:nvSpPr>
        <p:spPr>
          <a:xfrm>
            <a:off x="1965960" y="1691640"/>
            <a:ext cx="1481328" cy="365760"/>
          </a:xfrm>
          <a:prstGeom prst="rect">
            <a:avLst/>
          </a:prstGeom>
          <a:noFill/>
          <a:ln/>
        </p:spPr>
        <p:txBody>
          <a:bodyPr wrap="square" lIns="0" tIns="0" rIns="0" bIns="0" rtlCol="0" anchor="b"/>
          <a:lstStyle/>
          <a:p>
            <a:pPr marL="0" indent="0" algn="ctr">
              <a:buNone/>
            </a:pPr>
            <a:r>
              <a:rPr lang="en-US" sz="1300" dirty="0">
                <a:solidFill>
                  <a:schemeClr val="accent1"/>
                </a:solidFill>
                <a:latin typeface="Consolas" pitchFamily="34" charset="0"/>
                <a:ea typeface="Consolas" pitchFamily="34" charset="-122"/>
                <a:cs typeface="Consolas" pitchFamily="34" charset="-120"/>
              </a:rPr>
              <a:t>docker build</a:t>
            </a:r>
            <a:endParaRPr lang="en-US" sz="1300" dirty="0"/>
          </a:p>
        </p:txBody>
      </p:sp>
      <p:sp>
        <p:nvSpPr>
          <p:cNvPr id="8" name="Shape 6"/>
          <p:cNvSpPr/>
          <p:nvPr/>
        </p:nvSpPr>
        <p:spPr>
          <a:xfrm>
            <a:off x="2990088" y="2148840"/>
            <a:ext cx="1691640" cy="1143000"/>
          </a:xfrm>
          <a:prstGeom prst="roundRect">
            <a:avLst>
              <a:gd name="adj" fmla="val 8000"/>
            </a:avLst>
          </a:prstGeom>
          <a:solidFill>
            <a:schemeClr val="tx2"/>
          </a:solidFill>
          <a:ln w="12700">
            <a:solidFill>
              <a:schemeClr val="accent6"/>
            </a:solidFill>
            <a:prstDash val="solid"/>
          </a:ln>
        </p:spPr>
      </p:sp>
      <p:sp>
        <p:nvSpPr>
          <p:cNvPr id="9" name="Text 7"/>
          <p:cNvSpPr txBox="1"/>
          <p:nvPr/>
        </p:nvSpPr>
        <p:spPr>
          <a:xfrm>
            <a:off x="3063240" y="2148840"/>
            <a:ext cx="1545336" cy="114300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Image</a:t>
            </a:r>
            <a:endParaRPr lang="en-US" sz="1500" dirty="0"/>
          </a:p>
          <a:p>
            <a:pPr marL="0" indent="0" algn="ctr">
              <a:spcAft>
                <a:spcPts val="200"/>
              </a:spcAft>
              <a:buNone/>
            </a:pPr>
            <a:r>
              <a:rPr lang="en-US" sz="1200" dirty="0">
                <a:solidFill>
                  <a:schemeClr val="bg2"/>
                </a:solidFill>
              </a:rPr>
              <a:t>myapp:1.0</a:t>
            </a:r>
            <a:endParaRPr lang="en-US" sz="1500" dirty="0"/>
          </a:p>
        </p:txBody>
      </p:sp>
      <p:sp>
        <p:nvSpPr>
          <p:cNvPr id="10" name="Shape 8"/>
          <p:cNvSpPr/>
          <p:nvPr/>
        </p:nvSpPr>
        <p:spPr>
          <a:xfrm>
            <a:off x="4718304" y="2724912"/>
            <a:ext cx="493776" cy="0"/>
          </a:xfrm>
          <a:prstGeom prst="line">
            <a:avLst/>
          </a:prstGeom>
          <a:noFill/>
          <a:ln w="22225">
            <a:solidFill>
              <a:schemeClr val="accent1"/>
            </a:solidFill>
            <a:prstDash val="solid"/>
            <a:tailEnd type="triangle"/>
          </a:ln>
        </p:spPr>
      </p:sp>
      <p:sp>
        <p:nvSpPr>
          <p:cNvPr id="11" name="Text 9"/>
          <p:cNvSpPr txBox="1"/>
          <p:nvPr/>
        </p:nvSpPr>
        <p:spPr>
          <a:xfrm>
            <a:off x="4224528" y="1691640"/>
            <a:ext cx="1481328" cy="365760"/>
          </a:xfrm>
          <a:prstGeom prst="rect">
            <a:avLst/>
          </a:prstGeom>
          <a:noFill/>
          <a:ln/>
        </p:spPr>
        <p:txBody>
          <a:bodyPr wrap="square" lIns="0" tIns="0" rIns="0" bIns="0" rtlCol="0" anchor="b"/>
          <a:lstStyle/>
          <a:p>
            <a:pPr marL="0" indent="0" algn="ctr">
              <a:buNone/>
            </a:pPr>
            <a:r>
              <a:rPr lang="en-US" sz="1300" dirty="0">
                <a:solidFill>
                  <a:schemeClr val="accent1"/>
                </a:solidFill>
                <a:latin typeface="Consolas" pitchFamily="34" charset="0"/>
                <a:ea typeface="Consolas" pitchFamily="34" charset="-122"/>
                <a:cs typeface="Consolas" pitchFamily="34" charset="-120"/>
              </a:rPr>
              <a:t>docker push</a:t>
            </a:r>
            <a:endParaRPr lang="en-US" sz="1300" dirty="0"/>
          </a:p>
        </p:txBody>
      </p:sp>
      <p:sp>
        <p:nvSpPr>
          <p:cNvPr id="12" name="Shape 10"/>
          <p:cNvSpPr/>
          <p:nvPr/>
        </p:nvSpPr>
        <p:spPr>
          <a:xfrm>
            <a:off x="5248656" y="2148840"/>
            <a:ext cx="1691640" cy="1143000"/>
          </a:xfrm>
          <a:prstGeom prst="roundRect">
            <a:avLst>
              <a:gd name="adj" fmla="val 8000"/>
            </a:avLst>
          </a:prstGeom>
          <a:solidFill>
            <a:srgbClr val="2E2410"/>
          </a:solidFill>
          <a:ln w="12700">
            <a:solidFill>
              <a:schemeClr val="accent3"/>
            </a:solidFill>
            <a:prstDash val="solid"/>
          </a:ln>
        </p:spPr>
      </p:sp>
      <p:sp>
        <p:nvSpPr>
          <p:cNvPr id="13" name="Text 11"/>
          <p:cNvSpPr txBox="1"/>
          <p:nvPr/>
        </p:nvSpPr>
        <p:spPr>
          <a:xfrm>
            <a:off x="5321808" y="2148840"/>
            <a:ext cx="1545336" cy="114300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Registry</a:t>
            </a:r>
            <a:endParaRPr lang="en-US" sz="1500" dirty="0"/>
          </a:p>
          <a:p>
            <a:pPr marL="0" indent="0" algn="ctr">
              <a:spcAft>
                <a:spcPts val="200"/>
              </a:spcAft>
              <a:buNone/>
            </a:pPr>
            <a:r>
              <a:rPr lang="en-US" sz="1200" dirty="0">
                <a:solidFill>
                  <a:schemeClr val="bg2"/>
                </a:solidFill>
              </a:rPr>
              <a:t>Docker Hub</a:t>
            </a:r>
            <a:endParaRPr lang="en-US" sz="1500" dirty="0"/>
          </a:p>
        </p:txBody>
      </p:sp>
      <p:sp>
        <p:nvSpPr>
          <p:cNvPr id="14" name="Shape 12"/>
          <p:cNvSpPr/>
          <p:nvPr/>
        </p:nvSpPr>
        <p:spPr>
          <a:xfrm>
            <a:off x="6976872" y="2724912"/>
            <a:ext cx="493776" cy="0"/>
          </a:xfrm>
          <a:prstGeom prst="line">
            <a:avLst/>
          </a:prstGeom>
          <a:noFill/>
          <a:ln w="22225">
            <a:solidFill>
              <a:schemeClr val="accent1"/>
            </a:solidFill>
            <a:prstDash val="solid"/>
            <a:tailEnd type="triangle"/>
          </a:ln>
        </p:spPr>
      </p:sp>
      <p:sp>
        <p:nvSpPr>
          <p:cNvPr id="15" name="Text 13"/>
          <p:cNvSpPr txBox="1"/>
          <p:nvPr/>
        </p:nvSpPr>
        <p:spPr>
          <a:xfrm>
            <a:off x="6483096" y="1691640"/>
            <a:ext cx="1481328" cy="365760"/>
          </a:xfrm>
          <a:prstGeom prst="rect">
            <a:avLst/>
          </a:prstGeom>
          <a:noFill/>
          <a:ln/>
        </p:spPr>
        <p:txBody>
          <a:bodyPr wrap="square" lIns="0" tIns="0" rIns="0" bIns="0" rtlCol="0" anchor="b"/>
          <a:lstStyle/>
          <a:p>
            <a:pPr marL="0" indent="0" algn="ctr">
              <a:buNone/>
            </a:pPr>
            <a:r>
              <a:rPr lang="en-US" sz="1300" dirty="0">
                <a:solidFill>
                  <a:schemeClr val="accent1"/>
                </a:solidFill>
                <a:latin typeface="Consolas" pitchFamily="34" charset="0"/>
                <a:ea typeface="Consolas" pitchFamily="34" charset="-122"/>
                <a:cs typeface="Consolas" pitchFamily="34" charset="-120"/>
              </a:rPr>
              <a:t>docker pull</a:t>
            </a:r>
            <a:endParaRPr lang="en-US" sz="1300" dirty="0"/>
          </a:p>
        </p:txBody>
      </p:sp>
      <p:sp>
        <p:nvSpPr>
          <p:cNvPr id="16" name="Shape 14"/>
          <p:cNvSpPr/>
          <p:nvPr/>
        </p:nvSpPr>
        <p:spPr>
          <a:xfrm>
            <a:off x="7507224" y="2148840"/>
            <a:ext cx="1691640" cy="1143000"/>
          </a:xfrm>
          <a:prstGeom prst="roundRect">
            <a:avLst>
              <a:gd name="adj" fmla="val 8000"/>
            </a:avLst>
          </a:prstGeom>
          <a:solidFill>
            <a:schemeClr val="tx2"/>
          </a:solidFill>
          <a:ln w="12700">
            <a:solidFill>
              <a:schemeClr val="accent6"/>
            </a:solidFill>
            <a:prstDash val="solid"/>
          </a:ln>
        </p:spPr>
      </p:sp>
      <p:sp>
        <p:nvSpPr>
          <p:cNvPr id="17" name="Text 15"/>
          <p:cNvSpPr txBox="1"/>
          <p:nvPr/>
        </p:nvSpPr>
        <p:spPr>
          <a:xfrm>
            <a:off x="7580376" y="2148840"/>
            <a:ext cx="1545336" cy="114300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Another machine</a:t>
            </a:r>
            <a:endParaRPr lang="en-US" sz="1500" dirty="0"/>
          </a:p>
          <a:p>
            <a:pPr marL="0" indent="0" algn="ctr">
              <a:spcAft>
                <a:spcPts val="200"/>
              </a:spcAft>
              <a:buNone/>
            </a:pPr>
            <a:r>
              <a:rPr lang="en-US" sz="1200" dirty="0">
                <a:solidFill>
                  <a:schemeClr val="bg2"/>
                </a:solidFill>
              </a:rPr>
              <a:t>server or cloud</a:t>
            </a:r>
            <a:endParaRPr lang="en-US" sz="1500" dirty="0"/>
          </a:p>
        </p:txBody>
      </p:sp>
      <p:sp>
        <p:nvSpPr>
          <p:cNvPr id="18" name="Shape 16"/>
          <p:cNvSpPr/>
          <p:nvPr/>
        </p:nvSpPr>
        <p:spPr>
          <a:xfrm>
            <a:off x="9235440" y="2724912"/>
            <a:ext cx="493776" cy="0"/>
          </a:xfrm>
          <a:prstGeom prst="line">
            <a:avLst/>
          </a:prstGeom>
          <a:noFill/>
          <a:ln w="22225">
            <a:solidFill>
              <a:schemeClr val="accent1"/>
            </a:solidFill>
            <a:prstDash val="solid"/>
            <a:tailEnd type="triangle"/>
          </a:ln>
        </p:spPr>
      </p:sp>
      <p:sp>
        <p:nvSpPr>
          <p:cNvPr id="19" name="Text 17"/>
          <p:cNvSpPr txBox="1"/>
          <p:nvPr/>
        </p:nvSpPr>
        <p:spPr>
          <a:xfrm>
            <a:off x="8741664" y="1691640"/>
            <a:ext cx="1481328" cy="365760"/>
          </a:xfrm>
          <a:prstGeom prst="rect">
            <a:avLst/>
          </a:prstGeom>
          <a:noFill/>
          <a:ln/>
        </p:spPr>
        <p:txBody>
          <a:bodyPr wrap="square" lIns="0" tIns="0" rIns="0" bIns="0" rtlCol="0" anchor="b"/>
          <a:lstStyle/>
          <a:p>
            <a:pPr marL="0" indent="0" algn="ctr">
              <a:buNone/>
            </a:pPr>
            <a:r>
              <a:rPr lang="en-US" sz="1300" dirty="0">
                <a:solidFill>
                  <a:schemeClr val="accent1"/>
                </a:solidFill>
                <a:latin typeface="Consolas" pitchFamily="34" charset="0"/>
                <a:ea typeface="Consolas" pitchFamily="34" charset="-122"/>
                <a:cs typeface="Consolas" pitchFamily="34" charset="-120"/>
              </a:rPr>
              <a:t>docker run</a:t>
            </a:r>
            <a:endParaRPr lang="en-US" sz="1300" dirty="0"/>
          </a:p>
        </p:txBody>
      </p:sp>
      <p:sp>
        <p:nvSpPr>
          <p:cNvPr id="20" name="Shape 18"/>
          <p:cNvSpPr/>
          <p:nvPr/>
        </p:nvSpPr>
        <p:spPr>
          <a:xfrm>
            <a:off x="9765792" y="2148840"/>
            <a:ext cx="1691640" cy="1143000"/>
          </a:xfrm>
          <a:prstGeom prst="roundRect">
            <a:avLst>
              <a:gd name="adj" fmla="val 8000"/>
            </a:avLst>
          </a:prstGeom>
          <a:solidFill>
            <a:srgbClr val="0F3B3A"/>
          </a:solidFill>
          <a:ln w="12700">
            <a:solidFill>
              <a:schemeClr val="accent2"/>
            </a:solidFill>
            <a:prstDash val="solid"/>
          </a:ln>
        </p:spPr>
      </p:sp>
      <p:sp>
        <p:nvSpPr>
          <p:cNvPr id="21" name="Text 19"/>
          <p:cNvSpPr txBox="1"/>
          <p:nvPr/>
        </p:nvSpPr>
        <p:spPr>
          <a:xfrm>
            <a:off x="9838944" y="2148840"/>
            <a:ext cx="1545336" cy="1143000"/>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Container</a:t>
            </a:r>
            <a:endParaRPr lang="en-US" sz="1500" dirty="0"/>
          </a:p>
          <a:p>
            <a:pPr marL="0" indent="0" algn="ctr">
              <a:spcAft>
                <a:spcPts val="200"/>
              </a:spcAft>
              <a:buNone/>
            </a:pPr>
            <a:r>
              <a:rPr lang="en-US" sz="1200" dirty="0">
                <a:solidFill>
                  <a:schemeClr val="bg2"/>
                </a:solidFill>
              </a:rPr>
              <a:t>running app</a:t>
            </a:r>
            <a:endParaRPr lang="en-US" sz="1500" dirty="0"/>
          </a:p>
        </p:txBody>
      </p:sp>
      <p:sp>
        <p:nvSpPr>
          <p:cNvPr id="22" name="Text 20"/>
          <p:cNvSpPr txBox="1"/>
          <p:nvPr/>
        </p:nvSpPr>
        <p:spPr>
          <a:xfrm>
            <a:off x="731520" y="3703320"/>
            <a:ext cx="10698480" cy="457200"/>
          </a:xfrm>
          <a:prstGeom prst="rect">
            <a:avLst/>
          </a:prstGeom>
          <a:noFill/>
          <a:ln/>
        </p:spPr>
        <p:txBody>
          <a:bodyPr wrap="square" lIns="0" tIns="0" rIns="0" bIns="0" rtlCol="0" anchor="t"/>
          <a:lstStyle/>
          <a:p>
            <a:pPr marL="0" indent="0" algn="ctr">
              <a:buNone/>
            </a:pPr>
            <a:r>
              <a:rPr lang="en-US" sz="1900" i="1" dirty="0">
                <a:solidFill>
                  <a:schemeClr val="bg1"/>
                </a:solidFill>
              </a:rPr>
              <a:t>One image, built once, runs identically anywhere Docker is installed.</a:t>
            </a:r>
            <a:endParaRPr lang="en-US" sz="1900" dirty="0"/>
          </a:p>
        </p:txBody>
      </p:sp>
      <p:sp>
        <p:nvSpPr>
          <p:cNvPr id="23" name="Text 21"/>
          <p:cNvSpPr txBox="1"/>
          <p:nvPr/>
        </p:nvSpPr>
        <p:spPr>
          <a:xfrm>
            <a:off x="731520" y="4251960"/>
            <a:ext cx="10698480" cy="365760"/>
          </a:xfrm>
          <a:prstGeom prst="rect">
            <a:avLst/>
          </a:prstGeom>
          <a:noFill/>
          <a:ln/>
        </p:spPr>
        <p:txBody>
          <a:bodyPr wrap="square" lIns="0" tIns="0" rIns="0" bIns="0" rtlCol="0" anchor="t"/>
          <a:lstStyle/>
          <a:p>
            <a:pPr marL="0" indent="0" algn="ctr">
              <a:buNone/>
            </a:pPr>
            <a:r>
              <a:rPr lang="en-US" sz="1400" dirty="0">
                <a:solidFill>
                  <a:schemeClr val="bg2"/>
                </a:solidFill>
              </a:rPr>
              <a:t>Examples of registries: Docker Hub · Amazon ECR · GitHub Container Registry · GitLab Registry · JFrog Artifactory</a:t>
            </a:r>
            <a:endParaRPr lang="en-US" sz="1400" dirty="0"/>
          </a:p>
        </p:txBody>
      </p:sp>
      <p:sp>
        <p:nvSpPr>
          <p:cNvPr id="24" name="Shape 22"/>
          <p:cNvSpPr/>
          <p:nvPr/>
        </p:nvSpPr>
        <p:spPr>
          <a:xfrm>
            <a:off x="731520" y="4800600"/>
            <a:ext cx="10698480" cy="1325880"/>
          </a:xfrm>
          <a:prstGeom prst="roundRect">
            <a:avLst>
              <a:gd name="adj" fmla="val 5517"/>
            </a:avLst>
          </a:prstGeom>
          <a:solidFill>
            <a:srgbClr val="070D1A"/>
          </a:solidFill>
          <a:ln w="12700">
            <a:solidFill>
              <a:srgbClr val="23314F"/>
            </a:solidFill>
            <a:prstDash val="solid"/>
          </a:ln>
        </p:spPr>
      </p:sp>
      <p:sp>
        <p:nvSpPr>
          <p:cNvPr id="25" name="Shape 23"/>
          <p:cNvSpPr/>
          <p:nvPr/>
        </p:nvSpPr>
        <p:spPr>
          <a:xfrm>
            <a:off x="914400" y="4946904"/>
            <a:ext cx="100584" cy="100584"/>
          </a:xfrm>
          <a:prstGeom prst="ellipse">
            <a:avLst/>
          </a:prstGeom>
          <a:solidFill>
            <a:srgbClr val="FF5F57"/>
          </a:solidFill>
          <a:ln w="12700">
            <a:solidFill>
              <a:srgbClr val="FF5F57"/>
            </a:solidFill>
            <a:prstDash val="solid"/>
          </a:ln>
        </p:spPr>
      </p:sp>
      <p:sp>
        <p:nvSpPr>
          <p:cNvPr id="26" name="Shape 24"/>
          <p:cNvSpPr/>
          <p:nvPr/>
        </p:nvSpPr>
        <p:spPr>
          <a:xfrm>
            <a:off x="1097280" y="4946904"/>
            <a:ext cx="100584" cy="100584"/>
          </a:xfrm>
          <a:prstGeom prst="ellipse">
            <a:avLst/>
          </a:prstGeom>
          <a:solidFill>
            <a:srgbClr val="FEBC2E"/>
          </a:solidFill>
          <a:ln w="12700">
            <a:solidFill>
              <a:srgbClr val="FEBC2E"/>
            </a:solidFill>
            <a:prstDash val="solid"/>
          </a:ln>
        </p:spPr>
      </p:sp>
      <p:sp>
        <p:nvSpPr>
          <p:cNvPr id="27" name="Shape 25"/>
          <p:cNvSpPr/>
          <p:nvPr/>
        </p:nvSpPr>
        <p:spPr>
          <a:xfrm>
            <a:off x="1280160" y="4946904"/>
            <a:ext cx="100584" cy="100584"/>
          </a:xfrm>
          <a:prstGeom prst="ellipse">
            <a:avLst/>
          </a:prstGeom>
          <a:solidFill>
            <a:srgbClr val="28C840"/>
          </a:solidFill>
          <a:ln w="12700">
            <a:solidFill>
              <a:srgbClr val="28C840"/>
            </a:solidFill>
            <a:prstDash val="solid"/>
          </a:ln>
        </p:spPr>
      </p:sp>
      <p:sp>
        <p:nvSpPr>
          <p:cNvPr id="28" name="Text 26"/>
          <p:cNvSpPr txBox="1"/>
          <p:nvPr/>
        </p:nvSpPr>
        <p:spPr>
          <a:xfrm>
            <a:off x="960120" y="5221224"/>
            <a:ext cx="10332720" cy="813816"/>
          </a:xfrm>
          <a:prstGeom prst="rect">
            <a:avLst/>
          </a:prstGeom>
          <a:noFill/>
          <a:ln/>
        </p:spPr>
        <p:txBody>
          <a:bodyPr wrap="square" lIns="0" tIns="0" rIns="0" bIns="0" rtlCol="0" anchor="t"/>
          <a:lstStyle/>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build -t &lt;you&gt;/myapp:1.0 .  &amp;&amp;  docker push &lt;you&gt;/myapp:1.0</a:t>
            </a:r>
            <a:r>
              <a:rPr lang="en-US" sz="1400" dirty="0">
                <a:solidFill>
                  <a:srgbClr val="7D8BA6"/>
                </a:solidFill>
                <a:latin typeface="Consolas" pitchFamily="34" charset="0"/>
                <a:ea typeface="Consolas" pitchFamily="34" charset="-122"/>
                <a:cs typeface="Consolas" pitchFamily="34" charset="-120"/>
              </a:rPr>
              <a:t>  # your laptop</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pull &lt;you&gt;/myapp:1.0  &amp;&amp;  docker run &lt;you&gt;/myapp:1.0</a:t>
            </a:r>
            <a:r>
              <a:rPr lang="en-US" sz="1400" dirty="0">
                <a:solidFill>
                  <a:srgbClr val="7D8BA6"/>
                </a:solidFill>
                <a:latin typeface="Consolas" pitchFamily="34" charset="0"/>
                <a:ea typeface="Consolas" pitchFamily="34" charset="-122"/>
                <a:cs typeface="Consolas" pitchFamily="34" charset="-120"/>
              </a:rPr>
              <a:t>  # any other machine</a:t>
            </a:r>
            <a:endParaRPr lang="en-US" sz="1400" dirty="0"/>
          </a:p>
        </p:txBody>
      </p:sp>
      <p:sp>
        <p:nvSpPr>
          <p:cNvPr id="29"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TERMINOLOGY</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Ten Docker terms you will hear all day</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425696"/>
        </p:xfrm>
        <a:graphic>
          <a:graphicData uri="http://schemas.openxmlformats.org/drawingml/2006/table">
            <a:tbl>
              <a:tblPr/>
              <a:tblGrid>
                <a:gridCol w="20116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02336">
                <a:tc>
                  <a:txBody>
                    <a:bodyPr/>
                    <a:lstStyle/>
                    <a:p>
                      <a:pPr marL="0" indent="0">
                        <a:buNone/>
                      </a:pPr>
                      <a:r>
                        <a:rPr lang="en-US" sz="1300" b="1" dirty="0">
                          <a:solidFill>
                            <a:schemeClr val="accent2"/>
                          </a:solidFill>
                        </a:rPr>
                        <a:t>Term</a:t>
                      </a:r>
                      <a:endParaRPr lang="en-US" sz="13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tc>
                  <a:txBody>
                    <a:bodyPr/>
                    <a:lstStyle/>
                    <a:p>
                      <a:pPr marL="0" indent="0">
                        <a:buNone/>
                      </a:pPr>
                      <a:r>
                        <a:rPr lang="en-US" sz="1300" b="1" dirty="0">
                          <a:solidFill>
                            <a:schemeClr val="accent2"/>
                          </a:solidFill>
                        </a:rPr>
                        <a:t>Meaning</a:t>
                      </a:r>
                      <a:endParaRPr lang="en-US" sz="13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tc>
                  <a:txBody>
                    <a:bodyPr/>
                    <a:lstStyle/>
                    <a:p>
                      <a:pPr marL="0" indent="0">
                        <a:buNone/>
                      </a:pPr>
                      <a:r>
                        <a:rPr lang="en-US" sz="1300" b="1" dirty="0">
                          <a:solidFill>
                            <a:schemeClr val="accent2"/>
                          </a:solidFill>
                        </a:rPr>
                        <a:t>Example</a:t>
                      </a:r>
                      <a:endParaRPr lang="en-US" sz="13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402336">
                <a:tc>
                  <a:txBody>
                    <a:bodyPr/>
                    <a:lstStyle/>
                    <a:p>
                      <a:pPr marL="0" indent="0">
                        <a:buNone/>
                      </a:pPr>
                      <a:r>
                        <a:rPr lang="en-US" sz="1400" b="1" dirty="0">
                          <a:solidFill>
                            <a:schemeClr val="bg1"/>
                          </a:solidFill>
                        </a:rPr>
                        <a:t>Image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chemeClr val="bg1"/>
                          </a:solidFill>
                        </a:rPr>
                        <a:t>Read-only template for creating containers</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docker pull nginx</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402336">
                <a:tc>
                  <a:txBody>
                    <a:bodyPr/>
                    <a:lstStyle/>
                    <a:p>
                      <a:pPr marL="0" indent="0">
                        <a:buNone/>
                      </a:pPr>
                      <a:r>
                        <a:rPr lang="en-US" sz="1400" b="1" dirty="0">
                          <a:solidFill>
                            <a:schemeClr val="bg1"/>
                          </a:solidFill>
                        </a:rPr>
                        <a:t>Container</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chemeClr val="bg1"/>
                          </a:solidFill>
                        </a:rPr>
                        <a:t>A running instance of an image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docker run nginx</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2"/>
                  </a:ext>
                </a:extLst>
              </a:tr>
              <a:tr h="402336">
                <a:tc>
                  <a:txBody>
                    <a:bodyPr/>
                    <a:lstStyle/>
                    <a:p>
                      <a:pPr marL="0" indent="0">
                        <a:buNone/>
                      </a:pPr>
                      <a:r>
                        <a:rPr lang="en-US" sz="1400" b="1" dirty="0">
                          <a:solidFill>
                            <a:schemeClr val="bg1"/>
                          </a:solidFill>
                        </a:rPr>
                        <a:t>Dockerfile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chemeClr val="bg1"/>
                          </a:solidFill>
                        </a:rPr>
                        <a:t>Text file with build instructions</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FROM nginx:alpine</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3"/>
                  </a:ext>
                </a:extLst>
              </a:tr>
              <a:tr h="402336">
                <a:tc>
                  <a:txBody>
                    <a:bodyPr/>
                    <a:lstStyle/>
                    <a:p>
                      <a:pPr marL="0" indent="0">
                        <a:buNone/>
                      </a:pPr>
                      <a:r>
                        <a:rPr lang="en-US" sz="1400" b="1" dirty="0">
                          <a:solidFill>
                            <a:schemeClr val="bg1"/>
                          </a:solidFill>
                        </a:rPr>
                        <a:t>Registry</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chemeClr val="bg1"/>
                          </a:solidFill>
                        </a:rPr>
                        <a:t>Storage for images, e.g. Docker Hub</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docker push &lt;you&gt;/myapp</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4"/>
                  </a:ext>
                </a:extLst>
              </a:tr>
              <a:tr h="402336">
                <a:tc>
                  <a:txBody>
                    <a:bodyPr/>
                    <a:lstStyle/>
                    <a:p>
                      <a:pPr marL="0" indent="0">
                        <a:buNone/>
                      </a:pPr>
                      <a:r>
                        <a:rPr lang="en-US" sz="1400" b="1" dirty="0">
                          <a:solidFill>
                            <a:schemeClr val="bg1"/>
                          </a:solidFill>
                        </a:rPr>
                        <a:t>Repository</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chemeClr val="bg1"/>
                          </a:solidFill>
                        </a:rPr>
                        <a:t>A named collection of image versions</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&lt;you&gt;/myapp</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5"/>
                  </a:ext>
                </a:extLst>
              </a:tr>
              <a:tr h="402336">
                <a:tc>
                  <a:txBody>
                    <a:bodyPr/>
                    <a:lstStyle/>
                    <a:p>
                      <a:pPr marL="0" indent="0">
                        <a:buNone/>
                      </a:pPr>
                      <a:r>
                        <a:rPr lang="en-US" sz="1400" b="1" dirty="0">
                          <a:solidFill>
                            <a:schemeClr val="bg1"/>
                          </a:solidFill>
                        </a:rPr>
                        <a:t>Tag</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chemeClr val="bg1"/>
                          </a:solidFill>
                        </a:rPr>
                        <a:t>A version label on an image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myapp:1.0.0</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6"/>
                  </a:ext>
                </a:extLst>
              </a:tr>
              <a:tr h="402336">
                <a:tc>
                  <a:txBody>
                    <a:bodyPr/>
                    <a:lstStyle/>
                    <a:p>
                      <a:pPr marL="0" indent="0">
                        <a:buNone/>
                      </a:pPr>
                      <a:r>
                        <a:rPr lang="en-US" sz="1400" b="1" dirty="0">
                          <a:solidFill>
                            <a:schemeClr val="bg1"/>
                          </a:solidFill>
                        </a:rPr>
                        <a:t>Docker Engine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chemeClr val="bg1"/>
                          </a:solidFill>
                        </a:rPr>
                        <a:t>Background service running everything</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dockerd</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7"/>
                  </a:ext>
                </a:extLst>
              </a:tr>
              <a:tr h="402336">
                <a:tc>
                  <a:txBody>
                    <a:bodyPr/>
                    <a:lstStyle/>
                    <a:p>
                      <a:pPr marL="0" indent="0">
                        <a:buNone/>
                      </a:pPr>
                      <a:r>
                        <a:rPr lang="en-US" sz="1400" b="1" dirty="0">
                          <a:solidFill>
                            <a:schemeClr val="bg1"/>
                          </a:solidFill>
                        </a:rPr>
                        <a:t>Docker CLI</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chemeClr val="bg1"/>
                          </a:solidFill>
                        </a:rPr>
                        <a:t>The command-line tool you type into</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docker ps</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8"/>
                  </a:ext>
                </a:extLst>
              </a:tr>
              <a:tr h="402336">
                <a:tc>
                  <a:txBody>
                    <a:bodyPr/>
                    <a:lstStyle/>
                    <a:p>
                      <a:pPr marL="0" indent="0">
                        <a:buNone/>
                      </a:pPr>
                      <a:r>
                        <a:rPr lang="en-US" sz="1400" b="1" dirty="0">
                          <a:solidFill>
                            <a:schemeClr val="bg1"/>
                          </a:solidFill>
                        </a:rPr>
                        <a:t>Volume</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chemeClr val="bg1"/>
                          </a:solidFill>
                        </a:rPr>
                        <a:t>Persistent storage outside the container</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docker volume create data</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9"/>
                  </a:ext>
                </a:extLst>
              </a:tr>
              <a:tr h="402336">
                <a:tc>
                  <a:txBody>
                    <a:bodyPr/>
                    <a:lstStyle/>
                    <a:p>
                      <a:pPr marL="0" indent="0">
                        <a:buNone/>
                      </a:pPr>
                      <a:r>
                        <a:rPr lang="en-US" sz="1400" b="1" dirty="0">
                          <a:solidFill>
                            <a:schemeClr val="bg1"/>
                          </a:solidFill>
                        </a:rPr>
                        <a:t>Network</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chemeClr val="bg1"/>
                          </a:solidFill>
                        </a:rPr>
                        <a:t>Lets containers talk to each other</a:t>
                      </a:r>
                      <a:endParaRPr lang="en-US" sz="1400" dirty="0"/>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400" dirty="0">
                          <a:solidFill>
                            <a:srgbClr val="9FD3FF"/>
                          </a:solidFill>
                          <a:latin typeface="Consolas" pitchFamily="34" charset="0"/>
                          <a:ea typeface="Consolas" pitchFamily="34" charset="-122"/>
                          <a:cs typeface="Consolas" pitchFamily="34" charset="-120"/>
                        </a:rPr>
                        <a:t>docker network ls</a:t>
                      </a:r>
                      <a:endParaRPr lang="en-US" sz="1400" dirty="0">
                        <a:latin typeface="Consolas" charset="0"/>
                        <a:ea typeface="Consolas" charset="0"/>
                        <a:cs typeface="Consolas" charset="0"/>
                      </a:endParaRPr>
                    </a:p>
                  </a:txBody>
                  <a:tcPr marL="109728" marR="109728"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10"/>
                  </a:ext>
                </a:extLst>
              </a:tr>
            </a:tbl>
          </a:graphicData>
        </a:graphic>
      </p:graphicFrame>
      <p:sp>
        <p:nvSpPr>
          <p:cNvPr id="4"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THE LANDSCAPE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Docker’s alternatives, by the part they replace</a:t>
            </a:r>
            <a:endParaRPr lang="en-US" sz="3000" dirty="0"/>
          </a:p>
        </p:txBody>
      </p:sp>
      <p:sp>
        <p:nvSpPr>
          <p:cNvPr id="4" name="Text 2"/>
          <p:cNvSpPr txBox="1"/>
          <p:nvPr/>
        </p:nvSpPr>
        <p:spPr>
          <a:xfrm>
            <a:off x="731520" y="1463040"/>
            <a:ext cx="3429000" cy="365760"/>
          </a:xfrm>
          <a:prstGeom prst="rect">
            <a:avLst/>
          </a:prstGeom>
          <a:noFill/>
          <a:ln/>
        </p:spPr>
        <p:txBody>
          <a:bodyPr wrap="square" lIns="0" tIns="0" rIns="0" bIns="0" rtlCol="0" anchor="t"/>
          <a:lstStyle/>
          <a:p>
            <a:pPr marL="0" indent="0">
              <a:buNone/>
            </a:pPr>
            <a:r>
              <a:rPr lang="en-US" sz="1800" b="1" dirty="0">
                <a:solidFill>
                  <a:schemeClr val="accent1"/>
                </a:solidFill>
              </a:rPr>
              <a:t>Engines &amp; runtimes</a:t>
            </a:r>
            <a:endParaRPr lang="en-US" sz="1800" dirty="0"/>
          </a:p>
        </p:txBody>
      </p:sp>
      <p:sp>
        <p:nvSpPr>
          <p:cNvPr id="5" name="Text 3"/>
          <p:cNvSpPr txBox="1"/>
          <p:nvPr/>
        </p:nvSpPr>
        <p:spPr>
          <a:xfrm>
            <a:off x="731520" y="1828800"/>
            <a:ext cx="3429000" cy="274320"/>
          </a:xfrm>
          <a:prstGeom prst="rect">
            <a:avLst/>
          </a:prstGeom>
          <a:noFill/>
          <a:ln/>
        </p:spPr>
        <p:txBody>
          <a:bodyPr wrap="square" lIns="0" tIns="0" rIns="0" bIns="0" rtlCol="0" anchor="t"/>
          <a:lstStyle/>
          <a:p>
            <a:pPr marL="0" indent="0">
              <a:buNone/>
            </a:pPr>
            <a:r>
              <a:rPr lang="en-US" sz="1300" dirty="0">
                <a:solidFill>
                  <a:schemeClr val="bg2"/>
                </a:solidFill>
              </a:rPr>
              <a:t>replace the engine</a:t>
            </a:r>
            <a:endParaRPr lang="en-US" sz="1300" dirty="0"/>
          </a:p>
        </p:txBody>
      </p:sp>
      <p:sp>
        <p:nvSpPr>
          <p:cNvPr id="6" name="Shape 4"/>
          <p:cNvSpPr/>
          <p:nvPr/>
        </p:nvSpPr>
        <p:spPr>
          <a:xfrm>
            <a:off x="731520" y="2240280"/>
            <a:ext cx="3429000" cy="713232"/>
          </a:xfrm>
          <a:prstGeom prst="roundRect">
            <a:avLst>
              <a:gd name="adj" fmla="val 12821"/>
            </a:avLst>
          </a:prstGeom>
          <a:solidFill>
            <a:schemeClr val="accent5"/>
          </a:solidFill>
          <a:ln w="12700">
            <a:solidFill>
              <a:schemeClr val="accent5"/>
            </a:solidFill>
            <a:prstDash val="solid"/>
          </a:ln>
        </p:spPr>
      </p:sp>
      <p:sp>
        <p:nvSpPr>
          <p:cNvPr id="7" name="Text 5"/>
          <p:cNvSpPr txBox="1"/>
          <p:nvPr/>
        </p:nvSpPr>
        <p:spPr>
          <a:xfrm>
            <a:off x="804672" y="2240280"/>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Podman</a:t>
            </a:r>
            <a:endParaRPr lang="en-US" sz="1500" dirty="0"/>
          </a:p>
          <a:p>
            <a:pPr marL="0" indent="0" algn="l">
              <a:spcAft>
                <a:spcPts val="200"/>
              </a:spcAft>
              <a:buNone/>
            </a:pPr>
            <a:r>
              <a:rPr lang="en-US" sz="1200" dirty="0">
                <a:solidFill>
                  <a:schemeClr val="bg2"/>
                </a:solidFill>
              </a:rPr>
              <a:t>no daemon, rootless</a:t>
            </a:r>
            <a:endParaRPr lang="en-US" sz="1500" dirty="0"/>
          </a:p>
        </p:txBody>
      </p:sp>
      <p:sp>
        <p:nvSpPr>
          <p:cNvPr id="8" name="Shape 6"/>
          <p:cNvSpPr/>
          <p:nvPr/>
        </p:nvSpPr>
        <p:spPr>
          <a:xfrm>
            <a:off x="731520" y="3081528"/>
            <a:ext cx="3429000" cy="713232"/>
          </a:xfrm>
          <a:prstGeom prst="roundRect">
            <a:avLst>
              <a:gd name="adj" fmla="val 12821"/>
            </a:avLst>
          </a:prstGeom>
          <a:solidFill>
            <a:schemeClr val="accent5"/>
          </a:solidFill>
          <a:ln w="12700">
            <a:solidFill>
              <a:schemeClr val="accent5"/>
            </a:solidFill>
            <a:prstDash val="solid"/>
          </a:ln>
        </p:spPr>
      </p:sp>
      <p:sp>
        <p:nvSpPr>
          <p:cNvPr id="9" name="Text 7"/>
          <p:cNvSpPr txBox="1"/>
          <p:nvPr/>
        </p:nvSpPr>
        <p:spPr>
          <a:xfrm>
            <a:off x="804672" y="3081528"/>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containerd</a:t>
            </a:r>
            <a:endParaRPr lang="en-US" sz="1500" dirty="0"/>
          </a:p>
          <a:p>
            <a:pPr marL="0" indent="0" algn="l">
              <a:spcAft>
                <a:spcPts val="200"/>
              </a:spcAft>
              <a:buNone/>
            </a:pPr>
            <a:r>
              <a:rPr lang="en-US" sz="1200" dirty="0">
                <a:solidFill>
                  <a:schemeClr val="bg2"/>
                </a:solidFill>
              </a:rPr>
              <a:t>core runtime under Kubernetes</a:t>
            </a:r>
            <a:endParaRPr lang="en-US" sz="1500" dirty="0"/>
          </a:p>
        </p:txBody>
      </p:sp>
      <p:sp>
        <p:nvSpPr>
          <p:cNvPr id="10" name="Shape 8"/>
          <p:cNvSpPr/>
          <p:nvPr/>
        </p:nvSpPr>
        <p:spPr>
          <a:xfrm>
            <a:off x="731520" y="3922776"/>
            <a:ext cx="3429000" cy="713232"/>
          </a:xfrm>
          <a:prstGeom prst="roundRect">
            <a:avLst>
              <a:gd name="adj" fmla="val 12821"/>
            </a:avLst>
          </a:prstGeom>
          <a:solidFill>
            <a:schemeClr val="accent5"/>
          </a:solidFill>
          <a:ln w="12700">
            <a:solidFill>
              <a:schemeClr val="accent5"/>
            </a:solidFill>
            <a:prstDash val="solid"/>
          </a:ln>
        </p:spPr>
      </p:sp>
      <p:sp>
        <p:nvSpPr>
          <p:cNvPr id="11" name="Text 9"/>
          <p:cNvSpPr txBox="1"/>
          <p:nvPr/>
        </p:nvSpPr>
        <p:spPr>
          <a:xfrm>
            <a:off x="804672" y="3922776"/>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CRI-O</a:t>
            </a:r>
            <a:endParaRPr lang="en-US" sz="1500" dirty="0"/>
          </a:p>
          <a:p>
            <a:pPr marL="0" indent="0" algn="l">
              <a:spcAft>
                <a:spcPts val="200"/>
              </a:spcAft>
              <a:buNone/>
            </a:pPr>
            <a:r>
              <a:rPr lang="en-US" sz="1200" dirty="0">
                <a:solidFill>
                  <a:schemeClr val="bg2"/>
                </a:solidFill>
              </a:rPr>
              <a:t>made for Kubernetes</a:t>
            </a:r>
            <a:endParaRPr lang="en-US" sz="1500" dirty="0"/>
          </a:p>
        </p:txBody>
      </p:sp>
      <p:sp>
        <p:nvSpPr>
          <p:cNvPr id="12" name="Shape 10"/>
          <p:cNvSpPr/>
          <p:nvPr/>
        </p:nvSpPr>
        <p:spPr>
          <a:xfrm>
            <a:off x="731520" y="4764024"/>
            <a:ext cx="3429000" cy="713232"/>
          </a:xfrm>
          <a:prstGeom prst="roundRect">
            <a:avLst>
              <a:gd name="adj" fmla="val 12821"/>
            </a:avLst>
          </a:prstGeom>
          <a:solidFill>
            <a:schemeClr val="accent5"/>
          </a:solidFill>
          <a:ln w="12700">
            <a:solidFill>
              <a:schemeClr val="accent5"/>
            </a:solidFill>
            <a:prstDash val="solid"/>
          </a:ln>
        </p:spPr>
      </p:sp>
      <p:sp>
        <p:nvSpPr>
          <p:cNvPr id="13" name="Text 11"/>
          <p:cNvSpPr txBox="1"/>
          <p:nvPr/>
        </p:nvSpPr>
        <p:spPr>
          <a:xfrm>
            <a:off x="804672" y="4764024"/>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LXC / Incus</a:t>
            </a:r>
            <a:endParaRPr lang="en-US" sz="1500" dirty="0"/>
          </a:p>
          <a:p>
            <a:pPr marL="0" indent="0" algn="l">
              <a:spcAft>
                <a:spcPts val="200"/>
              </a:spcAft>
              <a:buNone/>
            </a:pPr>
            <a:r>
              <a:rPr lang="en-US" sz="1200" dirty="0">
                <a:solidFill>
                  <a:schemeClr val="bg2"/>
                </a:solidFill>
              </a:rPr>
              <a:t>full-system containers</a:t>
            </a:r>
            <a:endParaRPr lang="en-US" sz="1500" dirty="0"/>
          </a:p>
        </p:txBody>
      </p:sp>
      <p:sp>
        <p:nvSpPr>
          <p:cNvPr id="14" name="Text 12"/>
          <p:cNvSpPr txBox="1"/>
          <p:nvPr/>
        </p:nvSpPr>
        <p:spPr>
          <a:xfrm>
            <a:off x="4361688" y="1463040"/>
            <a:ext cx="3429000" cy="365760"/>
          </a:xfrm>
          <a:prstGeom prst="rect">
            <a:avLst/>
          </a:prstGeom>
          <a:noFill/>
          <a:ln/>
        </p:spPr>
        <p:txBody>
          <a:bodyPr wrap="square" lIns="0" tIns="0" rIns="0" bIns="0" rtlCol="0" anchor="t"/>
          <a:lstStyle/>
          <a:p>
            <a:pPr marL="0" indent="0">
              <a:buNone/>
            </a:pPr>
            <a:r>
              <a:rPr lang="en-US" sz="1800" b="1" dirty="0">
                <a:solidFill>
                  <a:schemeClr val="accent2"/>
                </a:solidFill>
              </a:rPr>
              <a:t>Desktop apps</a:t>
            </a:r>
            <a:endParaRPr lang="en-US" sz="1800" dirty="0"/>
          </a:p>
        </p:txBody>
      </p:sp>
      <p:sp>
        <p:nvSpPr>
          <p:cNvPr id="15" name="Text 13"/>
          <p:cNvSpPr txBox="1"/>
          <p:nvPr/>
        </p:nvSpPr>
        <p:spPr>
          <a:xfrm>
            <a:off x="4361688" y="1828800"/>
            <a:ext cx="3429000" cy="274320"/>
          </a:xfrm>
          <a:prstGeom prst="rect">
            <a:avLst/>
          </a:prstGeom>
          <a:noFill/>
          <a:ln/>
        </p:spPr>
        <p:txBody>
          <a:bodyPr wrap="square" lIns="0" tIns="0" rIns="0" bIns="0" rtlCol="0" anchor="t"/>
          <a:lstStyle/>
          <a:p>
            <a:pPr marL="0" indent="0">
              <a:buNone/>
            </a:pPr>
            <a:r>
              <a:rPr lang="en-US" sz="1300" dirty="0">
                <a:solidFill>
                  <a:schemeClr val="bg2"/>
                </a:solidFill>
              </a:rPr>
              <a:t>replace Docker Desktop</a:t>
            </a:r>
            <a:endParaRPr lang="en-US" sz="1300" dirty="0"/>
          </a:p>
        </p:txBody>
      </p:sp>
      <p:sp>
        <p:nvSpPr>
          <p:cNvPr id="16" name="Shape 14"/>
          <p:cNvSpPr/>
          <p:nvPr/>
        </p:nvSpPr>
        <p:spPr>
          <a:xfrm>
            <a:off x="4361688" y="2240280"/>
            <a:ext cx="3429000" cy="713232"/>
          </a:xfrm>
          <a:prstGeom prst="roundRect">
            <a:avLst>
              <a:gd name="adj" fmla="val 12821"/>
            </a:avLst>
          </a:prstGeom>
          <a:solidFill>
            <a:srgbClr val="0F3B3A"/>
          </a:solidFill>
          <a:ln w="12700">
            <a:solidFill>
              <a:srgbClr val="0F3B3A"/>
            </a:solidFill>
            <a:prstDash val="solid"/>
          </a:ln>
        </p:spPr>
      </p:sp>
      <p:sp>
        <p:nvSpPr>
          <p:cNvPr id="17" name="Text 15"/>
          <p:cNvSpPr txBox="1"/>
          <p:nvPr/>
        </p:nvSpPr>
        <p:spPr>
          <a:xfrm>
            <a:off x="4434840" y="2240280"/>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Podman Desktop</a:t>
            </a:r>
            <a:endParaRPr lang="en-US" sz="1500" dirty="0"/>
          </a:p>
          <a:p>
            <a:pPr marL="0" indent="0" algn="l">
              <a:spcAft>
                <a:spcPts val="200"/>
              </a:spcAft>
              <a:buNone/>
            </a:pPr>
            <a:r>
              <a:rPr lang="en-US" sz="1200" dirty="0">
                <a:solidFill>
                  <a:schemeClr val="bg2"/>
                </a:solidFill>
              </a:rPr>
              <a:t>Windows · Mac · Linux</a:t>
            </a:r>
            <a:endParaRPr lang="en-US" sz="1500" dirty="0"/>
          </a:p>
        </p:txBody>
      </p:sp>
      <p:sp>
        <p:nvSpPr>
          <p:cNvPr id="18" name="Shape 16"/>
          <p:cNvSpPr/>
          <p:nvPr/>
        </p:nvSpPr>
        <p:spPr>
          <a:xfrm>
            <a:off x="4361688" y="3081528"/>
            <a:ext cx="3429000" cy="713232"/>
          </a:xfrm>
          <a:prstGeom prst="roundRect">
            <a:avLst>
              <a:gd name="adj" fmla="val 12821"/>
            </a:avLst>
          </a:prstGeom>
          <a:solidFill>
            <a:srgbClr val="0F3B3A"/>
          </a:solidFill>
          <a:ln w="12700">
            <a:solidFill>
              <a:srgbClr val="0F3B3A"/>
            </a:solidFill>
            <a:prstDash val="solid"/>
          </a:ln>
        </p:spPr>
      </p:sp>
      <p:sp>
        <p:nvSpPr>
          <p:cNvPr id="19" name="Text 17"/>
          <p:cNvSpPr txBox="1"/>
          <p:nvPr/>
        </p:nvSpPr>
        <p:spPr>
          <a:xfrm>
            <a:off x="4434840" y="3081528"/>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Rancher Desktop</a:t>
            </a:r>
            <a:endParaRPr lang="en-US" sz="1500" dirty="0"/>
          </a:p>
          <a:p>
            <a:pPr marL="0" indent="0" algn="l">
              <a:spcAft>
                <a:spcPts val="200"/>
              </a:spcAft>
              <a:buNone/>
            </a:pPr>
            <a:r>
              <a:rPr lang="en-US" sz="1200" dirty="0">
                <a:solidFill>
                  <a:schemeClr val="bg2"/>
                </a:solidFill>
              </a:rPr>
              <a:t>free, with Kubernetes</a:t>
            </a:r>
            <a:endParaRPr lang="en-US" sz="1500" dirty="0"/>
          </a:p>
        </p:txBody>
      </p:sp>
      <p:sp>
        <p:nvSpPr>
          <p:cNvPr id="20" name="Shape 18"/>
          <p:cNvSpPr/>
          <p:nvPr/>
        </p:nvSpPr>
        <p:spPr>
          <a:xfrm>
            <a:off x="4361688" y="3922776"/>
            <a:ext cx="3429000" cy="713232"/>
          </a:xfrm>
          <a:prstGeom prst="roundRect">
            <a:avLst>
              <a:gd name="adj" fmla="val 12821"/>
            </a:avLst>
          </a:prstGeom>
          <a:solidFill>
            <a:srgbClr val="0F3B3A"/>
          </a:solidFill>
          <a:ln w="12700">
            <a:solidFill>
              <a:srgbClr val="0F3B3A"/>
            </a:solidFill>
            <a:prstDash val="solid"/>
          </a:ln>
        </p:spPr>
      </p:sp>
      <p:sp>
        <p:nvSpPr>
          <p:cNvPr id="21" name="Text 19"/>
          <p:cNvSpPr txBox="1"/>
          <p:nvPr/>
        </p:nvSpPr>
        <p:spPr>
          <a:xfrm>
            <a:off x="4434840" y="3922776"/>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OrbStack</a:t>
            </a:r>
            <a:endParaRPr lang="en-US" sz="1500" dirty="0"/>
          </a:p>
          <a:p>
            <a:pPr marL="0" indent="0" algn="l">
              <a:spcAft>
                <a:spcPts val="200"/>
              </a:spcAft>
              <a:buNone/>
            </a:pPr>
            <a:r>
              <a:rPr lang="en-US" sz="1200" dirty="0">
                <a:solidFill>
                  <a:schemeClr val="bg2"/>
                </a:solidFill>
              </a:rPr>
              <a:t>fast, macOS only</a:t>
            </a:r>
            <a:endParaRPr lang="en-US" sz="1500" dirty="0"/>
          </a:p>
        </p:txBody>
      </p:sp>
      <p:sp>
        <p:nvSpPr>
          <p:cNvPr id="22" name="Shape 20"/>
          <p:cNvSpPr/>
          <p:nvPr/>
        </p:nvSpPr>
        <p:spPr>
          <a:xfrm>
            <a:off x="4361688" y="4764024"/>
            <a:ext cx="3429000" cy="713232"/>
          </a:xfrm>
          <a:prstGeom prst="roundRect">
            <a:avLst>
              <a:gd name="adj" fmla="val 12821"/>
            </a:avLst>
          </a:prstGeom>
          <a:solidFill>
            <a:srgbClr val="0F3B3A"/>
          </a:solidFill>
          <a:ln w="12700">
            <a:solidFill>
              <a:srgbClr val="0F3B3A"/>
            </a:solidFill>
            <a:prstDash val="solid"/>
          </a:ln>
        </p:spPr>
      </p:sp>
      <p:sp>
        <p:nvSpPr>
          <p:cNvPr id="23" name="Text 21"/>
          <p:cNvSpPr txBox="1"/>
          <p:nvPr/>
        </p:nvSpPr>
        <p:spPr>
          <a:xfrm>
            <a:off x="4434840" y="4764024"/>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Colima</a:t>
            </a:r>
            <a:endParaRPr lang="en-US" sz="1500" dirty="0"/>
          </a:p>
          <a:p>
            <a:pPr marL="0" indent="0" algn="l">
              <a:spcAft>
                <a:spcPts val="200"/>
              </a:spcAft>
              <a:buNone/>
            </a:pPr>
            <a:r>
              <a:rPr lang="en-US" sz="1200" dirty="0">
                <a:solidFill>
                  <a:schemeClr val="bg2"/>
                </a:solidFill>
              </a:rPr>
              <a:t>CLI, macOS &amp; Linux</a:t>
            </a:r>
            <a:endParaRPr lang="en-US" sz="1500" dirty="0"/>
          </a:p>
        </p:txBody>
      </p:sp>
      <p:sp>
        <p:nvSpPr>
          <p:cNvPr id="24" name="Text 22"/>
          <p:cNvSpPr txBox="1"/>
          <p:nvPr/>
        </p:nvSpPr>
        <p:spPr>
          <a:xfrm>
            <a:off x="7991856" y="1463040"/>
            <a:ext cx="3429000" cy="365760"/>
          </a:xfrm>
          <a:prstGeom prst="rect">
            <a:avLst/>
          </a:prstGeom>
          <a:noFill/>
          <a:ln/>
        </p:spPr>
        <p:txBody>
          <a:bodyPr wrap="square" lIns="0" tIns="0" rIns="0" bIns="0" rtlCol="0" anchor="t"/>
          <a:lstStyle/>
          <a:p>
            <a:pPr marL="0" indent="0">
              <a:buNone/>
            </a:pPr>
            <a:r>
              <a:rPr lang="en-US" sz="1800" b="1" dirty="0">
                <a:solidFill>
                  <a:schemeClr val="accent3"/>
                </a:solidFill>
              </a:rPr>
              <a:t>Image builders</a:t>
            </a:r>
            <a:endParaRPr lang="en-US" sz="1800" dirty="0"/>
          </a:p>
        </p:txBody>
      </p:sp>
      <p:sp>
        <p:nvSpPr>
          <p:cNvPr id="25" name="Text 23"/>
          <p:cNvSpPr txBox="1"/>
          <p:nvPr/>
        </p:nvSpPr>
        <p:spPr>
          <a:xfrm>
            <a:off x="7991856" y="1828800"/>
            <a:ext cx="3429000" cy="274320"/>
          </a:xfrm>
          <a:prstGeom prst="rect">
            <a:avLst/>
          </a:prstGeom>
          <a:noFill/>
          <a:ln/>
        </p:spPr>
        <p:txBody>
          <a:bodyPr wrap="square" lIns="0" tIns="0" rIns="0" bIns="0" rtlCol="0" anchor="t"/>
          <a:lstStyle/>
          <a:p>
            <a:pPr marL="0" indent="0">
              <a:buNone/>
            </a:pPr>
            <a:r>
              <a:rPr lang="en-US" sz="1300" dirty="0">
                <a:solidFill>
                  <a:schemeClr val="bg2"/>
                </a:solidFill>
              </a:rPr>
              <a:t>replace docker build</a:t>
            </a:r>
            <a:endParaRPr lang="en-US" sz="1300" dirty="0"/>
          </a:p>
        </p:txBody>
      </p:sp>
      <p:sp>
        <p:nvSpPr>
          <p:cNvPr id="26" name="Shape 24"/>
          <p:cNvSpPr/>
          <p:nvPr/>
        </p:nvSpPr>
        <p:spPr>
          <a:xfrm>
            <a:off x="7991856" y="2240280"/>
            <a:ext cx="3429000" cy="713232"/>
          </a:xfrm>
          <a:prstGeom prst="roundRect">
            <a:avLst>
              <a:gd name="adj" fmla="val 12821"/>
            </a:avLst>
          </a:prstGeom>
          <a:solidFill>
            <a:srgbClr val="2B3346"/>
          </a:solidFill>
          <a:ln w="12700">
            <a:solidFill>
              <a:srgbClr val="2B3346"/>
            </a:solidFill>
            <a:prstDash val="solid"/>
          </a:ln>
        </p:spPr>
      </p:sp>
      <p:sp>
        <p:nvSpPr>
          <p:cNvPr id="27" name="Text 25"/>
          <p:cNvSpPr txBox="1"/>
          <p:nvPr/>
        </p:nvSpPr>
        <p:spPr>
          <a:xfrm>
            <a:off x="8065008" y="2240280"/>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Buildah</a:t>
            </a:r>
            <a:endParaRPr lang="en-US" sz="1500" dirty="0"/>
          </a:p>
          <a:p>
            <a:pPr marL="0" indent="0" algn="l">
              <a:spcAft>
                <a:spcPts val="200"/>
              </a:spcAft>
              <a:buNone/>
            </a:pPr>
            <a:r>
              <a:rPr lang="en-US" sz="1200" dirty="0">
                <a:solidFill>
                  <a:schemeClr val="bg2"/>
                </a:solidFill>
              </a:rPr>
              <a:t>daemonless builds</a:t>
            </a:r>
            <a:endParaRPr lang="en-US" sz="1500" dirty="0"/>
          </a:p>
        </p:txBody>
      </p:sp>
      <p:sp>
        <p:nvSpPr>
          <p:cNvPr id="28" name="Shape 26"/>
          <p:cNvSpPr/>
          <p:nvPr/>
        </p:nvSpPr>
        <p:spPr>
          <a:xfrm>
            <a:off x="7991856" y="3081528"/>
            <a:ext cx="3429000" cy="713232"/>
          </a:xfrm>
          <a:prstGeom prst="roundRect">
            <a:avLst>
              <a:gd name="adj" fmla="val 12821"/>
            </a:avLst>
          </a:prstGeom>
          <a:solidFill>
            <a:srgbClr val="2B3346"/>
          </a:solidFill>
          <a:ln w="12700">
            <a:solidFill>
              <a:srgbClr val="2B3346"/>
            </a:solidFill>
            <a:prstDash val="solid"/>
          </a:ln>
        </p:spPr>
      </p:sp>
      <p:sp>
        <p:nvSpPr>
          <p:cNvPr id="29" name="Text 27"/>
          <p:cNvSpPr txBox="1"/>
          <p:nvPr/>
        </p:nvSpPr>
        <p:spPr>
          <a:xfrm>
            <a:off x="8065008" y="3081528"/>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Kaniko</a:t>
            </a:r>
            <a:endParaRPr lang="en-US" sz="1500" dirty="0"/>
          </a:p>
          <a:p>
            <a:pPr marL="0" indent="0" algn="l">
              <a:spcAft>
                <a:spcPts val="200"/>
              </a:spcAft>
              <a:buNone/>
            </a:pPr>
            <a:r>
              <a:rPr lang="en-US" sz="1200" dirty="0">
                <a:solidFill>
                  <a:schemeClr val="bg2"/>
                </a:solidFill>
              </a:rPr>
              <a:t>builds inside Kubernetes / CI</a:t>
            </a:r>
            <a:endParaRPr lang="en-US" sz="1500" dirty="0"/>
          </a:p>
        </p:txBody>
      </p:sp>
      <p:sp>
        <p:nvSpPr>
          <p:cNvPr id="30" name="Shape 28"/>
          <p:cNvSpPr/>
          <p:nvPr/>
        </p:nvSpPr>
        <p:spPr>
          <a:xfrm>
            <a:off x="7991856" y="3922776"/>
            <a:ext cx="3429000" cy="713232"/>
          </a:xfrm>
          <a:prstGeom prst="roundRect">
            <a:avLst>
              <a:gd name="adj" fmla="val 12821"/>
            </a:avLst>
          </a:prstGeom>
          <a:solidFill>
            <a:srgbClr val="2B3346"/>
          </a:solidFill>
          <a:ln w="12700">
            <a:solidFill>
              <a:srgbClr val="2B3346"/>
            </a:solidFill>
            <a:prstDash val="solid"/>
          </a:ln>
        </p:spPr>
      </p:sp>
      <p:sp>
        <p:nvSpPr>
          <p:cNvPr id="31" name="Text 29"/>
          <p:cNvSpPr txBox="1"/>
          <p:nvPr/>
        </p:nvSpPr>
        <p:spPr>
          <a:xfrm>
            <a:off x="8065008" y="3922776"/>
            <a:ext cx="3282696" cy="713232"/>
          </a:xfrm>
          <a:prstGeom prst="rect">
            <a:avLst/>
          </a:prstGeom>
          <a:noFill/>
          <a:ln/>
        </p:spPr>
        <p:txBody>
          <a:bodyPr wrap="square" lIns="0" tIns="0" rIns="0" bIns="0" rtlCol="0" anchor="ctr"/>
          <a:lstStyle/>
          <a:p>
            <a:pPr marL="0" indent="0" algn="l">
              <a:spcAft>
                <a:spcPts val="200"/>
              </a:spcAft>
              <a:buNone/>
            </a:pPr>
            <a:r>
              <a:rPr lang="en-US" sz="1500" b="1" dirty="0">
                <a:solidFill>
                  <a:schemeClr val="bg1"/>
                </a:solidFill>
              </a:rPr>
              <a:t>Jib</a:t>
            </a:r>
            <a:endParaRPr lang="en-US" sz="1500" dirty="0"/>
          </a:p>
          <a:p>
            <a:pPr marL="0" indent="0" algn="l">
              <a:spcAft>
                <a:spcPts val="200"/>
              </a:spcAft>
              <a:buNone/>
            </a:pPr>
            <a:r>
              <a:rPr lang="en-US" sz="1200" dirty="0">
                <a:solidFill>
                  <a:schemeClr val="bg2"/>
                </a:solidFill>
              </a:rPr>
              <a:t>Java, no Dockerfile</a:t>
            </a:r>
            <a:endParaRPr lang="en-US" sz="1500" dirty="0"/>
          </a:p>
        </p:txBody>
      </p:sp>
      <p:sp>
        <p:nvSpPr>
          <p:cNvPr id="32" name="Text 30"/>
          <p:cNvSpPr txBox="1"/>
          <p:nvPr/>
        </p:nvSpPr>
        <p:spPr>
          <a:xfrm>
            <a:off x="731520" y="5715000"/>
            <a:ext cx="10698480" cy="457200"/>
          </a:xfrm>
          <a:prstGeom prst="rect">
            <a:avLst/>
          </a:prstGeom>
          <a:noFill/>
          <a:ln/>
        </p:spPr>
        <p:txBody>
          <a:bodyPr wrap="square" lIns="0" tIns="0" rIns="0" bIns="0" rtlCol="0" anchor="t"/>
          <a:lstStyle/>
          <a:p>
            <a:pPr marL="0" indent="0">
              <a:buNone/>
            </a:pPr>
            <a:r>
              <a:rPr lang="en-US" sz="1400" dirty="0">
                <a:solidFill>
                  <a:schemeClr val="bg2"/>
                </a:solidFill>
              </a:rPr>
              <a:t>Kubernetes is not a rival: it orchestrates containers built by any of these tools. All of them use the same open image format (OCI).</a:t>
            </a:r>
            <a:endParaRPr lang="en-US" sz="1400" dirty="0"/>
          </a:p>
        </p:txBody>
      </p:sp>
      <p:sp>
        <p:nvSpPr>
          <p:cNvPr id="33"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863840" y="1280160"/>
            <a:ext cx="3840480" cy="3291840"/>
          </a:xfrm>
          <a:prstGeom prst="rect">
            <a:avLst/>
          </a:prstGeom>
          <a:noFill/>
          <a:ln/>
        </p:spPr>
        <p:txBody>
          <a:bodyPr wrap="square" lIns="0" tIns="0" rIns="0" bIns="0" rtlCol="0" anchor="ctr"/>
          <a:lstStyle/>
          <a:p>
            <a:pPr marL="0" indent="0" algn="r">
              <a:buNone/>
            </a:pPr>
            <a:r>
              <a:rPr lang="en-US" sz="22000" b="1" dirty="0">
                <a:solidFill>
                  <a:schemeClr val="accent5"/>
                </a:solidFill>
              </a:rPr>
              <a:t>05</a:t>
            </a:r>
            <a:endParaRPr lang="en-US" sz="22000" dirty="0"/>
          </a:p>
        </p:txBody>
      </p:sp>
      <p:sp>
        <p:nvSpPr>
          <p:cNvPr id="3" name="Text 0"/>
          <p:cNvSpPr>
            <a:spLocks noGrp="1"/>
          </p:cNvSpPr>
          <p:nvPr>
            <p:ph type="body" idx="100" hasCustomPrompt="1"/>
          </p:nvPr>
        </p:nvSpPr>
        <p:spPr>
          <a:xfrm>
            <a:off x="731520" y="2148840"/>
            <a:ext cx="7315200" cy="365760"/>
          </a:xfrm>
          <a:prstGeom prst="rect">
            <a:avLst/>
          </a:prstGeom>
          <a:noFill/>
          <a:ln/>
        </p:spPr>
        <p:txBody>
          <a:bodyPr wrap="square" lIns="0" tIns="0" rIns="0" bIns="0" rtlCol="0"/>
          <a:lstStyle/>
          <a:p>
            <a:pPr marL="0" indent="0">
              <a:buNone/>
            </a:pPr>
            <a:r>
              <a:rPr lang="en-US" sz="1400" b="1" kern="0" spc="400" dirty="0">
                <a:solidFill>
                  <a:schemeClr val="accent2"/>
                </a:solidFill>
              </a:rPr>
              <a:t>SECTION 05</a:t>
            </a:r>
            <a:endParaRPr lang="en-US" sz="1400" dirty="0"/>
          </a:p>
        </p:txBody>
      </p:sp>
      <p:sp>
        <p:nvSpPr>
          <p:cNvPr id="4" name="Text 0"/>
          <p:cNvSpPr>
            <a:spLocks noGrp="1"/>
          </p:cNvSpPr>
          <p:nvPr>
            <p:ph type="title" idx="101" hasCustomPrompt="1"/>
          </p:nvPr>
        </p:nvSpPr>
        <p:spPr>
          <a:xfrm>
            <a:off x="731520" y="2560320"/>
            <a:ext cx="6766560" cy="1371600"/>
          </a:xfrm>
          <a:prstGeom prst="rect">
            <a:avLst/>
          </a:prstGeom>
          <a:noFill/>
          <a:ln/>
        </p:spPr>
        <p:txBody>
          <a:bodyPr wrap="square" lIns="0" tIns="0" rIns="0" bIns="0" rtlCol="0" anchor="t"/>
          <a:lstStyle/>
          <a:p>
            <a:pPr marL="0" indent="0" algn="l">
              <a:buNone/>
            </a:pPr>
            <a:r>
              <a:rPr lang="en-US" sz="4000" b="1" dirty="0">
                <a:solidFill>
                  <a:schemeClr val="bg1"/>
                </a:solidFill>
              </a:rPr>
              <a:t>The container lifecycle</a:t>
            </a:r>
            <a:endParaRPr lang="en-US" sz="4000" dirty="0"/>
          </a:p>
        </p:txBody>
      </p:sp>
      <p:sp>
        <p:nvSpPr>
          <p:cNvPr id="5" name="Text 0"/>
          <p:cNvSpPr>
            <a:spLocks noGrp="1"/>
          </p:cNvSpPr>
          <p:nvPr>
            <p:ph type="body" idx="102" hasCustomPrompt="1"/>
          </p:nvPr>
        </p:nvSpPr>
        <p:spPr>
          <a:xfrm>
            <a:off x="731520" y="4069080"/>
            <a:ext cx="6583680" cy="1280160"/>
          </a:xfrm>
          <a:prstGeom prst="rect">
            <a:avLst/>
          </a:prstGeom>
          <a:noFill/>
          <a:ln/>
        </p:spPr>
        <p:txBody>
          <a:bodyPr wrap="square" lIns="0" tIns="0" rIns="0" bIns="0" rtlCol="0" anchor="t"/>
          <a:lstStyle/>
          <a:p>
            <a:pPr marL="0" indent="0" algn="l">
              <a:buNone/>
            </a:pPr>
            <a:r>
              <a:rPr lang="en-US" sz="2200" i="1" dirty="0">
                <a:solidFill>
                  <a:schemeClr val="bg2"/>
                </a:solidFill>
              </a:rPr>
              <a:t>What happens to a container from the moment it’s created until it’s deleted?</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CONTAINER LIFECYCLE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The five states of a container</a:t>
            </a:r>
            <a:endParaRPr lang="en-US" sz="3000" dirty="0"/>
          </a:p>
        </p:txBody>
      </p:sp>
      <p:sp>
        <p:nvSpPr>
          <p:cNvPr id="4" name="Text 2"/>
          <p:cNvSpPr txBox="1"/>
          <p:nvPr/>
        </p:nvSpPr>
        <p:spPr>
          <a:xfrm>
            <a:off x="731520" y="1417320"/>
            <a:ext cx="10058400" cy="365760"/>
          </a:xfrm>
          <a:prstGeom prst="rect">
            <a:avLst/>
          </a:prstGeom>
          <a:noFill/>
          <a:ln/>
        </p:spPr>
        <p:txBody>
          <a:bodyPr wrap="square" lIns="0" tIns="0" rIns="0" bIns="0" rtlCol="0" anchor="t"/>
          <a:lstStyle/>
          <a:p>
            <a:pPr marL="0" indent="0">
              <a:buNone/>
            </a:pPr>
            <a:r>
              <a:rPr lang="en-US" sz="1600" b="1" dirty="0">
                <a:solidFill>
                  <a:schemeClr val="accent1"/>
                </a:solidFill>
                <a:latin typeface="Consolas" pitchFamily="34" charset="0"/>
                <a:ea typeface="Consolas" pitchFamily="34" charset="-122"/>
                <a:cs typeface="Consolas" pitchFamily="34" charset="-120"/>
              </a:rPr>
              <a:t>docker run</a:t>
            </a:r>
            <a:r>
              <a:rPr lang="en-US" sz="1600" dirty="0">
                <a:solidFill>
                  <a:schemeClr val="bg2"/>
                </a:solidFill>
              </a:rPr>
              <a:t> = docker create + docker start, in one command</a:t>
            </a:r>
            <a:endParaRPr lang="en-US" sz="1600" dirty="0"/>
          </a:p>
        </p:txBody>
      </p:sp>
      <p:sp>
        <p:nvSpPr>
          <p:cNvPr id="5" name="Shape 3"/>
          <p:cNvSpPr/>
          <p:nvPr/>
        </p:nvSpPr>
        <p:spPr>
          <a:xfrm>
            <a:off x="731520" y="3429000"/>
            <a:ext cx="1828800" cy="868680"/>
          </a:xfrm>
          <a:prstGeom prst="roundRect">
            <a:avLst>
              <a:gd name="adj" fmla="val 10526"/>
            </a:avLst>
          </a:prstGeom>
          <a:solidFill>
            <a:schemeClr val="tx2"/>
          </a:solidFill>
          <a:ln w="12700">
            <a:solidFill>
              <a:schemeClr val="accent6"/>
            </a:solidFill>
            <a:prstDash val="solid"/>
          </a:ln>
        </p:spPr>
      </p:sp>
      <p:sp>
        <p:nvSpPr>
          <p:cNvPr id="6" name="Text 4"/>
          <p:cNvSpPr txBox="1"/>
          <p:nvPr/>
        </p:nvSpPr>
        <p:spPr>
          <a:xfrm>
            <a:off x="804672" y="3429000"/>
            <a:ext cx="1682496" cy="868680"/>
          </a:xfrm>
          <a:prstGeom prst="rect">
            <a:avLst/>
          </a:prstGeom>
          <a:noFill/>
          <a:ln/>
        </p:spPr>
        <p:txBody>
          <a:bodyPr wrap="square" lIns="0" tIns="0" rIns="0" bIns="0" rtlCol="0" anchor="ctr"/>
          <a:lstStyle/>
          <a:p>
            <a:pPr marL="0" indent="0" algn="ctr">
              <a:spcAft>
                <a:spcPts val="200"/>
              </a:spcAft>
              <a:buNone/>
            </a:pPr>
            <a:r>
              <a:rPr lang="en-US" sz="1800" b="1" dirty="0">
                <a:solidFill>
                  <a:schemeClr val="bg1"/>
                </a:solidFill>
              </a:rPr>
              <a:t>Created</a:t>
            </a:r>
            <a:endParaRPr lang="en-US" sz="1800" dirty="0"/>
          </a:p>
        </p:txBody>
      </p:sp>
      <p:sp>
        <p:nvSpPr>
          <p:cNvPr id="7" name="Shape 5"/>
          <p:cNvSpPr/>
          <p:nvPr/>
        </p:nvSpPr>
        <p:spPr>
          <a:xfrm>
            <a:off x="3794760" y="3429000"/>
            <a:ext cx="1828800" cy="868680"/>
          </a:xfrm>
          <a:prstGeom prst="roundRect">
            <a:avLst>
              <a:gd name="adj" fmla="val 10526"/>
            </a:avLst>
          </a:prstGeom>
          <a:solidFill>
            <a:schemeClr val="accent1"/>
          </a:solidFill>
          <a:ln w="12700">
            <a:solidFill>
              <a:schemeClr val="accent1"/>
            </a:solidFill>
            <a:prstDash val="solid"/>
          </a:ln>
        </p:spPr>
      </p:sp>
      <p:sp>
        <p:nvSpPr>
          <p:cNvPr id="8" name="Text 6"/>
          <p:cNvSpPr txBox="1"/>
          <p:nvPr/>
        </p:nvSpPr>
        <p:spPr>
          <a:xfrm>
            <a:off x="3867912" y="3429000"/>
            <a:ext cx="1682496" cy="868680"/>
          </a:xfrm>
          <a:prstGeom prst="rect">
            <a:avLst/>
          </a:prstGeom>
          <a:noFill/>
          <a:ln/>
        </p:spPr>
        <p:txBody>
          <a:bodyPr wrap="square" lIns="0" tIns="0" rIns="0" bIns="0" rtlCol="0" anchor="ctr"/>
          <a:lstStyle/>
          <a:p>
            <a:pPr marL="0" indent="0" algn="ctr">
              <a:spcAft>
                <a:spcPts val="200"/>
              </a:spcAft>
              <a:buNone/>
            </a:pPr>
            <a:r>
              <a:rPr lang="en-US" sz="1800" b="1" dirty="0">
                <a:solidFill>
                  <a:schemeClr val="bg1"/>
                </a:solidFill>
              </a:rPr>
              <a:t>Running</a:t>
            </a:r>
            <a:endParaRPr lang="en-US" sz="1800" dirty="0"/>
          </a:p>
        </p:txBody>
      </p:sp>
      <p:sp>
        <p:nvSpPr>
          <p:cNvPr id="9" name="Shape 7"/>
          <p:cNvSpPr/>
          <p:nvPr/>
        </p:nvSpPr>
        <p:spPr>
          <a:xfrm>
            <a:off x="3794760" y="1920240"/>
            <a:ext cx="1828800" cy="777240"/>
          </a:xfrm>
          <a:prstGeom prst="roundRect">
            <a:avLst>
              <a:gd name="adj" fmla="val 11765"/>
            </a:avLst>
          </a:prstGeom>
          <a:solidFill>
            <a:srgbClr val="0B1426"/>
          </a:solidFill>
          <a:ln w="12700">
            <a:solidFill>
              <a:schemeClr val="bg2"/>
            </a:solidFill>
            <a:prstDash val="dash"/>
          </a:ln>
        </p:spPr>
      </p:sp>
      <p:sp>
        <p:nvSpPr>
          <p:cNvPr id="10" name="Text 8"/>
          <p:cNvSpPr txBox="1"/>
          <p:nvPr/>
        </p:nvSpPr>
        <p:spPr>
          <a:xfrm>
            <a:off x="3867912" y="1920240"/>
            <a:ext cx="1682496" cy="777240"/>
          </a:xfrm>
          <a:prstGeom prst="rect">
            <a:avLst/>
          </a:prstGeom>
          <a:noFill/>
          <a:ln/>
        </p:spPr>
        <p:txBody>
          <a:bodyPr wrap="square" lIns="0" tIns="0" rIns="0" bIns="0" rtlCol="0" anchor="ctr"/>
          <a:lstStyle/>
          <a:p>
            <a:pPr marL="0" indent="0" algn="ctr">
              <a:spcAft>
                <a:spcPts val="200"/>
              </a:spcAft>
              <a:buNone/>
            </a:pPr>
            <a:r>
              <a:rPr lang="en-US" sz="1800" b="1" dirty="0">
                <a:solidFill>
                  <a:schemeClr val="bg1"/>
                </a:solidFill>
              </a:rPr>
              <a:t>Paused</a:t>
            </a:r>
            <a:endParaRPr lang="en-US" sz="1800" dirty="0"/>
          </a:p>
        </p:txBody>
      </p:sp>
      <p:sp>
        <p:nvSpPr>
          <p:cNvPr id="11" name="Shape 9"/>
          <p:cNvSpPr/>
          <p:nvPr/>
        </p:nvSpPr>
        <p:spPr>
          <a:xfrm>
            <a:off x="6858000" y="3429000"/>
            <a:ext cx="1828800" cy="868680"/>
          </a:xfrm>
          <a:prstGeom prst="roundRect">
            <a:avLst>
              <a:gd name="adj" fmla="val 10526"/>
            </a:avLst>
          </a:prstGeom>
          <a:solidFill>
            <a:schemeClr val="tx2"/>
          </a:solidFill>
          <a:ln w="12700">
            <a:solidFill>
              <a:schemeClr val="accent6"/>
            </a:solidFill>
            <a:prstDash val="solid"/>
          </a:ln>
        </p:spPr>
      </p:sp>
      <p:sp>
        <p:nvSpPr>
          <p:cNvPr id="12" name="Text 10"/>
          <p:cNvSpPr txBox="1"/>
          <p:nvPr/>
        </p:nvSpPr>
        <p:spPr>
          <a:xfrm>
            <a:off x="6931152" y="3429000"/>
            <a:ext cx="1682496" cy="868680"/>
          </a:xfrm>
          <a:prstGeom prst="rect">
            <a:avLst/>
          </a:prstGeom>
          <a:noFill/>
          <a:ln/>
        </p:spPr>
        <p:txBody>
          <a:bodyPr wrap="square" lIns="0" tIns="0" rIns="0" bIns="0" rtlCol="0" anchor="ctr"/>
          <a:lstStyle/>
          <a:p>
            <a:pPr marL="0" indent="0" algn="ctr">
              <a:spcAft>
                <a:spcPts val="200"/>
              </a:spcAft>
              <a:buNone/>
            </a:pPr>
            <a:r>
              <a:rPr lang="en-US" sz="1800" b="1" dirty="0">
                <a:solidFill>
                  <a:schemeClr val="bg1"/>
                </a:solidFill>
              </a:rPr>
              <a:t>Stopped</a:t>
            </a:r>
            <a:endParaRPr lang="en-US" sz="1800" dirty="0"/>
          </a:p>
        </p:txBody>
      </p:sp>
      <p:sp>
        <p:nvSpPr>
          <p:cNvPr id="13" name="Shape 11"/>
          <p:cNvSpPr/>
          <p:nvPr/>
        </p:nvSpPr>
        <p:spPr>
          <a:xfrm>
            <a:off x="9692640" y="3429000"/>
            <a:ext cx="1737360" cy="868680"/>
          </a:xfrm>
          <a:prstGeom prst="roundRect">
            <a:avLst>
              <a:gd name="adj" fmla="val 10526"/>
            </a:avLst>
          </a:prstGeom>
          <a:solidFill>
            <a:srgbClr val="3A2430"/>
          </a:solidFill>
          <a:ln w="12700">
            <a:solidFill>
              <a:schemeClr val="accent4"/>
            </a:solidFill>
            <a:prstDash val="solid"/>
          </a:ln>
        </p:spPr>
      </p:sp>
      <p:sp>
        <p:nvSpPr>
          <p:cNvPr id="14" name="Text 12"/>
          <p:cNvSpPr txBox="1"/>
          <p:nvPr/>
        </p:nvSpPr>
        <p:spPr>
          <a:xfrm>
            <a:off x="9765792" y="3429000"/>
            <a:ext cx="1591056" cy="868680"/>
          </a:xfrm>
          <a:prstGeom prst="rect">
            <a:avLst/>
          </a:prstGeom>
          <a:noFill/>
          <a:ln/>
        </p:spPr>
        <p:txBody>
          <a:bodyPr wrap="square" lIns="0" tIns="0" rIns="0" bIns="0" rtlCol="0" anchor="ctr"/>
          <a:lstStyle/>
          <a:p>
            <a:pPr marL="0" indent="0" algn="ctr">
              <a:spcAft>
                <a:spcPts val="200"/>
              </a:spcAft>
              <a:buNone/>
            </a:pPr>
            <a:r>
              <a:rPr lang="en-US" sz="1800" b="1" dirty="0">
                <a:solidFill>
                  <a:schemeClr val="accent4"/>
                </a:solidFill>
              </a:rPr>
              <a:t>Removed</a:t>
            </a:r>
            <a:endParaRPr lang="en-US" sz="1800" dirty="0"/>
          </a:p>
        </p:txBody>
      </p:sp>
      <p:sp>
        <p:nvSpPr>
          <p:cNvPr id="15" name="Shape 13"/>
          <p:cNvSpPr/>
          <p:nvPr/>
        </p:nvSpPr>
        <p:spPr>
          <a:xfrm>
            <a:off x="2606040" y="3749040"/>
            <a:ext cx="1143000" cy="0"/>
          </a:xfrm>
          <a:prstGeom prst="line">
            <a:avLst/>
          </a:prstGeom>
          <a:noFill/>
          <a:ln w="22225">
            <a:solidFill>
              <a:schemeClr val="bg1"/>
            </a:solidFill>
            <a:prstDash val="solid"/>
            <a:tailEnd type="triangle"/>
          </a:ln>
        </p:spPr>
      </p:sp>
      <p:sp>
        <p:nvSpPr>
          <p:cNvPr id="16" name="Text 14"/>
          <p:cNvSpPr txBox="1"/>
          <p:nvPr/>
        </p:nvSpPr>
        <p:spPr>
          <a:xfrm>
            <a:off x="2560320" y="3886200"/>
            <a:ext cx="1234440" cy="274320"/>
          </a:xfrm>
          <a:prstGeom prst="rect">
            <a:avLst/>
          </a:prstGeom>
          <a:noFill/>
          <a:ln/>
        </p:spPr>
        <p:txBody>
          <a:bodyPr wrap="square" lIns="0" tIns="0" rIns="0" bIns="0" rtlCol="0" anchor="t"/>
          <a:lstStyle/>
          <a:p>
            <a:pPr marL="0" indent="0" algn="ctr">
              <a:buNone/>
            </a:pPr>
            <a:r>
              <a:rPr lang="en-US" sz="1200" dirty="0">
                <a:solidFill>
                  <a:schemeClr val="bg2"/>
                </a:solidFill>
                <a:latin typeface="Consolas" pitchFamily="34" charset="0"/>
                <a:ea typeface="Consolas" pitchFamily="34" charset="-122"/>
                <a:cs typeface="Consolas" pitchFamily="34" charset="-120"/>
              </a:rPr>
              <a:t>docker start</a:t>
            </a:r>
            <a:endParaRPr lang="en-US" sz="1200" dirty="0"/>
          </a:p>
        </p:txBody>
      </p:sp>
      <p:sp>
        <p:nvSpPr>
          <p:cNvPr id="17" name="Shape 15"/>
          <p:cNvSpPr/>
          <p:nvPr/>
        </p:nvSpPr>
        <p:spPr>
          <a:xfrm>
            <a:off x="5669280" y="3749040"/>
            <a:ext cx="1143000" cy="0"/>
          </a:xfrm>
          <a:prstGeom prst="line">
            <a:avLst/>
          </a:prstGeom>
          <a:noFill/>
          <a:ln w="22225">
            <a:solidFill>
              <a:schemeClr val="bg1"/>
            </a:solidFill>
            <a:prstDash val="solid"/>
            <a:tailEnd type="triangle"/>
          </a:ln>
        </p:spPr>
      </p:sp>
      <p:sp>
        <p:nvSpPr>
          <p:cNvPr id="18" name="Text 16"/>
          <p:cNvSpPr txBox="1"/>
          <p:nvPr/>
        </p:nvSpPr>
        <p:spPr>
          <a:xfrm>
            <a:off x="5623560" y="3886200"/>
            <a:ext cx="1234440" cy="274320"/>
          </a:xfrm>
          <a:prstGeom prst="rect">
            <a:avLst/>
          </a:prstGeom>
          <a:noFill/>
          <a:ln/>
        </p:spPr>
        <p:txBody>
          <a:bodyPr wrap="square" lIns="0" tIns="0" rIns="0" bIns="0" rtlCol="0" anchor="t"/>
          <a:lstStyle/>
          <a:p>
            <a:pPr marL="0" indent="0" algn="ctr">
              <a:buNone/>
            </a:pPr>
            <a:r>
              <a:rPr lang="en-US" sz="1200" dirty="0">
                <a:solidFill>
                  <a:schemeClr val="bg2"/>
                </a:solidFill>
                <a:latin typeface="Consolas" pitchFamily="34" charset="0"/>
                <a:ea typeface="Consolas" pitchFamily="34" charset="-122"/>
                <a:cs typeface="Consolas" pitchFamily="34" charset="-120"/>
              </a:rPr>
              <a:t>docker stop</a:t>
            </a:r>
            <a:endParaRPr lang="en-US" sz="1200" dirty="0"/>
          </a:p>
        </p:txBody>
      </p:sp>
      <p:sp>
        <p:nvSpPr>
          <p:cNvPr id="19" name="Shape 17"/>
          <p:cNvSpPr/>
          <p:nvPr/>
        </p:nvSpPr>
        <p:spPr>
          <a:xfrm>
            <a:off x="8732520" y="3749040"/>
            <a:ext cx="914400" cy="0"/>
          </a:xfrm>
          <a:prstGeom prst="line">
            <a:avLst/>
          </a:prstGeom>
          <a:noFill/>
          <a:ln w="22225">
            <a:solidFill>
              <a:schemeClr val="accent4"/>
            </a:solidFill>
            <a:prstDash val="solid"/>
            <a:tailEnd type="triangle"/>
          </a:ln>
        </p:spPr>
      </p:sp>
      <p:sp>
        <p:nvSpPr>
          <p:cNvPr id="20" name="Text 18"/>
          <p:cNvSpPr txBox="1"/>
          <p:nvPr/>
        </p:nvSpPr>
        <p:spPr>
          <a:xfrm>
            <a:off x="8686800" y="3886200"/>
            <a:ext cx="1005840" cy="274320"/>
          </a:xfrm>
          <a:prstGeom prst="rect">
            <a:avLst/>
          </a:prstGeom>
          <a:noFill/>
          <a:ln/>
        </p:spPr>
        <p:txBody>
          <a:bodyPr wrap="square" lIns="0" tIns="0" rIns="0" bIns="0" rtlCol="0" anchor="t"/>
          <a:lstStyle/>
          <a:p>
            <a:pPr marL="0" indent="0" algn="ctr">
              <a:buNone/>
            </a:pPr>
            <a:r>
              <a:rPr lang="en-US" sz="1200" dirty="0">
                <a:solidFill>
                  <a:schemeClr val="accent4"/>
                </a:solidFill>
                <a:latin typeface="Consolas" pitchFamily="34" charset="0"/>
                <a:ea typeface="Consolas" pitchFamily="34" charset="-122"/>
                <a:cs typeface="Consolas" pitchFamily="34" charset="-120"/>
              </a:rPr>
              <a:t>docker rm</a:t>
            </a:r>
            <a:endParaRPr lang="en-US" sz="1200" dirty="0"/>
          </a:p>
        </p:txBody>
      </p:sp>
      <p:sp>
        <p:nvSpPr>
          <p:cNvPr id="21" name="Shape 19"/>
          <p:cNvSpPr/>
          <p:nvPr/>
        </p:nvSpPr>
        <p:spPr>
          <a:xfrm flipV="1">
            <a:off x="4343400" y="2743200"/>
            <a:ext cx="0" cy="658368"/>
          </a:xfrm>
          <a:prstGeom prst="line">
            <a:avLst/>
          </a:prstGeom>
          <a:noFill/>
          <a:ln w="22225">
            <a:solidFill>
              <a:schemeClr val="bg1"/>
            </a:solidFill>
            <a:prstDash val="solid"/>
            <a:tailEnd type="triangle"/>
          </a:ln>
        </p:spPr>
      </p:sp>
      <p:sp>
        <p:nvSpPr>
          <p:cNvPr id="22" name="Text 20"/>
          <p:cNvSpPr txBox="1"/>
          <p:nvPr/>
        </p:nvSpPr>
        <p:spPr>
          <a:xfrm>
            <a:off x="3291840" y="2926080"/>
            <a:ext cx="960120" cy="274320"/>
          </a:xfrm>
          <a:prstGeom prst="rect">
            <a:avLst/>
          </a:prstGeom>
          <a:noFill/>
          <a:ln/>
        </p:spPr>
        <p:txBody>
          <a:bodyPr wrap="square" lIns="0" tIns="0" rIns="0" bIns="0" rtlCol="0" anchor="t"/>
          <a:lstStyle/>
          <a:p>
            <a:pPr marL="0" indent="0" algn="r">
              <a:buNone/>
            </a:pPr>
            <a:r>
              <a:rPr lang="en-US" sz="1200" dirty="0">
                <a:solidFill>
                  <a:schemeClr val="bg2"/>
                </a:solidFill>
                <a:latin typeface="Consolas" pitchFamily="34" charset="0"/>
                <a:ea typeface="Consolas" pitchFamily="34" charset="-122"/>
                <a:cs typeface="Consolas" pitchFamily="34" charset="-120"/>
              </a:rPr>
              <a:t>pause</a:t>
            </a:r>
            <a:endParaRPr lang="en-US" sz="1200" dirty="0"/>
          </a:p>
        </p:txBody>
      </p:sp>
      <p:sp>
        <p:nvSpPr>
          <p:cNvPr id="23" name="Shape 21"/>
          <p:cNvSpPr/>
          <p:nvPr/>
        </p:nvSpPr>
        <p:spPr>
          <a:xfrm>
            <a:off x="5074920" y="2743200"/>
            <a:ext cx="0" cy="658368"/>
          </a:xfrm>
          <a:prstGeom prst="line">
            <a:avLst/>
          </a:prstGeom>
          <a:noFill/>
          <a:ln w="22225">
            <a:solidFill>
              <a:schemeClr val="bg1"/>
            </a:solidFill>
            <a:prstDash val="solid"/>
            <a:tailEnd type="triangle"/>
          </a:ln>
        </p:spPr>
      </p:sp>
      <p:sp>
        <p:nvSpPr>
          <p:cNvPr id="24" name="Text 22"/>
          <p:cNvSpPr txBox="1"/>
          <p:nvPr/>
        </p:nvSpPr>
        <p:spPr>
          <a:xfrm>
            <a:off x="5166360" y="2926080"/>
            <a:ext cx="1097280" cy="274320"/>
          </a:xfrm>
          <a:prstGeom prst="rect">
            <a:avLst/>
          </a:prstGeom>
          <a:noFill/>
          <a:ln/>
        </p:spPr>
        <p:txBody>
          <a:bodyPr wrap="square" lIns="0" tIns="0" rIns="0" bIns="0" rtlCol="0" anchor="t"/>
          <a:lstStyle/>
          <a:p>
            <a:pPr marL="0" indent="0">
              <a:buNone/>
            </a:pPr>
            <a:r>
              <a:rPr lang="en-US" sz="1200" dirty="0">
                <a:solidFill>
                  <a:schemeClr val="bg2"/>
                </a:solidFill>
                <a:latin typeface="Consolas" pitchFamily="34" charset="0"/>
                <a:ea typeface="Consolas" pitchFamily="34" charset="-122"/>
                <a:cs typeface="Consolas" pitchFamily="34" charset="-120"/>
              </a:rPr>
              <a:t>unpause</a:t>
            </a:r>
            <a:endParaRPr lang="en-US" sz="1200" dirty="0"/>
          </a:p>
        </p:txBody>
      </p:sp>
      <p:sp>
        <p:nvSpPr>
          <p:cNvPr id="25" name="Shape 23"/>
          <p:cNvSpPr/>
          <p:nvPr/>
        </p:nvSpPr>
        <p:spPr>
          <a:xfrm>
            <a:off x="7772400" y="4334256"/>
            <a:ext cx="0" cy="512064"/>
          </a:xfrm>
          <a:prstGeom prst="line">
            <a:avLst/>
          </a:prstGeom>
          <a:noFill/>
          <a:ln w="22225">
            <a:solidFill>
              <a:schemeClr val="bg1"/>
            </a:solidFill>
            <a:prstDash val="solid"/>
          </a:ln>
        </p:spPr>
      </p:sp>
      <p:sp>
        <p:nvSpPr>
          <p:cNvPr id="26" name="Shape 24"/>
          <p:cNvSpPr/>
          <p:nvPr/>
        </p:nvSpPr>
        <p:spPr>
          <a:xfrm flipH="1">
            <a:off x="4709160" y="4846320"/>
            <a:ext cx="3063240" cy="0"/>
          </a:xfrm>
          <a:prstGeom prst="line">
            <a:avLst/>
          </a:prstGeom>
          <a:noFill/>
          <a:ln w="22225">
            <a:solidFill>
              <a:schemeClr val="bg1"/>
            </a:solidFill>
            <a:prstDash val="solid"/>
          </a:ln>
        </p:spPr>
      </p:sp>
      <p:sp>
        <p:nvSpPr>
          <p:cNvPr id="27" name="Shape 25"/>
          <p:cNvSpPr/>
          <p:nvPr/>
        </p:nvSpPr>
        <p:spPr>
          <a:xfrm flipV="1">
            <a:off x="4709160" y="4343400"/>
            <a:ext cx="0" cy="502920"/>
          </a:xfrm>
          <a:prstGeom prst="line">
            <a:avLst/>
          </a:prstGeom>
          <a:noFill/>
          <a:ln w="22225">
            <a:solidFill>
              <a:schemeClr val="bg1"/>
            </a:solidFill>
            <a:prstDash val="solid"/>
            <a:tailEnd type="triangle"/>
          </a:ln>
        </p:spPr>
      </p:sp>
      <p:sp>
        <p:nvSpPr>
          <p:cNvPr id="28" name="Text 26"/>
          <p:cNvSpPr txBox="1"/>
          <p:nvPr/>
        </p:nvSpPr>
        <p:spPr>
          <a:xfrm>
            <a:off x="4937760" y="4910328"/>
            <a:ext cx="2651760" cy="274320"/>
          </a:xfrm>
          <a:prstGeom prst="rect">
            <a:avLst/>
          </a:prstGeom>
          <a:noFill/>
          <a:ln/>
        </p:spPr>
        <p:txBody>
          <a:bodyPr wrap="square" lIns="0" tIns="0" rIns="0" bIns="0" rtlCol="0" anchor="t"/>
          <a:lstStyle/>
          <a:p>
            <a:pPr marL="0" indent="0" algn="ctr">
              <a:buNone/>
            </a:pPr>
            <a:r>
              <a:rPr lang="en-US" sz="1200" dirty="0">
                <a:solidFill>
                  <a:schemeClr val="bg2"/>
                </a:solidFill>
                <a:latin typeface="Consolas" pitchFamily="34" charset="0"/>
                <a:ea typeface="Consolas" pitchFamily="34" charset="-122"/>
                <a:cs typeface="Consolas" pitchFamily="34" charset="-120"/>
              </a:rPr>
              <a:t>docker start / restart</a:t>
            </a:r>
            <a:endParaRPr lang="en-US" sz="1200" dirty="0"/>
          </a:p>
        </p:txBody>
      </p:sp>
      <p:sp>
        <p:nvSpPr>
          <p:cNvPr id="29" name="Shape 27"/>
          <p:cNvSpPr/>
          <p:nvPr/>
        </p:nvSpPr>
        <p:spPr>
          <a:xfrm>
            <a:off x="1645920" y="2743200"/>
            <a:ext cx="0" cy="640080"/>
          </a:xfrm>
          <a:prstGeom prst="line">
            <a:avLst/>
          </a:prstGeom>
          <a:noFill/>
          <a:ln w="22225">
            <a:solidFill>
              <a:schemeClr val="bg1"/>
            </a:solidFill>
            <a:prstDash val="solid"/>
            <a:tailEnd type="triangle"/>
          </a:ln>
        </p:spPr>
      </p:sp>
      <p:sp>
        <p:nvSpPr>
          <p:cNvPr id="30" name="Text 28"/>
          <p:cNvSpPr txBox="1"/>
          <p:nvPr/>
        </p:nvSpPr>
        <p:spPr>
          <a:xfrm>
            <a:off x="548640" y="2423160"/>
            <a:ext cx="2194560" cy="274320"/>
          </a:xfrm>
          <a:prstGeom prst="rect">
            <a:avLst/>
          </a:prstGeom>
          <a:noFill/>
          <a:ln/>
        </p:spPr>
        <p:txBody>
          <a:bodyPr wrap="square" lIns="0" tIns="0" rIns="0" bIns="0" rtlCol="0" anchor="t"/>
          <a:lstStyle/>
          <a:p>
            <a:pPr marL="0" indent="0" algn="ctr">
              <a:buNone/>
            </a:pPr>
            <a:r>
              <a:rPr lang="en-US" sz="1200" dirty="0">
                <a:solidFill>
                  <a:schemeClr val="bg2"/>
                </a:solidFill>
                <a:latin typeface="Consolas" pitchFamily="34" charset="0"/>
                <a:ea typeface="Consolas" pitchFamily="34" charset="-122"/>
                <a:cs typeface="Consolas" pitchFamily="34" charset="-120"/>
              </a:rPr>
              <a:t>docker create &lt;image&gt;</a:t>
            </a:r>
            <a:endParaRPr lang="en-US" sz="1200" dirty="0"/>
          </a:p>
        </p:txBody>
      </p:sp>
      <p:sp>
        <p:nvSpPr>
          <p:cNvPr id="31" name="Shape 29"/>
          <p:cNvSpPr/>
          <p:nvPr/>
        </p:nvSpPr>
        <p:spPr>
          <a:xfrm>
            <a:off x="731520" y="5349240"/>
            <a:ext cx="10698480" cy="685800"/>
          </a:xfrm>
          <a:prstGeom prst="roundRect">
            <a:avLst>
              <a:gd name="adj" fmla="val 13333"/>
            </a:avLst>
          </a:prstGeom>
          <a:solidFill>
            <a:schemeClr val="tx2"/>
          </a:solidFill>
          <a:ln w="12700">
            <a:solidFill>
              <a:schemeClr val="accent6"/>
            </a:solidFill>
            <a:prstDash val="solid"/>
          </a:ln>
        </p:spPr>
      </p:sp>
      <p:sp>
        <p:nvSpPr>
          <p:cNvPr id="32" name="Text 30"/>
          <p:cNvSpPr txBox="1"/>
          <p:nvPr/>
        </p:nvSpPr>
        <p:spPr>
          <a:xfrm>
            <a:off x="1005840" y="5349240"/>
            <a:ext cx="10241280" cy="685800"/>
          </a:xfrm>
          <a:prstGeom prst="rect">
            <a:avLst/>
          </a:prstGeom>
          <a:noFill/>
          <a:ln/>
        </p:spPr>
        <p:txBody>
          <a:bodyPr wrap="square" lIns="0" tIns="0" rIns="0" bIns="0" rtlCol="0" anchor="ctr"/>
          <a:lstStyle/>
          <a:p>
            <a:pPr marL="0" indent="0">
              <a:buNone/>
            </a:pPr>
            <a:r>
              <a:rPr lang="en-US" sz="1500" b="1" dirty="0">
                <a:solidFill>
                  <a:schemeClr val="accent3"/>
                </a:solidFill>
              </a:rPr>
              <a:t>Analogy:  </a:t>
            </a:r>
            <a:r>
              <a:rPr lang="en-US" sz="1500" dirty="0">
                <a:solidFill>
                  <a:schemeClr val="bg1"/>
                </a:solidFill>
              </a:rPr>
              <a:t>Created = laptop out of the box · Running = switched on · Paused = sleep mode · Stopped = shut down · Removed = recycled</a:t>
            </a:r>
            <a:endParaRPr lang="en-US" sz="1500" dirty="0"/>
          </a:p>
        </p:txBody>
      </p:sp>
      <p:sp>
        <p:nvSpPr>
          <p:cNvPr id="33"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CONTAINER LIFECYCLE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Every state has a command</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023360"/>
        </p:xfrm>
        <a:graphic>
          <a:graphicData uri="http://schemas.openxmlformats.org/drawingml/2006/table">
            <a:tbl>
              <a:tblPr/>
              <a:tblGrid>
                <a:gridCol w="18288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502920">
                <a:tc>
                  <a:txBody>
                    <a:bodyPr/>
                    <a:lstStyle/>
                    <a:p>
                      <a:pPr marL="0" indent="0">
                        <a:buNone/>
                      </a:pPr>
                      <a:r>
                        <a:rPr lang="en-US" sz="1300" b="1" dirty="0">
                          <a:solidFill>
                            <a:schemeClr val="accent2"/>
                          </a:solidFill>
                        </a:rPr>
                        <a:t>State</a:t>
                      </a:r>
                      <a:endParaRPr lang="en-US" sz="13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tc>
                  <a:txBody>
                    <a:bodyPr/>
                    <a:lstStyle/>
                    <a:p>
                      <a:pPr marL="0" indent="0">
                        <a:buNone/>
                      </a:pPr>
                      <a:r>
                        <a:rPr lang="en-US" sz="1300" b="1" dirty="0">
                          <a:solidFill>
                            <a:schemeClr val="accent2"/>
                          </a:solidFill>
                        </a:rPr>
                        <a:t>What happens</a:t>
                      </a:r>
                      <a:endParaRPr lang="en-US" sz="13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tc>
                  <a:txBody>
                    <a:bodyPr/>
                    <a:lstStyle/>
                    <a:p>
                      <a:pPr marL="0" indent="0">
                        <a:buNone/>
                      </a:pPr>
                      <a:r>
                        <a:rPr lang="en-US" sz="1300" b="1" dirty="0">
                          <a:solidFill>
                            <a:schemeClr val="accent2"/>
                          </a:solidFill>
                        </a:rPr>
                        <a:t>Command</a:t>
                      </a:r>
                      <a:endParaRPr lang="en-US" sz="13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502920">
                <a:tc>
                  <a:txBody>
                    <a:bodyPr/>
                    <a:lstStyle/>
                    <a:p>
                      <a:pPr marL="0" indent="0">
                        <a:buNone/>
                      </a:pPr>
                      <a:r>
                        <a:rPr lang="en-US" sz="1500" b="1" dirty="0">
                          <a:solidFill>
                            <a:schemeClr val="accent1"/>
                          </a:solidFill>
                        </a:rPr>
                        <a:t>Create</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Set up from an image, not yet running</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rgbClr val="9FD3FF"/>
                          </a:solidFill>
                          <a:latin typeface="Consolas" pitchFamily="34" charset="0"/>
                          <a:ea typeface="Consolas" pitchFamily="34" charset="-122"/>
                          <a:cs typeface="Consolas" pitchFamily="34" charset="-120"/>
                        </a:rPr>
                        <a:t>docker create &lt;image&gt;</a:t>
                      </a:r>
                      <a:endParaRPr lang="en-US" sz="1500" dirty="0">
                        <a:latin typeface="Consolas" charset="0"/>
                        <a:ea typeface="Consolas" charset="0"/>
                        <a:cs typeface="Consolas" charset="0"/>
                      </a:endParaRPr>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502920">
                <a:tc>
                  <a:txBody>
                    <a:bodyPr/>
                    <a:lstStyle/>
                    <a:p>
                      <a:pPr marL="0" indent="0">
                        <a:buNone/>
                      </a:pPr>
                      <a:r>
                        <a:rPr lang="en-US" sz="1500" b="1" dirty="0">
                          <a:solidFill>
                            <a:schemeClr val="accent1"/>
                          </a:solidFill>
                        </a:rPr>
                        <a:t>Start</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500" dirty="0">
                          <a:solidFill>
                            <a:schemeClr val="bg1"/>
                          </a:solidFill>
                        </a:rPr>
                        <a:t>The created container begins running</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500" dirty="0">
                          <a:solidFill>
                            <a:srgbClr val="9FD3FF"/>
                          </a:solidFill>
                          <a:latin typeface="Consolas" pitchFamily="34" charset="0"/>
                          <a:ea typeface="Consolas" pitchFamily="34" charset="-122"/>
                          <a:cs typeface="Consolas" pitchFamily="34" charset="-120"/>
                        </a:rPr>
                        <a:t>docker start &lt;container&gt;</a:t>
                      </a:r>
                      <a:endParaRPr lang="en-US" sz="1500" dirty="0">
                        <a:latin typeface="Consolas" charset="0"/>
                        <a:ea typeface="Consolas" charset="0"/>
                        <a:cs typeface="Consolas" charset="0"/>
                      </a:endParaRPr>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2"/>
                  </a:ext>
                </a:extLst>
              </a:tr>
              <a:tr h="502920">
                <a:tc>
                  <a:txBody>
                    <a:bodyPr/>
                    <a:lstStyle/>
                    <a:p>
                      <a:pPr marL="0" indent="0">
                        <a:buNone/>
                      </a:pPr>
                      <a:r>
                        <a:rPr lang="en-US" sz="1500" b="1" dirty="0">
                          <a:solidFill>
                            <a:schemeClr val="accent1"/>
                          </a:solidFill>
                        </a:rPr>
                        <a:t>Running</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The application process is active inside</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rgbClr val="9FD3FF"/>
                          </a:solidFill>
                          <a:latin typeface="Consolas" pitchFamily="34" charset="0"/>
                          <a:ea typeface="Consolas" pitchFamily="34" charset="-122"/>
                          <a:cs typeface="Consolas" pitchFamily="34" charset="-120"/>
                        </a:rPr>
                        <a:t>docker ps</a:t>
                      </a:r>
                      <a:endParaRPr lang="en-US" sz="1500" dirty="0">
                        <a:latin typeface="Consolas" charset="0"/>
                        <a:ea typeface="Consolas" charset="0"/>
                        <a:cs typeface="Consolas" charset="0"/>
                      </a:endParaRPr>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3"/>
                  </a:ext>
                </a:extLst>
              </a:tr>
              <a:tr h="502920">
                <a:tc>
                  <a:txBody>
                    <a:bodyPr/>
                    <a:lstStyle/>
                    <a:p>
                      <a:pPr marL="0" indent="0">
                        <a:buNone/>
                      </a:pPr>
                      <a:r>
                        <a:rPr lang="en-US" sz="1500" b="1" dirty="0">
                          <a:solidFill>
                            <a:schemeClr val="accent1"/>
                          </a:solidFill>
                        </a:rPr>
                        <a:t>Pause</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500" dirty="0">
                          <a:solidFill>
                            <a:schemeClr val="bg1"/>
                          </a:solidFill>
                        </a:rPr>
                        <a:t>Processes frozen in memory</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500" dirty="0">
                          <a:solidFill>
                            <a:srgbClr val="9FD3FF"/>
                          </a:solidFill>
                          <a:latin typeface="Consolas" pitchFamily="34" charset="0"/>
                          <a:ea typeface="Consolas" pitchFamily="34" charset="-122"/>
                          <a:cs typeface="Consolas" pitchFamily="34" charset="-120"/>
                        </a:rPr>
                        <a:t>docker pause &lt;container&gt;</a:t>
                      </a:r>
                      <a:endParaRPr lang="en-US" sz="1500" dirty="0">
                        <a:latin typeface="Consolas" charset="0"/>
                        <a:ea typeface="Consolas" charset="0"/>
                        <a:cs typeface="Consolas" charset="0"/>
                      </a:endParaRPr>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4"/>
                  </a:ext>
                </a:extLst>
              </a:tr>
              <a:tr h="502920">
                <a:tc>
                  <a:txBody>
                    <a:bodyPr/>
                    <a:lstStyle/>
                    <a:p>
                      <a:pPr marL="0" indent="0">
                        <a:buNone/>
                      </a:pPr>
                      <a:r>
                        <a:rPr lang="en-US" sz="1500" b="1" dirty="0">
                          <a:solidFill>
                            <a:schemeClr val="accent1"/>
                          </a:solidFill>
                        </a:rPr>
                        <a:t>Stop</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Gracefully halts the running process</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rgbClr val="9FD3FF"/>
                          </a:solidFill>
                          <a:latin typeface="Consolas" pitchFamily="34" charset="0"/>
                          <a:ea typeface="Consolas" pitchFamily="34" charset="-122"/>
                          <a:cs typeface="Consolas" pitchFamily="34" charset="-120"/>
                        </a:rPr>
                        <a:t>docker stop &lt;container&gt;</a:t>
                      </a:r>
                      <a:endParaRPr lang="en-US" sz="1500" dirty="0">
                        <a:latin typeface="Consolas" charset="0"/>
                        <a:ea typeface="Consolas" charset="0"/>
                        <a:cs typeface="Consolas" charset="0"/>
                      </a:endParaRPr>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5"/>
                  </a:ext>
                </a:extLst>
              </a:tr>
              <a:tr h="502920">
                <a:tc>
                  <a:txBody>
                    <a:bodyPr/>
                    <a:lstStyle/>
                    <a:p>
                      <a:pPr marL="0" indent="0">
                        <a:buNone/>
                      </a:pPr>
                      <a:r>
                        <a:rPr lang="en-US" sz="1500" b="1" dirty="0">
                          <a:solidFill>
                            <a:schemeClr val="accent1"/>
                          </a:solidFill>
                        </a:rPr>
                        <a:t>Restart</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500" dirty="0">
                          <a:solidFill>
                            <a:schemeClr val="bg1"/>
                          </a:solidFill>
                        </a:rPr>
                        <a:t>Stop and start in one step</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tc>
                  <a:txBody>
                    <a:bodyPr/>
                    <a:lstStyle/>
                    <a:p>
                      <a:pPr marL="0" indent="0">
                        <a:buNone/>
                      </a:pPr>
                      <a:r>
                        <a:rPr lang="en-US" sz="1500" dirty="0">
                          <a:solidFill>
                            <a:srgbClr val="9FD3FF"/>
                          </a:solidFill>
                          <a:latin typeface="Consolas" pitchFamily="34" charset="0"/>
                          <a:ea typeface="Consolas" pitchFamily="34" charset="-122"/>
                          <a:cs typeface="Consolas" pitchFamily="34" charset="-120"/>
                        </a:rPr>
                        <a:t>docker restart &lt;container&gt;</a:t>
                      </a:r>
                      <a:endParaRPr lang="en-US" sz="1500" dirty="0">
                        <a:latin typeface="Consolas" charset="0"/>
                        <a:ea typeface="Consolas" charset="0"/>
                        <a:cs typeface="Consolas" charset="0"/>
                      </a:endParaRPr>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rgbClr val="0B1426"/>
                    </a:solidFill>
                  </a:tcPr>
                </a:tc>
                <a:extLst>
                  <a:ext uri="{0D108BD9-81ED-4DB2-BD59-A6C34878D82A}">
                    <a16:rowId xmlns:a16="http://schemas.microsoft.com/office/drawing/2014/main" val="10006"/>
                  </a:ext>
                </a:extLst>
              </a:tr>
              <a:tr h="502920">
                <a:tc>
                  <a:txBody>
                    <a:bodyPr/>
                    <a:lstStyle/>
                    <a:p>
                      <a:pPr marL="0" indent="0">
                        <a:buNone/>
                      </a:pPr>
                      <a:r>
                        <a:rPr lang="en-US" sz="1500" b="1" dirty="0">
                          <a:solidFill>
                            <a:schemeClr val="accent1"/>
                          </a:solidFill>
                        </a:rPr>
                        <a:t>Remove</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Deletes the container permanently</a:t>
                      </a:r>
                      <a:endParaRPr lang="en-US" sz="1500" dirty="0"/>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tc>
                  <a:txBody>
                    <a:bodyPr/>
                    <a:lstStyle/>
                    <a:p>
                      <a:pPr marL="0" indent="0">
                        <a:buNone/>
                      </a:pPr>
                      <a:r>
                        <a:rPr lang="en-US" sz="1500" dirty="0">
                          <a:solidFill>
                            <a:srgbClr val="9FD3FF"/>
                          </a:solidFill>
                          <a:latin typeface="Consolas" pitchFamily="34" charset="0"/>
                          <a:ea typeface="Consolas" pitchFamily="34" charset="-122"/>
                          <a:cs typeface="Consolas" pitchFamily="34" charset="-120"/>
                        </a:rPr>
                        <a:t>docker rm &lt;container&gt;</a:t>
                      </a:r>
                      <a:endParaRPr lang="en-US" sz="1500" dirty="0">
                        <a:latin typeface="Consolas" charset="0"/>
                        <a:ea typeface="Consolas" charset="0"/>
                        <a:cs typeface="Consolas" charset="0"/>
                      </a:endParaRPr>
                    </a:p>
                  </a:txBody>
                  <a:tcPr marL="128016" marR="128016" marT="0" marB="0" anchor="ctr">
                    <a:lnL w="6350" cap="flat" cmpd="sng" algn="ctr">
                      <a:solidFill>
                        <a:srgbClr val="2A3D63"/>
                      </a:solidFill>
                      <a:prstDash val="solid"/>
                      <a:round/>
                      <a:headEnd type="none" w="med" len="med"/>
                      <a:tailEnd type="none" w="med" len="med"/>
                    </a:lnL>
                    <a:lnR w="6350" cap="flat" cmpd="sng" algn="ctr">
                      <a:solidFill>
                        <a:srgbClr val="2A3D63"/>
                      </a:solidFill>
                      <a:prstDash val="solid"/>
                      <a:round/>
                      <a:headEnd type="none" w="med" len="med"/>
                      <a:tailEnd type="none" w="med" len="med"/>
                    </a:lnR>
                    <a:lnT w="6350" cap="flat" cmpd="sng" algn="ctr">
                      <a:solidFill>
                        <a:srgbClr val="2A3D63"/>
                      </a:solidFill>
                      <a:prstDash val="solid"/>
                      <a:round/>
                      <a:headEnd type="none" w="med" len="med"/>
                      <a:tailEnd type="none" w="med" len="med"/>
                    </a:lnT>
                    <a:lnB w="6350" cap="flat" cmpd="sng" algn="ctr">
                      <a:solidFill>
                        <a:srgbClr val="2A3D63"/>
                      </a:solidFill>
                      <a:prstDash val="solid"/>
                      <a:round/>
                      <a:headEnd type="none" w="med" len="med"/>
                      <a:tailEnd type="none" w="med" len="med"/>
                    </a:lnB>
                    <a:solidFill>
                      <a:schemeClr val="tx2"/>
                    </a:solidFill>
                  </a:tcPr>
                </a:tc>
                <a:extLst>
                  <a:ext uri="{0D108BD9-81ED-4DB2-BD59-A6C34878D82A}">
                    <a16:rowId xmlns:a16="http://schemas.microsoft.com/office/drawing/2014/main" val="10007"/>
                  </a:ext>
                </a:extLst>
              </a:tr>
            </a:tbl>
          </a:graphicData>
        </a:graphic>
      </p:graphicFrame>
      <p:sp>
        <p:nvSpPr>
          <p:cNvPr id="5" name="Shape 2"/>
          <p:cNvSpPr/>
          <p:nvPr/>
        </p:nvSpPr>
        <p:spPr>
          <a:xfrm>
            <a:off x="731520" y="5623560"/>
            <a:ext cx="10698480" cy="548640"/>
          </a:xfrm>
          <a:prstGeom prst="roundRect">
            <a:avLst>
              <a:gd name="adj" fmla="val 16667"/>
            </a:avLst>
          </a:prstGeom>
          <a:solidFill>
            <a:srgbClr val="2E2410"/>
          </a:solidFill>
          <a:ln w="12700">
            <a:solidFill>
              <a:schemeClr val="accent3"/>
            </a:solidFill>
            <a:prstDash val="solid"/>
          </a:ln>
        </p:spPr>
      </p:sp>
      <p:sp>
        <p:nvSpPr>
          <p:cNvPr id="6" name="Text 3"/>
          <p:cNvSpPr txBox="1"/>
          <p:nvPr/>
        </p:nvSpPr>
        <p:spPr>
          <a:xfrm>
            <a:off x="1005840" y="5623560"/>
            <a:ext cx="10241280" cy="548640"/>
          </a:xfrm>
          <a:prstGeom prst="rect">
            <a:avLst/>
          </a:prstGeom>
          <a:noFill/>
          <a:ln/>
        </p:spPr>
        <p:txBody>
          <a:bodyPr wrap="square" lIns="0" tIns="0" rIns="0" bIns="0" rtlCol="0" anchor="ctr"/>
          <a:lstStyle/>
          <a:p>
            <a:pPr marL="0" indent="0">
              <a:buNone/>
            </a:pPr>
            <a:r>
              <a:rPr lang="en-US" sz="1500" b="1" dirty="0">
                <a:solidFill>
                  <a:schemeClr val="accent3"/>
                </a:solidFill>
              </a:rPr>
              <a:t>Tip:  </a:t>
            </a:r>
            <a:r>
              <a:rPr lang="en-US" sz="1500" dirty="0">
                <a:solidFill>
                  <a:schemeClr val="accent3"/>
                </a:solidFill>
              </a:rPr>
              <a:t>docker run = docker create + docker start in a single step.  docker rm -f stops and removes in one go.</a:t>
            </a:r>
            <a:endParaRPr lang="en-US" sz="15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HANDS-ON · 15 MIN</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Walk a web server through every state</a:t>
            </a:r>
            <a:endParaRPr lang="en-US" sz="3000" dirty="0"/>
          </a:p>
        </p:txBody>
      </p:sp>
      <p:sp>
        <p:nvSpPr>
          <p:cNvPr id="4" name="Shape 2"/>
          <p:cNvSpPr/>
          <p:nvPr/>
        </p:nvSpPr>
        <p:spPr>
          <a:xfrm>
            <a:off x="731520" y="1463040"/>
            <a:ext cx="6400800" cy="4709160"/>
          </a:xfrm>
          <a:prstGeom prst="roundRect">
            <a:avLst>
              <a:gd name="adj" fmla="val 1553"/>
            </a:avLst>
          </a:prstGeom>
          <a:solidFill>
            <a:srgbClr val="070D1A"/>
          </a:solidFill>
          <a:ln w="12700">
            <a:solidFill>
              <a:srgbClr val="23314F"/>
            </a:solidFill>
            <a:prstDash val="solid"/>
          </a:ln>
        </p:spPr>
      </p:sp>
      <p:sp>
        <p:nvSpPr>
          <p:cNvPr id="5" name="Shape 3"/>
          <p:cNvSpPr/>
          <p:nvPr/>
        </p:nvSpPr>
        <p:spPr>
          <a:xfrm>
            <a:off x="914400" y="1609344"/>
            <a:ext cx="100584" cy="100584"/>
          </a:xfrm>
          <a:prstGeom prst="ellipse">
            <a:avLst/>
          </a:prstGeom>
          <a:solidFill>
            <a:srgbClr val="FF5F57"/>
          </a:solidFill>
          <a:ln w="12700">
            <a:solidFill>
              <a:srgbClr val="FF5F57"/>
            </a:solidFill>
            <a:prstDash val="solid"/>
          </a:ln>
        </p:spPr>
      </p:sp>
      <p:sp>
        <p:nvSpPr>
          <p:cNvPr id="6" name="Shape 4"/>
          <p:cNvSpPr/>
          <p:nvPr/>
        </p:nvSpPr>
        <p:spPr>
          <a:xfrm>
            <a:off x="1097280" y="1609344"/>
            <a:ext cx="100584" cy="100584"/>
          </a:xfrm>
          <a:prstGeom prst="ellipse">
            <a:avLst/>
          </a:prstGeom>
          <a:solidFill>
            <a:srgbClr val="FEBC2E"/>
          </a:solidFill>
          <a:ln w="12700">
            <a:solidFill>
              <a:srgbClr val="FEBC2E"/>
            </a:solidFill>
            <a:prstDash val="solid"/>
          </a:ln>
        </p:spPr>
      </p:sp>
      <p:sp>
        <p:nvSpPr>
          <p:cNvPr id="7" name="Shape 5"/>
          <p:cNvSpPr/>
          <p:nvPr/>
        </p:nvSpPr>
        <p:spPr>
          <a:xfrm>
            <a:off x="1280160" y="1609344"/>
            <a:ext cx="100584" cy="100584"/>
          </a:xfrm>
          <a:prstGeom prst="ellipse">
            <a:avLst/>
          </a:prstGeom>
          <a:solidFill>
            <a:srgbClr val="28C840"/>
          </a:solidFill>
          <a:ln w="12700">
            <a:solidFill>
              <a:srgbClr val="28C840"/>
            </a:solidFill>
            <a:prstDash val="solid"/>
          </a:ln>
        </p:spPr>
      </p:sp>
      <p:sp>
        <p:nvSpPr>
          <p:cNvPr id="8" name="Text 6"/>
          <p:cNvSpPr txBox="1"/>
          <p:nvPr/>
        </p:nvSpPr>
        <p:spPr>
          <a:xfrm>
            <a:off x="1508760" y="1536192"/>
            <a:ext cx="548640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terminal</a:t>
            </a:r>
            <a:endParaRPr lang="en-US" sz="1100" dirty="0"/>
          </a:p>
        </p:txBody>
      </p:sp>
      <p:sp>
        <p:nvSpPr>
          <p:cNvPr id="9" name="Text 7"/>
          <p:cNvSpPr txBox="1"/>
          <p:nvPr/>
        </p:nvSpPr>
        <p:spPr>
          <a:xfrm>
            <a:off x="960120" y="1883664"/>
            <a:ext cx="6035040" cy="4197096"/>
          </a:xfrm>
          <a:prstGeom prst="rect">
            <a:avLst/>
          </a:prstGeom>
          <a:noFill/>
          <a:ln/>
        </p:spPr>
        <p:txBody>
          <a:bodyPr wrap="square" lIns="0" tIns="0" rIns="0" bIns="0" rtlCol="0" anchor="t"/>
          <a:lstStyle/>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run -d -p 8080:80 --name web nginx:alpine</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ps</a:t>
            </a:r>
            <a:r>
              <a:rPr lang="en-US" sz="1500" dirty="0">
                <a:solidFill>
                  <a:srgbClr val="7D8BA6"/>
                </a:solidFill>
                <a:latin typeface="Consolas" pitchFamily="34" charset="0"/>
                <a:ea typeface="Consolas" pitchFamily="34" charset="-122"/>
                <a:cs typeface="Consolas" pitchFamily="34" charset="-120"/>
              </a:rPr>
              <a:t>  # running containers</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stop web</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ps -a</a:t>
            </a:r>
            <a:r>
              <a:rPr lang="en-US" sz="1500" dirty="0">
                <a:solidFill>
                  <a:srgbClr val="7D8BA6"/>
                </a:solidFill>
                <a:latin typeface="Consolas" pitchFamily="34" charset="0"/>
                <a:ea typeface="Consolas" pitchFamily="34" charset="-122"/>
                <a:cs typeface="Consolas" pitchFamily="34" charset="-120"/>
              </a:rPr>
              <a:t>  # still listed: Exited</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start web</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pause web</a:t>
            </a:r>
            <a:r>
              <a:rPr lang="en-US" sz="1500" dirty="0">
                <a:solidFill>
                  <a:srgbClr val="7D8BA6"/>
                </a:solidFill>
                <a:latin typeface="Consolas" pitchFamily="34" charset="0"/>
                <a:ea typeface="Consolas" pitchFamily="34" charset="-122"/>
                <a:cs typeface="Consolas" pitchFamily="34" charset="-120"/>
              </a:rPr>
              <a:t>  # page hangs</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unpause web</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logs web</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exec -it web sh</a:t>
            </a:r>
            <a:r>
              <a:rPr lang="en-US" sz="1500" dirty="0">
                <a:solidFill>
                  <a:srgbClr val="7D8BA6"/>
                </a:solidFill>
                <a:latin typeface="Consolas" pitchFamily="34" charset="0"/>
                <a:ea typeface="Consolas" pitchFamily="34" charset="-122"/>
                <a:cs typeface="Consolas" pitchFamily="34" charset="-120"/>
              </a:rPr>
              <a:t>  # shell inside</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rm -f web</a:t>
            </a:r>
            <a:endParaRPr lang="en-US" sz="1500" dirty="0"/>
          </a:p>
        </p:txBody>
      </p:sp>
      <p:sp>
        <p:nvSpPr>
          <p:cNvPr id="10" name="Text 8"/>
          <p:cNvSpPr txBox="1"/>
          <p:nvPr/>
        </p:nvSpPr>
        <p:spPr>
          <a:xfrm>
            <a:off x="7498080" y="1508760"/>
            <a:ext cx="402336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WHAT IT DOES</a:t>
            </a:r>
            <a:endParaRPr lang="en-US" sz="1100" dirty="0"/>
          </a:p>
        </p:txBody>
      </p:sp>
      <p:sp>
        <p:nvSpPr>
          <p:cNvPr id="11" name="Text 9"/>
          <p:cNvSpPr txBox="1"/>
          <p:nvPr/>
        </p:nvSpPr>
        <p:spPr>
          <a:xfrm>
            <a:off x="7498080" y="1764792"/>
            <a:ext cx="4023360" cy="786384"/>
          </a:xfrm>
          <a:prstGeom prst="rect">
            <a:avLst/>
          </a:prstGeom>
          <a:noFill/>
          <a:ln/>
        </p:spPr>
        <p:txBody>
          <a:bodyPr wrap="square" lIns="0" tIns="0" rIns="0" bIns="0" rtlCol="0" anchor="t"/>
          <a:lstStyle/>
          <a:p>
            <a:pPr marL="0" indent="0">
              <a:buNone/>
            </a:pPr>
            <a:r>
              <a:rPr lang="en-US" sz="1400" dirty="0">
                <a:solidFill>
                  <a:schemeClr val="bg1"/>
                </a:solidFill>
              </a:rPr>
              <a:t>Starts nginx in the background, then moves it through running, stopped, paused and removed.</a:t>
            </a:r>
            <a:endParaRPr lang="en-US" sz="1400" dirty="0"/>
          </a:p>
        </p:txBody>
      </p:sp>
      <p:sp>
        <p:nvSpPr>
          <p:cNvPr id="12" name="Text 10"/>
          <p:cNvSpPr txBox="1"/>
          <p:nvPr/>
        </p:nvSpPr>
        <p:spPr>
          <a:xfrm>
            <a:off x="7498080" y="2624328"/>
            <a:ext cx="402336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WHY</a:t>
            </a:r>
            <a:endParaRPr lang="en-US" sz="1100" dirty="0"/>
          </a:p>
        </p:txBody>
      </p:sp>
      <p:sp>
        <p:nvSpPr>
          <p:cNvPr id="13" name="Text 11"/>
          <p:cNvSpPr txBox="1"/>
          <p:nvPr/>
        </p:nvSpPr>
        <p:spPr>
          <a:xfrm>
            <a:off x="7498080" y="2880360"/>
            <a:ext cx="4023360" cy="786384"/>
          </a:xfrm>
          <a:prstGeom prst="rect">
            <a:avLst/>
          </a:prstGeom>
          <a:noFill/>
          <a:ln/>
        </p:spPr>
        <p:txBody>
          <a:bodyPr wrap="square" lIns="0" tIns="0" rIns="0" bIns="0" rtlCol="0" anchor="t"/>
          <a:lstStyle/>
          <a:p>
            <a:pPr marL="0" indent="0">
              <a:buNone/>
            </a:pPr>
            <a:r>
              <a:rPr lang="en-US" sz="1400" dirty="0">
                <a:solidFill>
                  <a:schemeClr val="bg1"/>
                </a:solidFill>
              </a:rPr>
              <a:t>Every real deployment uses these commands: start, inspect, restart, debug, clean up.</a:t>
            </a:r>
            <a:endParaRPr lang="en-US" sz="1400" dirty="0"/>
          </a:p>
        </p:txBody>
      </p:sp>
      <p:sp>
        <p:nvSpPr>
          <p:cNvPr id="14" name="Text 12"/>
          <p:cNvSpPr txBox="1"/>
          <p:nvPr/>
        </p:nvSpPr>
        <p:spPr>
          <a:xfrm>
            <a:off x="7498080" y="3739896"/>
            <a:ext cx="402336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OBSERVE</a:t>
            </a:r>
            <a:endParaRPr lang="en-US" sz="1100" dirty="0"/>
          </a:p>
        </p:txBody>
      </p:sp>
      <p:sp>
        <p:nvSpPr>
          <p:cNvPr id="15" name="Text 13"/>
          <p:cNvSpPr txBox="1"/>
          <p:nvPr/>
        </p:nvSpPr>
        <p:spPr>
          <a:xfrm>
            <a:off x="7498080" y="3995928"/>
            <a:ext cx="4023360" cy="786384"/>
          </a:xfrm>
          <a:prstGeom prst="rect">
            <a:avLst/>
          </a:prstGeom>
          <a:noFill/>
          <a:ln/>
        </p:spPr>
        <p:txBody>
          <a:bodyPr wrap="square" lIns="0" tIns="0" rIns="0" bIns="0" rtlCol="0" anchor="t"/>
          <a:lstStyle/>
          <a:p>
            <a:pPr marL="0" indent="0">
              <a:buNone/>
            </a:pPr>
            <a:r>
              <a:rPr lang="en-US" sz="1400" dirty="0">
                <a:solidFill>
                  <a:schemeClr val="bg1"/>
                </a:solidFill>
              </a:rPr>
              <a:t>Open localhost:8080 after each step. The STATUS column in docker ps -a shows Up, Exited or Paused.</a:t>
            </a:r>
            <a:endParaRPr lang="en-US" sz="1400" dirty="0"/>
          </a:p>
        </p:txBody>
      </p:sp>
      <p:sp>
        <p:nvSpPr>
          <p:cNvPr id="16" name="Text 14"/>
          <p:cNvSpPr txBox="1"/>
          <p:nvPr/>
        </p:nvSpPr>
        <p:spPr>
          <a:xfrm>
            <a:off x="7498080" y="4855464"/>
            <a:ext cx="402336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KEY FLAGS</a:t>
            </a:r>
            <a:endParaRPr lang="en-US" sz="1100" dirty="0"/>
          </a:p>
        </p:txBody>
      </p:sp>
      <p:sp>
        <p:nvSpPr>
          <p:cNvPr id="17" name="Text 15"/>
          <p:cNvSpPr txBox="1"/>
          <p:nvPr/>
        </p:nvSpPr>
        <p:spPr>
          <a:xfrm>
            <a:off x="7498080" y="5111496"/>
            <a:ext cx="4023360" cy="1280160"/>
          </a:xfrm>
          <a:prstGeom prst="rect">
            <a:avLst/>
          </a:prstGeom>
          <a:noFill/>
          <a:ln/>
        </p:spPr>
        <p:txBody>
          <a:bodyPr wrap="square" lIns="0" tIns="0" rIns="0" bIns="0" rtlCol="0" anchor="t"/>
          <a:lstStyle/>
          <a:p>
            <a:pPr marL="0" indent="0">
              <a:buNone/>
            </a:pPr>
            <a:r>
              <a:rPr lang="en-US" sz="1400" dirty="0">
                <a:solidFill>
                  <a:schemeClr val="bg1"/>
                </a:solidFill>
              </a:rPr>
              <a:t>-d   run in the background</a:t>
            </a:r>
            <a:endParaRPr lang="en-US" sz="1400" dirty="0"/>
          </a:p>
          <a:p>
            <a:pPr marL="0" indent="0">
              <a:buNone/>
            </a:pPr>
            <a:r>
              <a:rPr lang="en-US" sz="1400" dirty="0">
                <a:solidFill>
                  <a:schemeClr val="bg1"/>
                </a:solidFill>
              </a:rPr>
              <a:t>-p   laptop port : container port</a:t>
            </a:r>
            <a:endParaRPr lang="en-US" sz="1400" dirty="0"/>
          </a:p>
          <a:p>
            <a:pPr marL="0" indent="0">
              <a:buNone/>
            </a:pPr>
            <a:r>
              <a:rPr lang="en-US" sz="1400" dirty="0">
                <a:solidFill>
                  <a:schemeClr val="bg1"/>
                </a:solidFill>
              </a:rPr>
              <a:t>--name   a readable name</a:t>
            </a:r>
            <a:endParaRPr lang="en-US" sz="1400" dirty="0"/>
          </a:p>
          <a:p>
            <a:pPr marL="0" indent="0">
              <a:buNone/>
            </a:pPr>
            <a:r>
              <a:rPr lang="en-US" sz="1400" dirty="0">
                <a:solidFill>
                  <a:schemeClr val="bg1"/>
                </a:solidFill>
              </a:rPr>
              <a:t>-it   interactive terminal</a:t>
            </a:r>
            <a:endParaRPr lang="en-US" sz="1400" dirty="0"/>
          </a:p>
          <a:p>
            <a:pPr marL="0" indent="0">
              <a:buNone/>
            </a:pPr>
            <a:r>
              <a:rPr lang="en-US" sz="1400" dirty="0">
                <a:solidFill>
                  <a:schemeClr val="bg1"/>
                </a:solidFill>
              </a:rPr>
              <a:t>-f   force (stop and remove)</a:t>
            </a:r>
            <a:endParaRPr lang="en-US" sz="14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863840" y="1280160"/>
            <a:ext cx="3840480" cy="3291840"/>
          </a:xfrm>
          <a:prstGeom prst="rect">
            <a:avLst/>
          </a:prstGeom>
          <a:noFill/>
          <a:ln/>
        </p:spPr>
        <p:txBody>
          <a:bodyPr wrap="square" lIns="0" tIns="0" rIns="0" bIns="0" rtlCol="0" anchor="ctr"/>
          <a:lstStyle/>
          <a:p>
            <a:pPr marL="0" indent="0" algn="r">
              <a:buNone/>
            </a:pPr>
            <a:r>
              <a:rPr lang="en-US" sz="22000" b="1" dirty="0">
                <a:solidFill>
                  <a:schemeClr val="accent5"/>
                </a:solidFill>
              </a:rPr>
              <a:t>06</a:t>
            </a:r>
            <a:endParaRPr lang="en-US" sz="22000" dirty="0"/>
          </a:p>
        </p:txBody>
      </p:sp>
      <p:sp>
        <p:nvSpPr>
          <p:cNvPr id="3" name="Text 0"/>
          <p:cNvSpPr>
            <a:spLocks noGrp="1"/>
          </p:cNvSpPr>
          <p:nvPr>
            <p:ph type="body" idx="100" hasCustomPrompt="1"/>
          </p:nvPr>
        </p:nvSpPr>
        <p:spPr>
          <a:xfrm>
            <a:off x="731520" y="2148840"/>
            <a:ext cx="7315200" cy="365760"/>
          </a:xfrm>
          <a:prstGeom prst="rect">
            <a:avLst/>
          </a:prstGeom>
          <a:noFill/>
          <a:ln/>
        </p:spPr>
        <p:txBody>
          <a:bodyPr wrap="square" lIns="0" tIns="0" rIns="0" bIns="0" rtlCol="0"/>
          <a:lstStyle/>
          <a:p>
            <a:pPr marL="0" indent="0">
              <a:buNone/>
            </a:pPr>
            <a:r>
              <a:rPr lang="en-US" sz="1400" b="1" kern="0" spc="400" dirty="0">
                <a:solidFill>
                  <a:schemeClr val="accent2"/>
                </a:solidFill>
              </a:rPr>
              <a:t>SECTION 06</a:t>
            </a:r>
            <a:endParaRPr lang="en-US" sz="1400" dirty="0"/>
          </a:p>
        </p:txBody>
      </p:sp>
      <p:sp>
        <p:nvSpPr>
          <p:cNvPr id="4" name="Text 0"/>
          <p:cNvSpPr>
            <a:spLocks noGrp="1"/>
          </p:cNvSpPr>
          <p:nvPr>
            <p:ph type="title" idx="101" hasCustomPrompt="1"/>
          </p:nvPr>
        </p:nvSpPr>
        <p:spPr>
          <a:xfrm>
            <a:off x="731520" y="2560320"/>
            <a:ext cx="6766560" cy="1371600"/>
          </a:xfrm>
          <a:prstGeom prst="rect">
            <a:avLst/>
          </a:prstGeom>
          <a:noFill/>
          <a:ln/>
        </p:spPr>
        <p:txBody>
          <a:bodyPr wrap="square" lIns="0" tIns="0" rIns="0" bIns="0" rtlCol="0" anchor="t"/>
          <a:lstStyle/>
          <a:p>
            <a:pPr marL="0" indent="0" algn="l">
              <a:buNone/>
            </a:pPr>
            <a:r>
              <a:rPr lang="en-US" sz="4000" b="1" dirty="0">
                <a:solidFill>
                  <a:schemeClr val="bg1"/>
                </a:solidFill>
              </a:rPr>
              <a:t>Docker images</a:t>
            </a:r>
            <a:endParaRPr lang="en-US" sz="4000" dirty="0"/>
          </a:p>
        </p:txBody>
      </p:sp>
      <p:sp>
        <p:nvSpPr>
          <p:cNvPr id="5" name="Text 0"/>
          <p:cNvSpPr>
            <a:spLocks noGrp="1"/>
          </p:cNvSpPr>
          <p:nvPr>
            <p:ph type="body" idx="102" hasCustomPrompt="1"/>
          </p:nvPr>
        </p:nvSpPr>
        <p:spPr>
          <a:xfrm>
            <a:off x="731520" y="4069080"/>
            <a:ext cx="6583680" cy="1280160"/>
          </a:xfrm>
          <a:prstGeom prst="rect">
            <a:avLst/>
          </a:prstGeom>
          <a:noFill/>
          <a:ln/>
        </p:spPr>
        <p:txBody>
          <a:bodyPr wrap="square" lIns="0" tIns="0" rIns="0" bIns="0" rtlCol="0" anchor="t"/>
          <a:lstStyle/>
          <a:p>
            <a:pPr marL="0" indent="0" algn="l">
              <a:buNone/>
            </a:pPr>
            <a:r>
              <a:rPr lang="en-US" sz="2200" i="1" dirty="0">
                <a:solidFill>
                  <a:schemeClr val="bg2"/>
                </a:solidFill>
              </a:rPr>
              <a:t>Every container starts from an image. So what is an image, and how do you make one?</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WHAT IS A DOCKER IMAGE?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A read-only stack of layers</a:t>
            </a:r>
            <a:endParaRPr lang="en-US" sz="3000" dirty="0"/>
          </a:p>
        </p:txBody>
      </p:sp>
      <p:sp>
        <p:nvSpPr>
          <p:cNvPr id="4" name="Text 2"/>
          <p:cNvSpPr txBox="1"/>
          <p:nvPr/>
        </p:nvSpPr>
        <p:spPr>
          <a:xfrm>
            <a:off x="731520" y="1463040"/>
            <a:ext cx="10698480" cy="731520"/>
          </a:xfrm>
          <a:prstGeom prst="rect">
            <a:avLst/>
          </a:prstGeom>
          <a:noFill/>
          <a:ln/>
        </p:spPr>
        <p:txBody>
          <a:bodyPr wrap="square" lIns="0" tIns="0" rIns="0" bIns="0" rtlCol="0" anchor="t"/>
          <a:lstStyle/>
          <a:p>
            <a:pPr marL="0" indent="0">
              <a:buNone/>
            </a:pPr>
            <a:r>
              <a:rPr lang="en-US" sz="1700" dirty="0">
                <a:solidFill>
                  <a:schemeClr val="bg2"/>
                </a:solidFill>
              </a:rPr>
              <a:t>An image is a read-only template: an app plus everything it needs, frozen into layers. A container is that image running, with one thin writable layer on top.</a:t>
            </a:r>
            <a:endParaRPr lang="en-US" sz="1700" dirty="0"/>
          </a:p>
        </p:txBody>
      </p:sp>
      <p:sp>
        <p:nvSpPr>
          <p:cNvPr id="5" name="Shape 3"/>
          <p:cNvSpPr/>
          <p:nvPr/>
        </p:nvSpPr>
        <p:spPr>
          <a:xfrm>
            <a:off x="731520" y="2423160"/>
            <a:ext cx="5486400" cy="548640"/>
          </a:xfrm>
          <a:prstGeom prst="roundRect">
            <a:avLst>
              <a:gd name="adj" fmla="val 16667"/>
            </a:avLst>
          </a:prstGeom>
          <a:solidFill>
            <a:srgbClr val="0B1426"/>
          </a:solidFill>
          <a:ln w="12700">
            <a:solidFill>
              <a:schemeClr val="accent3"/>
            </a:solidFill>
            <a:prstDash val="dash"/>
          </a:ln>
        </p:spPr>
      </p:sp>
      <p:sp>
        <p:nvSpPr>
          <p:cNvPr id="6" name="Text 4"/>
          <p:cNvSpPr txBox="1"/>
          <p:nvPr/>
        </p:nvSpPr>
        <p:spPr>
          <a:xfrm>
            <a:off x="804672" y="2423160"/>
            <a:ext cx="534009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accent3"/>
                </a:solidFill>
              </a:rPr>
              <a:t>Container layer · writable, deleted with the container</a:t>
            </a:r>
            <a:endParaRPr lang="en-US" sz="1400" dirty="0"/>
          </a:p>
        </p:txBody>
      </p:sp>
      <p:sp>
        <p:nvSpPr>
          <p:cNvPr id="7" name="Text 5"/>
          <p:cNvSpPr txBox="1"/>
          <p:nvPr/>
        </p:nvSpPr>
        <p:spPr>
          <a:xfrm>
            <a:off x="731520" y="3090672"/>
            <a:ext cx="5486400" cy="274320"/>
          </a:xfrm>
          <a:prstGeom prst="rect">
            <a:avLst/>
          </a:prstGeom>
          <a:noFill/>
          <a:ln/>
        </p:spPr>
        <p:txBody>
          <a:bodyPr wrap="square" lIns="0" tIns="0" rIns="0" bIns="0" rtlCol="0" anchor="t"/>
          <a:lstStyle/>
          <a:p>
            <a:pPr marL="0" indent="0">
              <a:buNone/>
            </a:pPr>
            <a:r>
              <a:rPr lang="en-US" sz="1100" b="1" kern="0" spc="300" dirty="0">
                <a:solidFill>
                  <a:schemeClr val="bg2"/>
                </a:solidFill>
              </a:rPr>
              <a:t>IMAGE · READ-ONLY</a:t>
            </a:r>
            <a:endParaRPr lang="en-US" sz="1100" dirty="0"/>
          </a:p>
        </p:txBody>
      </p:sp>
      <p:sp>
        <p:nvSpPr>
          <p:cNvPr id="8" name="Shape 6"/>
          <p:cNvSpPr/>
          <p:nvPr/>
        </p:nvSpPr>
        <p:spPr>
          <a:xfrm>
            <a:off x="731520" y="3401568"/>
            <a:ext cx="5486400" cy="475488"/>
          </a:xfrm>
          <a:prstGeom prst="roundRect">
            <a:avLst>
              <a:gd name="adj" fmla="val 19231"/>
            </a:avLst>
          </a:prstGeom>
          <a:solidFill>
            <a:schemeClr val="accent5"/>
          </a:solidFill>
          <a:ln w="12700">
            <a:solidFill>
              <a:schemeClr val="accent5"/>
            </a:solidFill>
            <a:prstDash val="solid"/>
          </a:ln>
        </p:spPr>
      </p:sp>
      <p:sp>
        <p:nvSpPr>
          <p:cNvPr id="9" name="Text 7"/>
          <p:cNvSpPr txBox="1"/>
          <p:nvPr/>
        </p:nvSpPr>
        <p:spPr>
          <a:xfrm>
            <a:off x="804672" y="3401568"/>
            <a:ext cx="5340096" cy="475488"/>
          </a:xfrm>
          <a:prstGeom prst="rect">
            <a:avLst/>
          </a:prstGeom>
          <a:noFill/>
          <a:ln/>
        </p:spPr>
        <p:txBody>
          <a:bodyPr wrap="square" lIns="0" tIns="0" rIns="0" bIns="0" rtlCol="0" anchor="ctr"/>
          <a:lstStyle/>
          <a:p>
            <a:pPr marL="0" indent="0" algn="l">
              <a:spcAft>
                <a:spcPts val="200"/>
              </a:spcAft>
              <a:buNone/>
            </a:pPr>
            <a:r>
              <a:rPr lang="en-US" sz="1400" b="1" dirty="0">
                <a:solidFill>
                  <a:schemeClr val="bg1"/>
                </a:solidFill>
              </a:rPr>
              <a:t>COPY app.py  (your code)</a:t>
            </a:r>
            <a:endParaRPr lang="en-US" sz="1400" dirty="0"/>
          </a:p>
        </p:txBody>
      </p:sp>
      <p:sp>
        <p:nvSpPr>
          <p:cNvPr id="10" name="Shape 8"/>
          <p:cNvSpPr/>
          <p:nvPr/>
        </p:nvSpPr>
        <p:spPr>
          <a:xfrm>
            <a:off x="731520" y="3950208"/>
            <a:ext cx="5486400" cy="475488"/>
          </a:xfrm>
          <a:prstGeom prst="roundRect">
            <a:avLst>
              <a:gd name="adj" fmla="val 19231"/>
            </a:avLst>
          </a:prstGeom>
          <a:solidFill>
            <a:schemeClr val="tx2"/>
          </a:solidFill>
          <a:ln w="12700">
            <a:solidFill>
              <a:schemeClr val="tx2"/>
            </a:solidFill>
            <a:prstDash val="solid"/>
          </a:ln>
        </p:spPr>
      </p:sp>
      <p:sp>
        <p:nvSpPr>
          <p:cNvPr id="11" name="Text 9"/>
          <p:cNvSpPr txBox="1"/>
          <p:nvPr/>
        </p:nvSpPr>
        <p:spPr>
          <a:xfrm>
            <a:off x="804672" y="3950208"/>
            <a:ext cx="5340096" cy="475488"/>
          </a:xfrm>
          <a:prstGeom prst="rect">
            <a:avLst/>
          </a:prstGeom>
          <a:noFill/>
          <a:ln/>
        </p:spPr>
        <p:txBody>
          <a:bodyPr wrap="square" lIns="0" tIns="0" rIns="0" bIns="0" rtlCol="0" anchor="ctr"/>
          <a:lstStyle/>
          <a:p>
            <a:pPr marL="0" indent="0" algn="l">
              <a:spcAft>
                <a:spcPts val="200"/>
              </a:spcAft>
              <a:buNone/>
            </a:pPr>
            <a:r>
              <a:rPr lang="en-US" sz="1400" b="1" dirty="0">
                <a:solidFill>
                  <a:schemeClr val="bg1"/>
                </a:solidFill>
              </a:rPr>
              <a:t>RUN pip install flask</a:t>
            </a:r>
            <a:endParaRPr lang="en-US" sz="1400" dirty="0"/>
          </a:p>
        </p:txBody>
      </p:sp>
      <p:sp>
        <p:nvSpPr>
          <p:cNvPr id="12" name="Shape 10"/>
          <p:cNvSpPr/>
          <p:nvPr/>
        </p:nvSpPr>
        <p:spPr>
          <a:xfrm>
            <a:off x="731520" y="4498848"/>
            <a:ext cx="5486400" cy="475488"/>
          </a:xfrm>
          <a:prstGeom prst="roundRect">
            <a:avLst>
              <a:gd name="adj" fmla="val 19231"/>
            </a:avLst>
          </a:prstGeom>
          <a:solidFill>
            <a:srgbClr val="1E3A5F"/>
          </a:solidFill>
          <a:ln w="12700">
            <a:solidFill>
              <a:srgbClr val="1E3A5F"/>
            </a:solidFill>
            <a:prstDash val="solid"/>
          </a:ln>
        </p:spPr>
      </p:sp>
      <p:sp>
        <p:nvSpPr>
          <p:cNvPr id="13" name="Text 11"/>
          <p:cNvSpPr txBox="1"/>
          <p:nvPr/>
        </p:nvSpPr>
        <p:spPr>
          <a:xfrm>
            <a:off x="804672" y="4498848"/>
            <a:ext cx="5340096" cy="475488"/>
          </a:xfrm>
          <a:prstGeom prst="rect">
            <a:avLst/>
          </a:prstGeom>
          <a:noFill/>
          <a:ln/>
        </p:spPr>
        <p:txBody>
          <a:bodyPr wrap="square" lIns="0" tIns="0" rIns="0" bIns="0" rtlCol="0" anchor="ctr"/>
          <a:lstStyle/>
          <a:p>
            <a:pPr marL="0" indent="0" algn="l">
              <a:spcAft>
                <a:spcPts val="200"/>
              </a:spcAft>
              <a:buNone/>
            </a:pPr>
            <a:r>
              <a:rPr lang="en-US" sz="1400" b="1" dirty="0">
                <a:solidFill>
                  <a:schemeClr val="bg1"/>
                </a:solidFill>
              </a:rPr>
              <a:t>Python 3.12 runtime</a:t>
            </a:r>
            <a:endParaRPr lang="en-US" sz="1400" dirty="0"/>
          </a:p>
        </p:txBody>
      </p:sp>
      <p:sp>
        <p:nvSpPr>
          <p:cNvPr id="14" name="Shape 12"/>
          <p:cNvSpPr/>
          <p:nvPr/>
        </p:nvSpPr>
        <p:spPr>
          <a:xfrm>
            <a:off x="731520" y="5047488"/>
            <a:ext cx="5486400" cy="475488"/>
          </a:xfrm>
          <a:prstGeom prst="roundRect">
            <a:avLst>
              <a:gd name="adj" fmla="val 19231"/>
            </a:avLst>
          </a:prstGeom>
          <a:solidFill>
            <a:srgbClr val="2B3346"/>
          </a:solidFill>
          <a:ln w="12700">
            <a:solidFill>
              <a:srgbClr val="2B3346"/>
            </a:solidFill>
            <a:prstDash val="solid"/>
          </a:ln>
        </p:spPr>
      </p:sp>
      <p:sp>
        <p:nvSpPr>
          <p:cNvPr id="15" name="Text 13"/>
          <p:cNvSpPr txBox="1"/>
          <p:nvPr/>
        </p:nvSpPr>
        <p:spPr>
          <a:xfrm>
            <a:off x="804672" y="5047488"/>
            <a:ext cx="5340096" cy="475488"/>
          </a:xfrm>
          <a:prstGeom prst="rect">
            <a:avLst/>
          </a:prstGeom>
          <a:noFill/>
          <a:ln/>
        </p:spPr>
        <p:txBody>
          <a:bodyPr wrap="square" lIns="0" tIns="0" rIns="0" bIns="0" rtlCol="0" anchor="ctr"/>
          <a:lstStyle/>
          <a:p>
            <a:pPr marL="0" indent="0" algn="l">
              <a:spcAft>
                <a:spcPts val="200"/>
              </a:spcAft>
              <a:buNone/>
            </a:pPr>
            <a:r>
              <a:rPr lang="en-US" sz="1400" b="1" dirty="0">
                <a:solidFill>
                  <a:schemeClr val="bg1"/>
                </a:solidFill>
              </a:rPr>
              <a:t>Debian slim OS files (base)</a:t>
            </a:r>
            <a:endParaRPr lang="en-US" sz="1400" dirty="0"/>
          </a:p>
        </p:txBody>
      </p:sp>
      <p:sp>
        <p:nvSpPr>
          <p:cNvPr id="16" name="Text 14"/>
          <p:cNvSpPr txBox="1"/>
          <p:nvPr/>
        </p:nvSpPr>
        <p:spPr>
          <a:xfrm>
            <a:off x="6766560" y="2423160"/>
            <a:ext cx="4663440" cy="365760"/>
          </a:xfrm>
          <a:prstGeom prst="rect">
            <a:avLst/>
          </a:prstGeom>
          <a:noFill/>
          <a:ln/>
        </p:spPr>
        <p:txBody>
          <a:bodyPr wrap="square" lIns="0" tIns="0" rIns="0" bIns="0" rtlCol="0" anchor="t"/>
          <a:lstStyle/>
          <a:p>
            <a:pPr marL="0" indent="0">
              <a:buNone/>
            </a:pPr>
            <a:r>
              <a:rPr lang="en-US" sz="1800" b="1" dirty="0">
                <a:solidFill>
                  <a:schemeClr val="accent2"/>
                </a:solidFill>
              </a:rPr>
              <a:t>Read-only</a:t>
            </a:r>
            <a:endParaRPr lang="en-US" sz="1800" dirty="0"/>
          </a:p>
        </p:txBody>
      </p:sp>
      <p:sp>
        <p:nvSpPr>
          <p:cNvPr id="17" name="Text 15"/>
          <p:cNvSpPr txBox="1"/>
          <p:nvPr/>
        </p:nvSpPr>
        <p:spPr>
          <a:xfrm>
            <a:off x="6766560" y="2807208"/>
            <a:ext cx="4663440" cy="685800"/>
          </a:xfrm>
          <a:prstGeom prst="rect">
            <a:avLst/>
          </a:prstGeom>
          <a:noFill/>
          <a:ln/>
        </p:spPr>
        <p:txBody>
          <a:bodyPr wrap="square" lIns="0" tIns="0" rIns="0" bIns="0" rtlCol="0" anchor="t"/>
          <a:lstStyle/>
          <a:p>
            <a:pPr marL="0" indent="0">
              <a:buNone/>
            </a:pPr>
            <a:r>
              <a:rPr lang="en-US" sz="1500" dirty="0">
                <a:solidFill>
                  <a:schemeClr val="bg1"/>
                </a:solidFill>
              </a:rPr>
              <a:t>You never edit an image. You build a new one with a new tag.</a:t>
            </a:r>
            <a:endParaRPr lang="en-US" sz="1500" dirty="0"/>
          </a:p>
        </p:txBody>
      </p:sp>
      <p:sp>
        <p:nvSpPr>
          <p:cNvPr id="18" name="Text 16"/>
          <p:cNvSpPr txBox="1"/>
          <p:nvPr/>
        </p:nvSpPr>
        <p:spPr>
          <a:xfrm>
            <a:off x="6766560" y="3611880"/>
            <a:ext cx="4663440" cy="365760"/>
          </a:xfrm>
          <a:prstGeom prst="rect">
            <a:avLst/>
          </a:prstGeom>
          <a:noFill/>
          <a:ln/>
        </p:spPr>
        <p:txBody>
          <a:bodyPr wrap="square" lIns="0" tIns="0" rIns="0" bIns="0" rtlCol="0" anchor="t"/>
          <a:lstStyle/>
          <a:p>
            <a:pPr marL="0" indent="0">
              <a:buNone/>
            </a:pPr>
            <a:r>
              <a:rPr lang="en-US" sz="1800" b="1" dirty="0">
                <a:solidFill>
                  <a:schemeClr val="accent2"/>
                </a:solidFill>
              </a:rPr>
              <a:t>Layered and shared</a:t>
            </a:r>
            <a:endParaRPr lang="en-US" sz="1800" dirty="0"/>
          </a:p>
        </p:txBody>
      </p:sp>
      <p:sp>
        <p:nvSpPr>
          <p:cNvPr id="19" name="Text 17"/>
          <p:cNvSpPr txBox="1"/>
          <p:nvPr/>
        </p:nvSpPr>
        <p:spPr>
          <a:xfrm>
            <a:off x="6766560" y="3995928"/>
            <a:ext cx="4663440" cy="685800"/>
          </a:xfrm>
          <a:prstGeom prst="rect">
            <a:avLst/>
          </a:prstGeom>
          <a:noFill/>
          <a:ln/>
        </p:spPr>
        <p:txBody>
          <a:bodyPr wrap="square" lIns="0" tIns="0" rIns="0" bIns="0" rtlCol="0" anchor="t"/>
          <a:lstStyle/>
          <a:p>
            <a:pPr marL="0" indent="0">
              <a:buNone/>
            </a:pPr>
            <a:r>
              <a:rPr lang="en-US" sz="1500" dirty="0">
                <a:solidFill>
                  <a:schemeClr val="bg1"/>
                </a:solidFill>
              </a:rPr>
              <a:t>Ten images on the same base download that base once.</a:t>
            </a:r>
            <a:endParaRPr lang="en-US" sz="1500" dirty="0"/>
          </a:p>
        </p:txBody>
      </p:sp>
      <p:sp>
        <p:nvSpPr>
          <p:cNvPr id="20" name="Text 18"/>
          <p:cNvSpPr txBox="1"/>
          <p:nvPr/>
        </p:nvSpPr>
        <p:spPr>
          <a:xfrm>
            <a:off x="6766560" y="4800600"/>
            <a:ext cx="4663440" cy="365760"/>
          </a:xfrm>
          <a:prstGeom prst="rect">
            <a:avLst/>
          </a:prstGeom>
          <a:noFill/>
          <a:ln/>
        </p:spPr>
        <p:txBody>
          <a:bodyPr wrap="square" lIns="0" tIns="0" rIns="0" bIns="0" rtlCol="0" anchor="t"/>
          <a:lstStyle/>
          <a:p>
            <a:pPr marL="0" indent="0">
              <a:buNone/>
            </a:pPr>
            <a:r>
              <a:rPr lang="en-US" sz="1800" b="1" dirty="0">
                <a:solidFill>
                  <a:schemeClr val="accent2"/>
                </a:solidFill>
              </a:rPr>
              <a:t>One image, many containers</a:t>
            </a:r>
            <a:endParaRPr lang="en-US" sz="1800" dirty="0"/>
          </a:p>
        </p:txBody>
      </p:sp>
      <p:sp>
        <p:nvSpPr>
          <p:cNvPr id="21" name="Text 19"/>
          <p:cNvSpPr txBox="1"/>
          <p:nvPr/>
        </p:nvSpPr>
        <p:spPr>
          <a:xfrm>
            <a:off x="6766560" y="5184648"/>
            <a:ext cx="4663440" cy="685800"/>
          </a:xfrm>
          <a:prstGeom prst="rect">
            <a:avLst/>
          </a:prstGeom>
          <a:noFill/>
          <a:ln/>
        </p:spPr>
        <p:txBody>
          <a:bodyPr wrap="square" lIns="0" tIns="0" rIns="0" bIns="0" rtlCol="0" anchor="t"/>
          <a:lstStyle/>
          <a:p>
            <a:pPr marL="0" indent="0">
              <a:buNone/>
            </a:pPr>
            <a:r>
              <a:rPr lang="en-US" sz="1500" dirty="0">
                <a:solidFill>
                  <a:schemeClr val="bg1"/>
                </a:solidFill>
              </a:rPr>
              <a:t>Each container adds only its own thin writable layer.</a:t>
            </a:r>
            <a:endParaRPr lang="en-US" sz="15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IMAGE LIFECYCLE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Build → tag → push → pull → run</a:t>
            </a:r>
            <a:endParaRPr lang="en-US" sz="3000" dirty="0"/>
          </a:p>
        </p:txBody>
      </p:sp>
      <p:sp>
        <p:nvSpPr>
          <p:cNvPr id="4" name="Shape 2"/>
          <p:cNvSpPr/>
          <p:nvPr/>
        </p:nvSpPr>
        <p:spPr>
          <a:xfrm>
            <a:off x="1143000" y="2121408"/>
            <a:ext cx="9829800" cy="0"/>
          </a:xfrm>
          <a:prstGeom prst="line">
            <a:avLst/>
          </a:prstGeom>
          <a:noFill/>
          <a:ln w="25400">
            <a:solidFill>
              <a:schemeClr val="accent6"/>
            </a:solidFill>
            <a:prstDash val="solid"/>
          </a:ln>
        </p:spPr>
      </p:sp>
      <p:sp>
        <p:nvSpPr>
          <p:cNvPr id="5" name="Shape 3"/>
          <p:cNvSpPr/>
          <p:nvPr/>
        </p:nvSpPr>
        <p:spPr>
          <a:xfrm>
            <a:off x="822960" y="1828800"/>
            <a:ext cx="585216" cy="585216"/>
          </a:xfrm>
          <a:prstGeom prst="ellipse">
            <a:avLst/>
          </a:prstGeom>
          <a:solidFill>
            <a:schemeClr val="accent1"/>
          </a:solidFill>
          <a:ln w="38100">
            <a:solidFill>
              <a:srgbClr val="0B1426"/>
            </a:solidFill>
            <a:prstDash val="solid"/>
          </a:ln>
        </p:spPr>
      </p:sp>
      <p:sp>
        <p:nvSpPr>
          <p:cNvPr id="6" name="Text 4"/>
          <p:cNvSpPr txBox="1"/>
          <p:nvPr/>
        </p:nvSpPr>
        <p:spPr>
          <a:xfrm>
            <a:off x="822960" y="1828800"/>
            <a:ext cx="585216" cy="585216"/>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731520" y="2606040"/>
            <a:ext cx="2011680" cy="411480"/>
          </a:xfrm>
          <a:prstGeom prst="rect">
            <a:avLst/>
          </a:prstGeom>
          <a:noFill/>
          <a:ln/>
        </p:spPr>
        <p:txBody>
          <a:bodyPr wrap="square" lIns="0" tIns="0" rIns="0" bIns="0" rtlCol="0" anchor="t"/>
          <a:lstStyle/>
          <a:p>
            <a:pPr marL="0" indent="0">
              <a:buNone/>
            </a:pPr>
            <a:r>
              <a:rPr lang="en-US" sz="2000" b="1" dirty="0">
                <a:solidFill>
                  <a:schemeClr val="bg1"/>
                </a:solidFill>
              </a:rPr>
              <a:t>Build</a:t>
            </a:r>
            <a:endParaRPr lang="en-US" sz="2000" dirty="0"/>
          </a:p>
        </p:txBody>
      </p:sp>
      <p:sp>
        <p:nvSpPr>
          <p:cNvPr id="8" name="Text 6"/>
          <p:cNvSpPr txBox="1"/>
          <p:nvPr/>
        </p:nvSpPr>
        <p:spPr>
          <a:xfrm>
            <a:off x="731520" y="3063240"/>
            <a:ext cx="2011680" cy="914400"/>
          </a:xfrm>
          <a:prstGeom prst="rect">
            <a:avLst/>
          </a:prstGeom>
          <a:noFill/>
          <a:ln/>
        </p:spPr>
        <p:txBody>
          <a:bodyPr wrap="square" lIns="0" tIns="0" rIns="0" bIns="0" rtlCol="0" anchor="t"/>
          <a:lstStyle/>
          <a:p>
            <a:pPr marL="0" indent="0">
              <a:buNone/>
            </a:pPr>
            <a:r>
              <a:rPr lang="en-US" sz="1400" dirty="0">
                <a:solidFill>
                  <a:schemeClr val="bg2"/>
                </a:solidFill>
              </a:rPr>
              <a:t>Read the Dockerfile, create the image layers</a:t>
            </a:r>
            <a:endParaRPr lang="en-US" sz="1400" dirty="0"/>
          </a:p>
        </p:txBody>
      </p:sp>
      <p:sp>
        <p:nvSpPr>
          <p:cNvPr id="9" name="Shape 7"/>
          <p:cNvSpPr/>
          <p:nvPr/>
        </p:nvSpPr>
        <p:spPr>
          <a:xfrm>
            <a:off x="3008376" y="1828800"/>
            <a:ext cx="585216" cy="585216"/>
          </a:xfrm>
          <a:prstGeom prst="ellipse">
            <a:avLst/>
          </a:prstGeom>
          <a:solidFill>
            <a:schemeClr val="accent1"/>
          </a:solidFill>
          <a:ln w="38100">
            <a:solidFill>
              <a:srgbClr val="0B1426"/>
            </a:solidFill>
            <a:prstDash val="solid"/>
          </a:ln>
        </p:spPr>
      </p:sp>
      <p:sp>
        <p:nvSpPr>
          <p:cNvPr id="10" name="Text 8"/>
          <p:cNvSpPr txBox="1"/>
          <p:nvPr/>
        </p:nvSpPr>
        <p:spPr>
          <a:xfrm>
            <a:off x="3008376" y="1828800"/>
            <a:ext cx="585216" cy="585216"/>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2916936" y="2606040"/>
            <a:ext cx="2011680" cy="411480"/>
          </a:xfrm>
          <a:prstGeom prst="rect">
            <a:avLst/>
          </a:prstGeom>
          <a:noFill/>
          <a:ln/>
        </p:spPr>
        <p:txBody>
          <a:bodyPr wrap="square" lIns="0" tIns="0" rIns="0" bIns="0" rtlCol="0" anchor="t"/>
          <a:lstStyle/>
          <a:p>
            <a:pPr marL="0" indent="0">
              <a:buNone/>
            </a:pPr>
            <a:r>
              <a:rPr lang="en-US" sz="2000" b="1" dirty="0">
                <a:solidFill>
                  <a:schemeClr val="bg1"/>
                </a:solidFill>
              </a:rPr>
              <a:t>Tag</a:t>
            </a:r>
            <a:endParaRPr lang="en-US" sz="2000" dirty="0"/>
          </a:p>
        </p:txBody>
      </p:sp>
      <p:sp>
        <p:nvSpPr>
          <p:cNvPr id="12" name="Text 10"/>
          <p:cNvSpPr txBox="1"/>
          <p:nvPr/>
        </p:nvSpPr>
        <p:spPr>
          <a:xfrm>
            <a:off x="2916936" y="3063240"/>
            <a:ext cx="2011680" cy="914400"/>
          </a:xfrm>
          <a:prstGeom prst="rect">
            <a:avLst/>
          </a:prstGeom>
          <a:noFill/>
          <a:ln/>
        </p:spPr>
        <p:txBody>
          <a:bodyPr wrap="square" lIns="0" tIns="0" rIns="0" bIns="0" rtlCol="0" anchor="t"/>
          <a:lstStyle/>
          <a:p>
            <a:pPr marL="0" indent="0">
              <a:buNone/>
            </a:pPr>
            <a:r>
              <a:rPr lang="en-US" sz="1400" dirty="0">
                <a:solidFill>
                  <a:schemeClr val="bg2"/>
                </a:solidFill>
              </a:rPr>
              <a:t>Give the image a version and your account name</a:t>
            </a:r>
            <a:endParaRPr lang="en-US" sz="1400" dirty="0"/>
          </a:p>
        </p:txBody>
      </p:sp>
      <p:sp>
        <p:nvSpPr>
          <p:cNvPr id="13" name="Shape 11"/>
          <p:cNvSpPr/>
          <p:nvPr/>
        </p:nvSpPr>
        <p:spPr>
          <a:xfrm>
            <a:off x="5193792" y="1828800"/>
            <a:ext cx="585216" cy="585216"/>
          </a:xfrm>
          <a:prstGeom prst="ellipse">
            <a:avLst/>
          </a:prstGeom>
          <a:solidFill>
            <a:schemeClr val="accent1"/>
          </a:solidFill>
          <a:ln w="38100">
            <a:solidFill>
              <a:srgbClr val="0B1426"/>
            </a:solidFill>
            <a:prstDash val="solid"/>
          </a:ln>
        </p:spPr>
      </p:sp>
      <p:sp>
        <p:nvSpPr>
          <p:cNvPr id="14" name="Text 12"/>
          <p:cNvSpPr txBox="1"/>
          <p:nvPr/>
        </p:nvSpPr>
        <p:spPr>
          <a:xfrm>
            <a:off x="5193792" y="1828800"/>
            <a:ext cx="585216" cy="585216"/>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3"/>
          <p:cNvSpPr txBox="1"/>
          <p:nvPr/>
        </p:nvSpPr>
        <p:spPr>
          <a:xfrm>
            <a:off x="5102352" y="2606040"/>
            <a:ext cx="2011680" cy="411480"/>
          </a:xfrm>
          <a:prstGeom prst="rect">
            <a:avLst/>
          </a:prstGeom>
          <a:noFill/>
          <a:ln/>
        </p:spPr>
        <p:txBody>
          <a:bodyPr wrap="square" lIns="0" tIns="0" rIns="0" bIns="0" rtlCol="0" anchor="t"/>
          <a:lstStyle/>
          <a:p>
            <a:pPr marL="0" indent="0">
              <a:buNone/>
            </a:pPr>
            <a:r>
              <a:rPr lang="en-US" sz="2000" b="1" dirty="0">
                <a:solidFill>
                  <a:schemeClr val="bg1"/>
                </a:solidFill>
              </a:rPr>
              <a:t>Push</a:t>
            </a:r>
            <a:endParaRPr lang="en-US" sz="2000" dirty="0"/>
          </a:p>
        </p:txBody>
      </p:sp>
      <p:sp>
        <p:nvSpPr>
          <p:cNvPr id="16" name="Text 14"/>
          <p:cNvSpPr txBox="1"/>
          <p:nvPr/>
        </p:nvSpPr>
        <p:spPr>
          <a:xfrm>
            <a:off x="5102352" y="3063240"/>
            <a:ext cx="2011680" cy="914400"/>
          </a:xfrm>
          <a:prstGeom prst="rect">
            <a:avLst/>
          </a:prstGeom>
          <a:noFill/>
          <a:ln/>
        </p:spPr>
        <p:txBody>
          <a:bodyPr wrap="square" lIns="0" tIns="0" rIns="0" bIns="0" rtlCol="0" anchor="t"/>
          <a:lstStyle/>
          <a:p>
            <a:pPr marL="0" indent="0">
              <a:buNone/>
            </a:pPr>
            <a:r>
              <a:rPr lang="en-US" sz="1400" dirty="0">
                <a:solidFill>
                  <a:schemeClr val="bg2"/>
                </a:solidFill>
              </a:rPr>
              <a:t>Upload the image to a registry</a:t>
            </a:r>
            <a:endParaRPr lang="en-US" sz="1400" dirty="0"/>
          </a:p>
        </p:txBody>
      </p:sp>
      <p:sp>
        <p:nvSpPr>
          <p:cNvPr id="17" name="Shape 15"/>
          <p:cNvSpPr/>
          <p:nvPr/>
        </p:nvSpPr>
        <p:spPr>
          <a:xfrm>
            <a:off x="7379208" y="1828800"/>
            <a:ext cx="585216" cy="585216"/>
          </a:xfrm>
          <a:prstGeom prst="ellipse">
            <a:avLst/>
          </a:prstGeom>
          <a:solidFill>
            <a:schemeClr val="accent1"/>
          </a:solidFill>
          <a:ln w="38100">
            <a:solidFill>
              <a:srgbClr val="0B1426"/>
            </a:solidFill>
            <a:prstDash val="solid"/>
          </a:ln>
        </p:spPr>
      </p:sp>
      <p:sp>
        <p:nvSpPr>
          <p:cNvPr id="18" name="Text 16"/>
          <p:cNvSpPr txBox="1"/>
          <p:nvPr/>
        </p:nvSpPr>
        <p:spPr>
          <a:xfrm>
            <a:off x="7379208" y="1828800"/>
            <a:ext cx="585216" cy="585216"/>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7"/>
          <p:cNvSpPr txBox="1"/>
          <p:nvPr/>
        </p:nvSpPr>
        <p:spPr>
          <a:xfrm>
            <a:off x="7287768" y="2606040"/>
            <a:ext cx="2011680" cy="411480"/>
          </a:xfrm>
          <a:prstGeom prst="rect">
            <a:avLst/>
          </a:prstGeom>
          <a:noFill/>
          <a:ln/>
        </p:spPr>
        <p:txBody>
          <a:bodyPr wrap="square" lIns="0" tIns="0" rIns="0" bIns="0" rtlCol="0" anchor="t"/>
          <a:lstStyle/>
          <a:p>
            <a:pPr marL="0" indent="0">
              <a:buNone/>
            </a:pPr>
            <a:r>
              <a:rPr lang="en-US" sz="2000" b="1" dirty="0">
                <a:solidFill>
                  <a:schemeClr val="bg1"/>
                </a:solidFill>
              </a:rPr>
              <a:t>Pull</a:t>
            </a:r>
            <a:endParaRPr lang="en-US" sz="2000" dirty="0"/>
          </a:p>
        </p:txBody>
      </p:sp>
      <p:sp>
        <p:nvSpPr>
          <p:cNvPr id="20" name="Text 18"/>
          <p:cNvSpPr txBox="1"/>
          <p:nvPr/>
        </p:nvSpPr>
        <p:spPr>
          <a:xfrm>
            <a:off x="7287768" y="3063240"/>
            <a:ext cx="2011680" cy="914400"/>
          </a:xfrm>
          <a:prstGeom prst="rect">
            <a:avLst/>
          </a:prstGeom>
          <a:noFill/>
          <a:ln/>
        </p:spPr>
        <p:txBody>
          <a:bodyPr wrap="square" lIns="0" tIns="0" rIns="0" bIns="0" rtlCol="0" anchor="t"/>
          <a:lstStyle/>
          <a:p>
            <a:pPr marL="0" indent="0">
              <a:buNone/>
            </a:pPr>
            <a:r>
              <a:rPr lang="en-US" sz="1400" dirty="0">
                <a:solidFill>
                  <a:schemeClr val="bg2"/>
                </a:solidFill>
              </a:rPr>
              <a:t>Download it on another machine</a:t>
            </a:r>
            <a:endParaRPr lang="en-US" sz="1400" dirty="0"/>
          </a:p>
        </p:txBody>
      </p:sp>
      <p:sp>
        <p:nvSpPr>
          <p:cNvPr id="21" name="Shape 19"/>
          <p:cNvSpPr/>
          <p:nvPr/>
        </p:nvSpPr>
        <p:spPr>
          <a:xfrm>
            <a:off x="9564624" y="1828800"/>
            <a:ext cx="585216" cy="585216"/>
          </a:xfrm>
          <a:prstGeom prst="ellipse">
            <a:avLst/>
          </a:prstGeom>
          <a:solidFill>
            <a:schemeClr val="accent1"/>
          </a:solidFill>
          <a:ln w="38100">
            <a:solidFill>
              <a:srgbClr val="0B1426"/>
            </a:solidFill>
            <a:prstDash val="solid"/>
          </a:ln>
        </p:spPr>
      </p:sp>
      <p:sp>
        <p:nvSpPr>
          <p:cNvPr id="22" name="Text 20"/>
          <p:cNvSpPr txBox="1"/>
          <p:nvPr/>
        </p:nvSpPr>
        <p:spPr>
          <a:xfrm>
            <a:off x="9564624" y="1828800"/>
            <a:ext cx="585216" cy="585216"/>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3" name="Text 21"/>
          <p:cNvSpPr txBox="1"/>
          <p:nvPr/>
        </p:nvSpPr>
        <p:spPr>
          <a:xfrm>
            <a:off x="9473184" y="2606040"/>
            <a:ext cx="2011680" cy="411480"/>
          </a:xfrm>
          <a:prstGeom prst="rect">
            <a:avLst/>
          </a:prstGeom>
          <a:noFill/>
          <a:ln/>
        </p:spPr>
        <p:txBody>
          <a:bodyPr wrap="square" lIns="0" tIns="0" rIns="0" bIns="0" rtlCol="0" anchor="t"/>
          <a:lstStyle/>
          <a:p>
            <a:pPr marL="0" indent="0">
              <a:buNone/>
            </a:pPr>
            <a:r>
              <a:rPr lang="en-US" sz="2000" b="1" dirty="0">
                <a:solidFill>
                  <a:schemeClr val="bg1"/>
                </a:solidFill>
              </a:rPr>
              <a:t>Run</a:t>
            </a:r>
            <a:endParaRPr lang="en-US" sz="2000" dirty="0"/>
          </a:p>
        </p:txBody>
      </p:sp>
      <p:sp>
        <p:nvSpPr>
          <p:cNvPr id="24" name="Text 22"/>
          <p:cNvSpPr txBox="1"/>
          <p:nvPr/>
        </p:nvSpPr>
        <p:spPr>
          <a:xfrm>
            <a:off x="9473184" y="3063240"/>
            <a:ext cx="2011680" cy="914400"/>
          </a:xfrm>
          <a:prstGeom prst="rect">
            <a:avLst/>
          </a:prstGeom>
          <a:noFill/>
          <a:ln/>
        </p:spPr>
        <p:txBody>
          <a:bodyPr wrap="square" lIns="0" tIns="0" rIns="0" bIns="0" rtlCol="0" anchor="t"/>
          <a:lstStyle/>
          <a:p>
            <a:pPr marL="0" indent="0">
              <a:buNone/>
            </a:pPr>
            <a:r>
              <a:rPr lang="en-US" sz="1400" dirty="0">
                <a:solidFill>
                  <a:schemeClr val="bg2"/>
                </a:solidFill>
              </a:rPr>
              <a:t>Create a container from the image</a:t>
            </a:r>
            <a:endParaRPr lang="en-US" sz="1400" dirty="0"/>
          </a:p>
        </p:txBody>
      </p:sp>
      <p:sp>
        <p:nvSpPr>
          <p:cNvPr id="25" name="Shape 23"/>
          <p:cNvSpPr/>
          <p:nvPr/>
        </p:nvSpPr>
        <p:spPr>
          <a:xfrm>
            <a:off x="731520" y="4160520"/>
            <a:ext cx="10698480" cy="1965960"/>
          </a:xfrm>
          <a:prstGeom prst="roundRect">
            <a:avLst>
              <a:gd name="adj" fmla="val 3721"/>
            </a:avLst>
          </a:prstGeom>
          <a:solidFill>
            <a:srgbClr val="070D1A"/>
          </a:solidFill>
          <a:ln w="12700">
            <a:solidFill>
              <a:srgbClr val="23314F"/>
            </a:solidFill>
            <a:prstDash val="solid"/>
          </a:ln>
        </p:spPr>
      </p:sp>
      <p:sp>
        <p:nvSpPr>
          <p:cNvPr id="26" name="Shape 24"/>
          <p:cNvSpPr/>
          <p:nvPr/>
        </p:nvSpPr>
        <p:spPr>
          <a:xfrm>
            <a:off x="914400" y="4306824"/>
            <a:ext cx="100584" cy="100584"/>
          </a:xfrm>
          <a:prstGeom prst="ellipse">
            <a:avLst/>
          </a:prstGeom>
          <a:solidFill>
            <a:srgbClr val="FF5F57"/>
          </a:solidFill>
          <a:ln w="12700">
            <a:solidFill>
              <a:srgbClr val="FF5F57"/>
            </a:solidFill>
            <a:prstDash val="solid"/>
          </a:ln>
        </p:spPr>
      </p:sp>
      <p:sp>
        <p:nvSpPr>
          <p:cNvPr id="27" name="Shape 25"/>
          <p:cNvSpPr/>
          <p:nvPr/>
        </p:nvSpPr>
        <p:spPr>
          <a:xfrm>
            <a:off x="1097280" y="4306824"/>
            <a:ext cx="100584" cy="100584"/>
          </a:xfrm>
          <a:prstGeom prst="ellipse">
            <a:avLst/>
          </a:prstGeom>
          <a:solidFill>
            <a:srgbClr val="FEBC2E"/>
          </a:solidFill>
          <a:ln w="12700">
            <a:solidFill>
              <a:srgbClr val="FEBC2E"/>
            </a:solidFill>
            <a:prstDash val="solid"/>
          </a:ln>
        </p:spPr>
      </p:sp>
      <p:sp>
        <p:nvSpPr>
          <p:cNvPr id="28" name="Shape 26"/>
          <p:cNvSpPr/>
          <p:nvPr/>
        </p:nvSpPr>
        <p:spPr>
          <a:xfrm>
            <a:off x="1280160" y="4306824"/>
            <a:ext cx="100584" cy="100584"/>
          </a:xfrm>
          <a:prstGeom prst="ellipse">
            <a:avLst/>
          </a:prstGeom>
          <a:solidFill>
            <a:srgbClr val="28C840"/>
          </a:solidFill>
          <a:ln w="12700">
            <a:solidFill>
              <a:srgbClr val="28C840"/>
            </a:solidFill>
            <a:prstDash val="solid"/>
          </a:ln>
        </p:spPr>
      </p:sp>
      <p:sp>
        <p:nvSpPr>
          <p:cNvPr id="29" name="Text 27"/>
          <p:cNvSpPr txBox="1"/>
          <p:nvPr/>
        </p:nvSpPr>
        <p:spPr>
          <a:xfrm>
            <a:off x="1508760" y="4233672"/>
            <a:ext cx="978408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the five commands</a:t>
            </a:r>
            <a:endParaRPr lang="en-US" sz="1100" dirty="0"/>
          </a:p>
        </p:txBody>
      </p:sp>
      <p:sp>
        <p:nvSpPr>
          <p:cNvPr id="30" name="Text 28"/>
          <p:cNvSpPr txBox="1"/>
          <p:nvPr/>
        </p:nvSpPr>
        <p:spPr>
          <a:xfrm>
            <a:off x="960120" y="4581144"/>
            <a:ext cx="10332720" cy="1453896"/>
          </a:xfrm>
          <a:prstGeom prst="rect">
            <a:avLst/>
          </a:prstGeom>
          <a:noFill/>
          <a:ln/>
        </p:spPr>
        <p:txBody>
          <a:bodyPr wrap="square" lIns="0" tIns="0" rIns="0" bIns="0" rtlCol="0" anchor="t"/>
          <a:lstStyle/>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build -t myapp .</a:t>
            </a:r>
            <a:r>
              <a:rPr lang="en-US" sz="1400" dirty="0">
                <a:solidFill>
                  <a:srgbClr val="7D8BA6"/>
                </a:solidFill>
                <a:latin typeface="Consolas" pitchFamily="34" charset="0"/>
                <a:ea typeface="Consolas" pitchFamily="34" charset="-122"/>
                <a:cs typeface="Consolas" pitchFamily="34" charset="-120"/>
              </a:rPr>
              <a:t>  # build</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tag myapp &lt;you&gt;/myapp:1.0.0</a:t>
            </a:r>
            <a:r>
              <a:rPr lang="en-US" sz="1400" dirty="0">
                <a:solidFill>
                  <a:srgbClr val="7D8BA6"/>
                </a:solidFill>
                <a:latin typeface="Consolas" pitchFamily="34" charset="0"/>
                <a:ea typeface="Consolas" pitchFamily="34" charset="-122"/>
                <a:cs typeface="Consolas" pitchFamily="34" charset="-120"/>
              </a:rPr>
              <a:t>  # tag</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push &lt;you&gt;/myapp:1.0.0</a:t>
            </a:r>
            <a:r>
              <a:rPr lang="en-US" sz="1400" dirty="0">
                <a:solidFill>
                  <a:srgbClr val="7D8BA6"/>
                </a:solidFill>
                <a:latin typeface="Consolas" pitchFamily="34" charset="0"/>
                <a:ea typeface="Consolas" pitchFamily="34" charset="-122"/>
                <a:cs typeface="Consolas" pitchFamily="34" charset="-120"/>
              </a:rPr>
              <a:t>  # push</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pull &lt;you&gt;/myapp:1.0.0</a:t>
            </a:r>
            <a:r>
              <a:rPr lang="en-US" sz="1400" dirty="0">
                <a:solidFill>
                  <a:srgbClr val="7D8BA6"/>
                </a:solidFill>
                <a:latin typeface="Consolas" pitchFamily="34" charset="0"/>
                <a:ea typeface="Consolas" pitchFamily="34" charset="-122"/>
                <a:cs typeface="Consolas" pitchFamily="34" charset="-120"/>
              </a:rPr>
              <a:t>  # pull</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run &lt;you&gt;/myapp:1.0.0</a:t>
            </a:r>
            <a:r>
              <a:rPr lang="en-US" sz="1400" dirty="0">
                <a:solidFill>
                  <a:srgbClr val="7D8BA6"/>
                </a:solidFill>
                <a:latin typeface="Consolas" pitchFamily="34" charset="0"/>
                <a:ea typeface="Consolas" pitchFamily="34" charset="-122"/>
                <a:cs typeface="Consolas" pitchFamily="34" charset="-120"/>
              </a:rPr>
              <a:t>  # run</a:t>
            </a:r>
            <a:endParaRPr lang="en-US" sz="1400" dirty="0"/>
          </a:p>
        </p:txBody>
      </p:sp>
      <p:sp>
        <p:nvSpPr>
          <p:cNvPr id="31"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CREATING IMAGES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Two ways to create an image, one way to share it</a:t>
            </a:r>
            <a:endParaRPr lang="en-US" sz="3000" dirty="0"/>
          </a:p>
        </p:txBody>
      </p:sp>
      <p:sp>
        <p:nvSpPr>
          <p:cNvPr id="4" name="Shape 2"/>
          <p:cNvSpPr/>
          <p:nvPr/>
        </p:nvSpPr>
        <p:spPr>
          <a:xfrm>
            <a:off x="731520" y="1600200"/>
            <a:ext cx="2834640" cy="914400"/>
          </a:xfrm>
          <a:prstGeom prst="roundRect">
            <a:avLst>
              <a:gd name="adj" fmla="val 10000"/>
            </a:avLst>
          </a:prstGeom>
          <a:solidFill>
            <a:srgbClr val="0F3B3A"/>
          </a:solidFill>
          <a:ln w="12700">
            <a:solidFill>
              <a:schemeClr val="accent2"/>
            </a:solidFill>
            <a:prstDash val="solid"/>
          </a:ln>
        </p:spPr>
      </p:sp>
      <p:sp>
        <p:nvSpPr>
          <p:cNvPr id="5" name="Text 3"/>
          <p:cNvSpPr txBox="1"/>
          <p:nvPr/>
        </p:nvSpPr>
        <p:spPr>
          <a:xfrm>
            <a:off x="804672" y="1600200"/>
            <a:ext cx="2688336" cy="914400"/>
          </a:xfrm>
          <a:prstGeom prst="rect">
            <a:avLst/>
          </a:prstGeom>
          <a:noFill/>
          <a:ln/>
        </p:spPr>
        <p:txBody>
          <a:bodyPr wrap="square" lIns="0" tIns="0" rIns="0" bIns="0" rtlCol="0" anchor="ctr"/>
          <a:lstStyle/>
          <a:p>
            <a:pPr marL="0" indent="0" algn="ctr">
              <a:spcAft>
                <a:spcPts val="200"/>
              </a:spcAft>
              <a:buNone/>
            </a:pPr>
            <a:r>
              <a:rPr lang="en-US" sz="1700" b="1" dirty="0">
                <a:solidFill>
                  <a:schemeClr val="accent2"/>
                </a:solidFill>
              </a:rPr>
              <a:t>Dockerfile</a:t>
            </a:r>
            <a:endParaRPr lang="en-US" sz="1700" dirty="0"/>
          </a:p>
          <a:p>
            <a:pPr marL="0" indent="0" algn="ctr">
              <a:spcAft>
                <a:spcPts val="200"/>
              </a:spcAft>
              <a:buNone/>
            </a:pPr>
            <a:r>
              <a:rPr lang="en-US" sz="1300" dirty="0">
                <a:solidFill>
                  <a:srgbClr val="D3F2EC"/>
                </a:solidFill>
              </a:rPr>
              <a:t>written recipe · repeatable</a:t>
            </a:r>
            <a:endParaRPr lang="en-US" sz="1700" dirty="0"/>
          </a:p>
        </p:txBody>
      </p:sp>
      <p:sp>
        <p:nvSpPr>
          <p:cNvPr id="6" name="Shape 4"/>
          <p:cNvSpPr/>
          <p:nvPr/>
        </p:nvSpPr>
        <p:spPr>
          <a:xfrm>
            <a:off x="731520" y="3154680"/>
            <a:ext cx="2834640" cy="914400"/>
          </a:xfrm>
          <a:prstGeom prst="roundRect">
            <a:avLst>
              <a:gd name="adj" fmla="val 10000"/>
            </a:avLst>
          </a:prstGeom>
          <a:solidFill>
            <a:srgbClr val="2E2410"/>
          </a:solidFill>
          <a:ln w="12700">
            <a:solidFill>
              <a:schemeClr val="accent3"/>
            </a:solidFill>
            <a:prstDash val="solid"/>
          </a:ln>
        </p:spPr>
      </p:sp>
      <p:sp>
        <p:nvSpPr>
          <p:cNvPr id="7" name="Text 5"/>
          <p:cNvSpPr txBox="1"/>
          <p:nvPr/>
        </p:nvSpPr>
        <p:spPr>
          <a:xfrm>
            <a:off x="804672" y="3154680"/>
            <a:ext cx="2688336" cy="914400"/>
          </a:xfrm>
          <a:prstGeom prst="rect">
            <a:avLst/>
          </a:prstGeom>
          <a:noFill/>
          <a:ln/>
        </p:spPr>
        <p:txBody>
          <a:bodyPr wrap="square" lIns="0" tIns="0" rIns="0" bIns="0" rtlCol="0" anchor="ctr"/>
          <a:lstStyle/>
          <a:p>
            <a:pPr marL="0" indent="0" algn="ctr">
              <a:spcAft>
                <a:spcPts val="200"/>
              </a:spcAft>
              <a:buNone/>
            </a:pPr>
            <a:r>
              <a:rPr lang="en-US" sz="1700" b="1" dirty="0">
                <a:solidFill>
                  <a:schemeClr val="accent3"/>
                </a:solidFill>
              </a:rPr>
              <a:t>Container</a:t>
            </a:r>
            <a:endParaRPr lang="en-US" sz="1700" dirty="0"/>
          </a:p>
          <a:p>
            <a:pPr marL="0" indent="0" algn="ctr">
              <a:spcAft>
                <a:spcPts val="200"/>
              </a:spcAft>
              <a:buNone/>
            </a:pPr>
            <a:r>
              <a:rPr lang="en-US" sz="1300" dirty="0">
                <a:solidFill>
                  <a:srgbClr val="F2E3C2"/>
                </a:solidFill>
              </a:rPr>
              <a:t>changed by hand</a:t>
            </a:r>
            <a:endParaRPr lang="en-US" sz="1700" dirty="0"/>
          </a:p>
        </p:txBody>
      </p:sp>
      <p:sp>
        <p:nvSpPr>
          <p:cNvPr id="8" name="Shape 6"/>
          <p:cNvSpPr/>
          <p:nvPr/>
        </p:nvSpPr>
        <p:spPr>
          <a:xfrm>
            <a:off x="5577840" y="2240280"/>
            <a:ext cx="2743200" cy="1188720"/>
          </a:xfrm>
          <a:prstGeom prst="roundRect">
            <a:avLst>
              <a:gd name="adj" fmla="val 7692"/>
            </a:avLst>
          </a:prstGeom>
          <a:solidFill>
            <a:srgbClr val="0F3A66"/>
          </a:solidFill>
          <a:ln w="19050">
            <a:solidFill>
              <a:schemeClr val="accent1"/>
            </a:solidFill>
            <a:prstDash val="solid"/>
          </a:ln>
        </p:spPr>
      </p:sp>
      <p:sp>
        <p:nvSpPr>
          <p:cNvPr id="9" name="Text 7"/>
          <p:cNvSpPr txBox="1"/>
          <p:nvPr/>
        </p:nvSpPr>
        <p:spPr>
          <a:xfrm>
            <a:off x="5650992" y="2240280"/>
            <a:ext cx="2596896" cy="1188720"/>
          </a:xfrm>
          <a:prstGeom prst="rect">
            <a:avLst/>
          </a:prstGeom>
          <a:noFill/>
          <a:ln/>
        </p:spPr>
        <p:txBody>
          <a:bodyPr wrap="square" lIns="0" tIns="0" rIns="0" bIns="0" rtlCol="0" anchor="ctr"/>
          <a:lstStyle/>
          <a:p>
            <a:pPr marL="0" indent="0" algn="ctr">
              <a:spcAft>
                <a:spcPts val="200"/>
              </a:spcAft>
              <a:buNone/>
            </a:pPr>
            <a:r>
              <a:rPr lang="en-US" sz="1800" b="1" dirty="0">
                <a:solidFill>
                  <a:schemeClr val="bg1"/>
                </a:solidFill>
              </a:rPr>
              <a:t>Image</a:t>
            </a:r>
            <a:endParaRPr lang="en-US" sz="1800" dirty="0"/>
          </a:p>
          <a:p>
            <a:pPr marL="0" indent="0" algn="ctr">
              <a:spcAft>
                <a:spcPts val="200"/>
              </a:spcAft>
              <a:buNone/>
            </a:pPr>
            <a:r>
              <a:rPr lang="en-US" sz="1300" dirty="0">
                <a:solidFill>
                  <a:srgbClr val="CFE3FA"/>
                </a:solidFill>
              </a:rPr>
              <a:t>myapp:1.0 on your laptop</a:t>
            </a:r>
            <a:endParaRPr lang="en-US" sz="1800" dirty="0"/>
          </a:p>
        </p:txBody>
      </p:sp>
      <p:sp>
        <p:nvSpPr>
          <p:cNvPr id="10" name="Shape 8"/>
          <p:cNvSpPr/>
          <p:nvPr/>
        </p:nvSpPr>
        <p:spPr>
          <a:xfrm>
            <a:off x="3611880" y="2057400"/>
            <a:ext cx="960120" cy="0"/>
          </a:xfrm>
          <a:prstGeom prst="line">
            <a:avLst/>
          </a:prstGeom>
          <a:noFill/>
          <a:ln w="22225">
            <a:solidFill>
              <a:schemeClr val="bg2"/>
            </a:solidFill>
            <a:prstDash val="solid"/>
          </a:ln>
        </p:spPr>
      </p:sp>
      <p:sp>
        <p:nvSpPr>
          <p:cNvPr id="11" name="Shape 9"/>
          <p:cNvSpPr/>
          <p:nvPr/>
        </p:nvSpPr>
        <p:spPr>
          <a:xfrm>
            <a:off x="4572000" y="2057400"/>
            <a:ext cx="0" cy="548640"/>
          </a:xfrm>
          <a:prstGeom prst="line">
            <a:avLst/>
          </a:prstGeom>
          <a:noFill/>
          <a:ln w="22225">
            <a:solidFill>
              <a:schemeClr val="bg2"/>
            </a:solidFill>
            <a:prstDash val="solid"/>
          </a:ln>
        </p:spPr>
      </p:sp>
      <p:sp>
        <p:nvSpPr>
          <p:cNvPr id="12" name="Shape 10"/>
          <p:cNvSpPr/>
          <p:nvPr/>
        </p:nvSpPr>
        <p:spPr>
          <a:xfrm>
            <a:off x="4572000" y="2606040"/>
            <a:ext cx="960120" cy="0"/>
          </a:xfrm>
          <a:prstGeom prst="line">
            <a:avLst/>
          </a:prstGeom>
          <a:noFill/>
          <a:ln w="22225">
            <a:solidFill>
              <a:schemeClr val="bg2"/>
            </a:solidFill>
            <a:prstDash val="solid"/>
            <a:tailEnd type="triangle"/>
          </a:ln>
        </p:spPr>
      </p:sp>
      <p:sp>
        <p:nvSpPr>
          <p:cNvPr id="13" name="Text 11"/>
          <p:cNvSpPr txBox="1"/>
          <p:nvPr/>
        </p:nvSpPr>
        <p:spPr>
          <a:xfrm>
            <a:off x="3611880" y="1691640"/>
            <a:ext cx="1737360" cy="274320"/>
          </a:xfrm>
          <a:prstGeom prst="rect">
            <a:avLst/>
          </a:prstGeom>
          <a:noFill/>
          <a:ln/>
        </p:spPr>
        <p:txBody>
          <a:bodyPr wrap="square" lIns="0" tIns="0" rIns="0" bIns="0" rtlCol="0" anchor="t"/>
          <a:lstStyle/>
          <a:p>
            <a:pPr marL="0" indent="0">
              <a:buNone/>
            </a:pPr>
            <a:r>
              <a:rPr lang="en-US" sz="1300" dirty="0">
                <a:solidFill>
                  <a:schemeClr val="accent2"/>
                </a:solidFill>
                <a:latin typeface="Consolas" pitchFamily="34" charset="0"/>
                <a:ea typeface="Consolas" pitchFamily="34" charset="-122"/>
                <a:cs typeface="Consolas" pitchFamily="34" charset="-120"/>
              </a:rPr>
              <a:t>docker build</a:t>
            </a:r>
            <a:endParaRPr lang="en-US" sz="1300" dirty="0"/>
          </a:p>
        </p:txBody>
      </p:sp>
      <p:sp>
        <p:nvSpPr>
          <p:cNvPr id="14" name="Shape 12"/>
          <p:cNvSpPr/>
          <p:nvPr/>
        </p:nvSpPr>
        <p:spPr>
          <a:xfrm>
            <a:off x="3611880" y="3611880"/>
            <a:ext cx="960120" cy="0"/>
          </a:xfrm>
          <a:prstGeom prst="line">
            <a:avLst/>
          </a:prstGeom>
          <a:noFill/>
          <a:ln w="22225">
            <a:solidFill>
              <a:schemeClr val="bg2"/>
            </a:solidFill>
            <a:prstDash val="solid"/>
          </a:ln>
        </p:spPr>
      </p:sp>
      <p:sp>
        <p:nvSpPr>
          <p:cNvPr id="15" name="Shape 13"/>
          <p:cNvSpPr/>
          <p:nvPr/>
        </p:nvSpPr>
        <p:spPr>
          <a:xfrm flipV="1">
            <a:off x="4572000" y="3063240"/>
            <a:ext cx="0" cy="548640"/>
          </a:xfrm>
          <a:prstGeom prst="line">
            <a:avLst/>
          </a:prstGeom>
          <a:noFill/>
          <a:ln w="22225">
            <a:solidFill>
              <a:schemeClr val="bg2"/>
            </a:solidFill>
            <a:prstDash val="solid"/>
          </a:ln>
        </p:spPr>
      </p:sp>
      <p:sp>
        <p:nvSpPr>
          <p:cNvPr id="16" name="Shape 14"/>
          <p:cNvSpPr/>
          <p:nvPr/>
        </p:nvSpPr>
        <p:spPr>
          <a:xfrm>
            <a:off x="4572000" y="3063240"/>
            <a:ext cx="960120" cy="0"/>
          </a:xfrm>
          <a:prstGeom prst="line">
            <a:avLst/>
          </a:prstGeom>
          <a:noFill/>
          <a:ln w="22225">
            <a:solidFill>
              <a:schemeClr val="bg2"/>
            </a:solidFill>
            <a:prstDash val="solid"/>
            <a:tailEnd type="triangle"/>
          </a:ln>
        </p:spPr>
      </p:sp>
      <p:sp>
        <p:nvSpPr>
          <p:cNvPr id="17" name="Text 15"/>
          <p:cNvSpPr txBox="1"/>
          <p:nvPr/>
        </p:nvSpPr>
        <p:spPr>
          <a:xfrm>
            <a:off x="3611880" y="3703320"/>
            <a:ext cx="1737360" cy="274320"/>
          </a:xfrm>
          <a:prstGeom prst="rect">
            <a:avLst/>
          </a:prstGeom>
          <a:noFill/>
          <a:ln/>
        </p:spPr>
        <p:txBody>
          <a:bodyPr wrap="square" lIns="0" tIns="0" rIns="0" bIns="0" rtlCol="0" anchor="t"/>
          <a:lstStyle/>
          <a:p>
            <a:pPr marL="0" indent="0">
              <a:buNone/>
            </a:pPr>
            <a:r>
              <a:rPr lang="en-US" sz="1300" dirty="0">
                <a:solidFill>
                  <a:schemeClr val="accent3"/>
                </a:solidFill>
                <a:latin typeface="Consolas" pitchFamily="34" charset="0"/>
                <a:ea typeface="Consolas" pitchFamily="34" charset="-122"/>
                <a:cs typeface="Consolas" pitchFamily="34" charset="-120"/>
              </a:rPr>
              <a:t>docker commit</a:t>
            </a:r>
            <a:endParaRPr lang="en-US" sz="1300" dirty="0"/>
          </a:p>
        </p:txBody>
      </p:sp>
      <p:sp>
        <p:nvSpPr>
          <p:cNvPr id="18" name="Shape 16"/>
          <p:cNvSpPr/>
          <p:nvPr/>
        </p:nvSpPr>
        <p:spPr>
          <a:xfrm>
            <a:off x="8869680" y="2240280"/>
            <a:ext cx="2560320" cy="1188720"/>
          </a:xfrm>
          <a:prstGeom prst="roundRect">
            <a:avLst>
              <a:gd name="adj" fmla="val 7692"/>
            </a:avLst>
          </a:prstGeom>
          <a:solidFill>
            <a:schemeClr val="tx2"/>
          </a:solidFill>
          <a:ln w="12700">
            <a:solidFill>
              <a:schemeClr val="accent3"/>
            </a:solidFill>
            <a:prstDash val="solid"/>
          </a:ln>
        </p:spPr>
      </p:sp>
      <p:sp>
        <p:nvSpPr>
          <p:cNvPr id="19" name="Text 17"/>
          <p:cNvSpPr txBox="1"/>
          <p:nvPr/>
        </p:nvSpPr>
        <p:spPr>
          <a:xfrm>
            <a:off x="8942832" y="2240280"/>
            <a:ext cx="2414016" cy="1188720"/>
          </a:xfrm>
          <a:prstGeom prst="rect">
            <a:avLst/>
          </a:prstGeom>
          <a:noFill/>
          <a:ln/>
        </p:spPr>
        <p:txBody>
          <a:bodyPr wrap="square" lIns="0" tIns="0" rIns="0" bIns="0" rtlCol="0" anchor="ctr"/>
          <a:lstStyle/>
          <a:p>
            <a:pPr marL="0" indent="0" algn="ctr">
              <a:spcAft>
                <a:spcPts val="200"/>
              </a:spcAft>
              <a:buNone/>
            </a:pPr>
            <a:r>
              <a:rPr lang="en-US" sz="1700" b="1" dirty="0">
                <a:solidFill>
                  <a:schemeClr val="bg1"/>
                </a:solidFill>
              </a:rPr>
              <a:t>Registry</a:t>
            </a:r>
            <a:endParaRPr lang="en-US" sz="1700" dirty="0"/>
          </a:p>
          <a:p>
            <a:pPr marL="0" indent="0" algn="ctr">
              <a:spcAft>
                <a:spcPts val="200"/>
              </a:spcAft>
              <a:buNone/>
            </a:pPr>
            <a:r>
              <a:rPr lang="en-US" sz="1300" dirty="0">
                <a:solidFill>
                  <a:schemeClr val="bg2"/>
                </a:solidFill>
              </a:rPr>
              <a:t>Docker Hub, GHCR, ECR</a:t>
            </a:r>
            <a:endParaRPr lang="en-US" sz="1700" dirty="0"/>
          </a:p>
        </p:txBody>
      </p:sp>
      <p:sp>
        <p:nvSpPr>
          <p:cNvPr id="20" name="Shape 18"/>
          <p:cNvSpPr/>
          <p:nvPr/>
        </p:nvSpPr>
        <p:spPr>
          <a:xfrm>
            <a:off x="8357616" y="2834640"/>
            <a:ext cx="475488" cy="0"/>
          </a:xfrm>
          <a:prstGeom prst="line">
            <a:avLst/>
          </a:prstGeom>
          <a:noFill/>
          <a:ln w="22225">
            <a:solidFill>
              <a:schemeClr val="accent1"/>
            </a:solidFill>
            <a:prstDash val="solid"/>
            <a:tailEnd type="triangle"/>
          </a:ln>
        </p:spPr>
      </p:sp>
      <p:sp>
        <p:nvSpPr>
          <p:cNvPr id="21" name="Text 19"/>
          <p:cNvSpPr txBox="1"/>
          <p:nvPr/>
        </p:nvSpPr>
        <p:spPr>
          <a:xfrm>
            <a:off x="7863840" y="1874520"/>
            <a:ext cx="1463040" cy="274320"/>
          </a:xfrm>
          <a:prstGeom prst="rect">
            <a:avLst/>
          </a:prstGeom>
          <a:noFill/>
          <a:ln/>
        </p:spPr>
        <p:txBody>
          <a:bodyPr wrap="square" lIns="0" tIns="0" rIns="0" bIns="0" rtlCol="0" anchor="t"/>
          <a:lstStyle/>
          <a:p>
            <a:pPr marL="0" indent="0" algn="ctr">
              <a:buNone/>
            </a:pPr>
            <a:r>
              <a:rPr lang="en-US" sz="1300" dirty="0">
                <a:solidFill>
                  <a:schemeClr val="accent1"/>
                </a:solidFill>
                <a:latin typeface="Consolas" pitchFamily="34" charset="0"/>
                <a:ea typeface="Consolas" pitchFamily="34" charset="-122"/>
                <a:cs typeface="Consolas" pitchFamily="34" charset="-120"/>
              </a:rPr>
              <a:t>docker push</a:t>
            </a:r>
            <a:endParaRPr lang="en-US" sz="1300" dirty="0"/>
          </a:p>
        </p:txBody>
      </p:sp>
      <p:sp>
        <p:nvSpPr>
          <p:cNvPr id="22" name="Shape 20"/>
          <p:cNvSpPr/>
          <p:nvPr/>
        </p:nvSpPr>
        <p:spPr>
          <a:xfrm>
            <a:off x="8869680" y="4251960"/>
            <a:ext cx="2560320" cy="1005840"/>
          </a:xfrm>
          <a:prstGeom prst="roundRect">
            <a:avLst>
              <a:gd name="adj" fmla="val 9091"/>
            </a:avLst>
          </a:prstGeom>
          <a:solidFill>
            <a:schemeClr val="tx2"/>
          </a:solidFill>
          <a:ln w="12700">
            <a:solidFill>
              <a:schemeClr val="accent6"/>
            </a:solidFill>
            <a:prstDash val="solid"/>
          </a:ln>
        </p:spPr>
      </p:sp>
      <p:sp>
        <p:nvSpPr>
          <p:cNvPr id="23" name="Text 21"/>
          <p:cNvSpPr txBox="1"/>
          <p:nvPr/>
        </p:nvSpPr>
        <p:spPr>
          <a:xfrm>
            <a:off x="8942832" y="4251960"/>
            <a:ext cx="2414016" cy="1005840"/>
          </a:xfrm>
          <a:prstGeom prst="rect">
            <a:avLst/>
          </a:prstGeom>
          <a:noFill/>
          <a:ln/>
        </p:spPr>
        <p:txBody>
          <a:bodyPr wrap="square" lIns="0" tIns="0" rIns="0" bIns="0" rtlCol="0" anchor="ctr"/>
          <a:lstStyle/>
          <a:p>
            <a:pPr marL="0" indent="0" algn="ctr">
              <a:spcAft>
                <a:spcPts val="200"/>
              </a:spcAft>
              <a:buNone/>
            </a:pPr>
            <a:r>
              <a:rPr lang="en-US" sz="1600" b="1" dirty="0">
                <a:solidFill>
                  <a:schemeClr val="bg1"/>
                </a:solidFill>
              </a:rPr>
              <a:t>Any machine</a:t>
            </a:r>
            <a:endParaRPr lang="en-US" sz="1600" dirty="0"/>
          </a:p>
          <a:p>
            <a:pPr marL="0" indent="0" algn="ctr">
              <a:spcAft>
                <a:spcPts val="200"/>
              </a:spcAft>
              <a:buNone/>
            </a:pPr>
            <a:r>
              <a:rPr lang="en-US" sz="1300" dirty="0">
                <a:solidFill>
                  <a:schemeClr val="bg2"/>
                </a:solidFill>
              </a:rPr>
              <a:t>laptop, server, cloud</a:t>
            </a:r>
            <a:endParaRPr lang="en-US" sz="1600" dirty="0"/>
          </a:p>
        </p:txBody>
      </p:sp>
      <p:sp>
        <p:nvSpPr>
          <p:cNvPr id="24" name="Shape 22"/>
          <p:cNvSpPr/>
          <p:nvPr/>
        </p:nvSpPr>
        <p:spPr>
          <a:xfrm>
            <a:off x="10149840" y="3465576"/>
            <a:ext cx="0" cy="740664"/>
          </a:xfrm>
          <a:prstGeom prst="line">
            <a:avLst/>
          </a:prstGeom>
          <a:noFill/>
          <a:ln w="22225">
            <a:solidFill>
              <a:schemeClr val="accent1"/>
            </a:solidFill>
            <a:prstDash val="solid"/>
            <a:tailEnd type="triangle"/>
          </a:ln>
        </p:spPr>
      </p:sp>
      <p:sp>
        <p:nvSpPr>
          <p:cNvPr id="25" name="Text 23"/>
          <p:cNvSpPr txBox="1"/>
          <p:nvPr/>
        </p:nvSpPr>
        <p:spPr>
          <a:xfrm>
            <a:off x="10241280" y="3703320"/>
            <a:ext cx="1280160" cy="274320"/>
          </a:xfrm>
          <a:prstGeom prst="rect">
            <a:avLst/>
          </a:prstGeom>
          <a:noFill/>
          <a:ln/>
        </p:spPr>
        <p:txBody>
          <a:bodyPr wrap="square" lIns="0" tIns="0" rIns="0" bIns="0" rtlCol="0" anchor="t"/>
          <a:lstStyle/>
          <a:p>
            <a:pPr marL="0" indent="0">
              <a:buNone/>
            </a:pPr>
            <a:r>
              <a:rPr lang="en-US" sz="1300" dirty="0">
                <a:solidFill>
                  <a:schemeClr val="accent1"/>
                </a:solidFill>
                <a:latin typeface="Consolas" pitchFamily="34" charset="0"/>
                <a:ea typeface="Consolas" pitchFamily="34" charset="-122"/>
                <a:cs typeface="Consolas" pitchFamily="34" charset="-120"/>
              </a:rPr>
              <a:t>docker pull</a:t>
            </a:r>
            <a:endParaRPr lang="en-US" sz="1300" dirty="0"/>
          </a:p>
        </p:txBody>
      </p:sp>
      <p:sp>
        <p:nvSpPr>
          <p:cNvPr id="26" name="Shape 24"/>
          <p:cNvSpPr/>
          <p:nvPr/>
        </p:nvSpPr>
        <p:spPr>
          <a:xfrm>
            <a:off x="5257800" y="4251960"/>
            <a:ext cx="2514600" cy="1005840"/>
          </a:xfrm>
          <a:prstGeom prst="roundRect">
            <a:avLst>
              <a:gd name="adj" fmla="val 9091"/>
            </a:avLst>
          </a:prstGeom>
          <a:solidFill>
            <a:srgbClr val="0F3B3A"/>
          </a:solidFill>
          <a:ln w="12700">
            <a:solidFill>
              <a:schemeClr val="accent2"/>
            </a:solidFill>
            <a:prstDash val="solid"/>
          </a:ln>
        </p:spPr>
      </p:sp>
      <p:sp>
        <p:nvSpPr>
          <p:cNvPr id="27" name="Text 25"/>
          <p:cNvSpPr txBox="1"/>
          <p:nvPr/>
        </p:nvSpPr>
        <p:spPr>
          <a:xfrm>
            <a:off x="5330952" y="4251960"/>
            <a:ext cx="2368296" cy="1005840"/>
          </a:xfrm>
          <a:prstGeom prst="rect">
            <a:avLst/>
          </a:prstGeom>
          <a:noFill/>
          <a:ln/>
        </p:spPr>
        <p:txBody>
          <a:bodyPr wrap="square" lIns="0" tIns="0" rIns="0" bIns="0" rtlCol="0" anchor="ctr"/>
          <a:lstStyle/>
          <a:p>
            <a:pPr marL="0" indent="0" algn="ctr">
              <a:spcAft>
                <a:spcPts val="200"/>
              </a:spcAft>
              <a:buNone/>
            </a:pPr>
            <a:r>
              <a:rPr lang="en-US" sz="1600" b="1" dirty="0">
                <a:solidFill>
                  <a:schemeClr val="accent2"/>
                </a:solidFill>
              </a:rPr>
              <a:t>Running container</a:t>
            </a:r>
            <a:endParaRPr lang="en-US" sz="1600" dirty="0"/>
          </a:p>
          <a:p>
            <a:pPr marL="0" indent="0" algn="ctr">
              <a:spcAft>
                <a:spcPts val="200"/>
              </a:spcAft>
              <a:buNone/>
            </a:pPr>
            <a:r>
              <a:rPr lang="en-US" sz="1300" dirty="0">
                <a:solidFill>
                  <a:srgbClr val="D3F2EC"/>
                </a:solidFill>
              </a:rPr>
              <a:t>same app everywhere</a:t>
            </a:r>
            <a:endParaRPr lang="en-US" sz="1600" dirty="0"/>
          </a:p>
        </p:txBody>
      </p:sp>
      <p:sp>
        <p:nvSpPr>
          <p:cNvPr id="28" name="Shape 26"/>
          <p:cNvSpPr/>
          <p:nvPr/>
        </p:nvSpPr>
        <p:spPr>
          <a:xfrm flipH="1">
            <a:off x="7818120" y="4754880"/>
            <a:ext cx="1014984" cy="0"/>
          </a:xfrm>
          <a:prstGeom prst="line">
            <a:avLst/>
          </a:prstGeom>
          <a:noFill/>
          <a:ln w="22225">
            <a:solidFill>
              <a:schemeClr val="accent1"/>
            </a:solidFill>
            <a:prstDash val="solid"/>
            <a:tailEnd type="triangle"/>
          </a:ln>
        </p:spPr>
      </p:sp>
      <p:sp>
        <p:nvSpPr>
          <p:cNvPr id="29" name="Text 27"/>
          <p:cNvSpPr txBox="1"/>
          <p:nvPr/>
        </p:nvSpPr>
        <p:spPr>
          <a:xfrm>
            <a:off x="7772400" y="4389120"/>
            <a:ext cx="1097280" cy="274320"/>
          </a:xfrm>
          <a:prstGeom prst="rect">
            <a:avLst/>
          </a:prstGeom>
          <a:noFill/>
          <a:ln/>
        </p:spPr>
        <p:txBody>
          <a:bodyPr wrap="square" lIns="0" tIns="0" rIns="0" bIns="0" rtlCol="0" anchor="t"/>
          <a:lstStyle/>
          <a:p>
            <a:pPr marL="0" indent="0" algn="ctr">
              <a:buNone/>
            </a:pPr>
            <a:r>
              <a:rPr lang="en-US" sz="1300" dirty="0">
                <a:solidFill>
                  <a:schemeClr val="accent1"/>
                </a:solidFill>
                <a:latin typeface="Consolas" pitchFamily="34" charset="0"/>
                <a:ea typeface="Consolas" pitchFamily="34" charset="-122"/>
                <a:cs typeface="Consolas" pitchFamily="34" charset="-120"/>
              </a:rPr>
              <a:t>docker run</a:t>
            </a:r>
            <a:endParaRPr lang="en-US" sz="1300" dirty="0"/>
          </a:p>
        </p:txBody>
      </p:sp>
      <p:sp>
        <p:nvSpPr>
          <p:cNvPr id="30" name="Shape 28"/>
          <p:cNvSpPr/>
          <p:nvPr/>
        </p:nvSpPr>
        <p:spPr>
          <a:xfrm>
            <a:off x="731520" y="4434840"/>
            <a:ext cx="4206240" cy="1417320"/>
          </a:xfrm>
          <a:prstGeom prst="roundRect">
            <a:avLst>
              <a:gd name="adj" fmla="val 6452"/>
            </a:avLst>
          </a:prstGeom>
          <a:solidFill>
            <a:schemeClr val="tx2"/>
          </a:solidFill>
          <a:ln w="12700">
            <a:solidFill>
              <a:schemeClr val="accent6"/>
            </a:solidFill>
            <a:prstDash val="solid"/>
          </a:ln>
        </p:spPr>
      </p:sp>
      <p:sp>
        <p:nvSpPr>
          <p:cNvPr id="31" name="Text 29"/>
          <p:cNvSpPr txBox="1"/>
          <p:nvPr/>
        </p:nvSpPr>
        <p:spPr>
          <a:xfrm>
            <a:off x="960120" y="4526280"/>
            <a:ext cx="3840480" cy="128016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Rule of thumb</a:t>
            </a:r>
            <a:endParaRPr lang="en-US" sz="1400" dirty="0"/>
          </a:p>
          <a:p>
            <a:pPr marL="0" indent="0">
              <a:spcAft>
                <a:spcPts val="400"/>
              </a:spcAft>
              <a:buNone/>
            </a:pPr>
            <a:r>
              <a:rPr lang="en-US" sz="1400" dirty="0">
                <a:solidFill>
                  <a:schemeClr val="bg1"/>
                </a:solidFill>
              </a:rPr>
              <a:t>Dockerfile for real work: written down, reviewed, rebuilt identically.</a:t>
            </a:r>
            <a:endParaRPr lang="en-US" sz="1400" dirty="0"/>
          </a:p>
          <a:p>
            <a:pPr marL="0" indent="0">
              <a:spcAft>
                <a:spcPts val="400"/>
              </a:spcAft>
              <a:buNone/>
            </a:pPr>
            <a:r>
              <a:rPr lang="en-US" sz="1400" dirty="0">
                <a:solidFill>
                  <a:schemeClr val="bg1"/>
                </a:solidFill>
              </a:rPr>
              <a:t>docker commit for quick experiments only.</a:t>
            </a:r>
            <a:endParaRPr lang="en-US" sz="1400" dirty="0"/>
          </a:p>
        </p:txBody>
      </p:sp>
      <p:sp>
        <p:nvSpPr>
          <p:cNvPr id="32"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METHOD 1 · DOCKERFILE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Write the recipe, build the image</a:t>
            </a:r>
            <a:endParaRPr lang="en-US" sz="3000" dirty="0"/>
          </a:p>
        </p:txBody>
      </p:sp>
      <p:sp>
        <p:nvSpPr>
          <p:cNvPr id="4" name="Shape 2"/>
          <p:cNvSpPr/>
          <p:nvPr/>
        </p:nvSpPr>
        <p:spPr>
          <a:xfrm>
            <a:off x="731520" y="1463040"/>
            <a:ext cx="4937760" cy="1828800"/>
          </a:xfrm>
          <a:prstGeom prst="roundRect">
            <a:avLst>
              <a:gd name="adj" fmla="val 4000"/>
            </a:avLst>
          </a:prstGeom>
          <a:solidFill>
            <a:srgbClr val="070D1A"/>
          </a:solidFill>
          <a:ln w="12700">
            <a:solidFill>
              <a:srgbClr val="23314F"/>
            </a:solidFill>
            <a:prstDash val="solid"/>
          </a:ln>
        </p:spPr>
      </p:sp>
      <p:sp>
        <p:nvSpPr>
          <p:cNvPr id="5" name="Shape 3"/>
          <p:cNvSpPr/>
          <p:nvPr/>
        </p:nvSpPr>
        <p:spPr>
          <a:xfrm>
            <a:off x="914400" y="1609344"/>
            <a:ext cx="100584" cy="100584"/>
          </a:xfrm>
          <a:prstGeom prst="ellipse">
            <a:avLst/>
          </a:prstGeom>
          <a:solidFill>
            <a:srgbClr val="FF5F57"/>
          </a:solidFill>
          <a:ln w="12700">
            <a:solidFill>
              <a:srgbClr val="FF5F57"/>
            </a:solidFill>
            <a:prstDash val="solid"/>
          </a:ln>
        </p:spPr>
      </p:sp>
      <p:sp>
        <p:nvSpPr>
          <p:cNvPr id="6" name="Shape 4"/>
          <p:cNvSpPr/>
          <p:nvPr/>
        </p:nvSpPr>
        <p:spPr>
          <a:xfrm>
            <a:off x="1097280" y="1609344"/>
            <a:ext cx="100584" cy="100584"/>
          </a:xfrm>
          <a:prstGeom prst="ellipse">
            <a:avLst/>
          </a:prstGeom>
          <a:solidFill>
            <a:srgbClr val="FEBC2E"/>
          </a:solidFill>
          <a:ln w="12700">
            <a:solidFill>
              <a:srgbClr val="FEBC2E"/>
            </a:solidFill>
            <a:prstDash val="solid"/>
          </a:ln>
        </p:spPr>
      </p:sp>
      <p:sp>
        <p:nvSpPr>
          <p:cNvPr id="7" name="Shape 5"/>
          <p:cNvSpPr/>
          <p:nvPr/>
        </p:nvSpPr>
        <p:spPr>
          <a:xfrm>
            <a:off x="1280160" y="1609344"/>
            <a:ext cx="100584" cy="100584"/>
          </a:xfrm>
          <a:prstGeom prst="ellipse">
            <a:avLst/>
          </a:prstGeom>
          <a:solidFill>
            <a:srgbClr val="28C840"/>
          </a:solidFill>
          <a:ln w="12700">
            <a:solidFill>
              <a:srgbClr val="28C840"/>
            </a:solidFill>
            <a:prstDash val="solid"/>
          </a:ln>
        </p:spPr>
      </p:sp>
      <p:sp>
        <p:nvSpPr>
          <p:cNvPr id="8" name="Text 6"/>
          <p:cNvSpPr txBox="1"/>
          <p:nvPr/>
        </p:nvSpPr>
        <p:spPr>
          <a:xfrm>
            <a:off x="1508760" y="1536192"/>
            <a:ext cx="402336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Dockerfile</a:t>
            </a:r>
            <a:endParaRPr lang="en-US" sz="1100" dirty="0"/>
          </a:p>
        </p:txBody>
      </p:sp>
      <p:sp>
        <p:nvSpPr>
          <p:cNvPr id="9" name="Text 7"/>
          <p:cNvSpPr txBox="1"/>
          <p:nvPr/>
        </p:nvSpPr>
        <p:spPr>
          <a:xfrm>
            <a:off x="960120" y="1883664"/>
            <a:ext cx="4572000" cy="1316736"/>
          </a:xfrm>
          <a:prstGeom prst="rect">
            <a:avLst/>
          </a:prstGeom>
          <a:noFill/>
          <a:ln/>
        </p:spPr>
        <p:txBody>
          <a:bodyPr wrap="square" lIns="0" tIns="0" rIns="0" bIns="0" rtlCol="0" anchor="t"/>
          <a:lstStyle/>
          <a:p>
            <a:pPr marL="0" indent="0">
              <a:lnSpc>
                <a:spcPct val="112000"/>
              </a:lnSpc>
              <a:buNone/>
            </a:pPr>
            <a:r>
              <a:rPr lang="en-US" sz="1500" b="1" dirty="0">
                <a:solidFill>
                  <a:srgbClr val="79C0FF"/>
                </a:solidFill>
                <a:latin typeface="Consolas" pitchFamily="34" charset="0"/>
                <a:ea typeface="Consolas" pitchFamily="34" charset="-122"/>
                <a:cs typeface="Consolas" pitchFamily="34" charset="-120"/>
              </a:rPr>
              <a:t>FROM</a:t>
            </a:r>
            <a:r>
              <a:rPr lang="en-US" sz="1500" dirty="0">
                <a:solidFill>
                  <a:srgbClr val="E6EDF3"/>
                </a:solidFill>
                <a:latin typeface="Consolas" pitchFamily="34" charset="0"/>
                <a:ea typeface="Consolas" pitchFamily="34" charset="-122"/>
                <a:cs typeface="Consolas" pitchFamily="34" charset="-120"/>
              </a:rPr>
              <a:t> nginx:alpine</a:t>
            </a:r>
            <a:endParaRPr lang="en-US" sz="1500" dirty="0"/>
          </a:p>
          <a:p>
            <a:pPr marL="0" indent="0">
              <a:lnSpc>
                <a:spcPct val="112000"/>
              </a:lnSpc>
              <a:buNone/>
            </a:pPr>
            <a:r>
              <a:rPr lang="en-US" sz="1500" b="1" dirty="0">
                <a:solidFill>
                  <a:srgbClr val="79C0FF"/>
                </a:solidFill>
                <a:latin typeface="Consolas" pitchFamily="34" charset="0"/>
                <a:ea typeface="Consolas" pitchFamily="34" charset="-122"/>
                <a:cs typeface="Consolas" pitchFamily="34" charset="-120"/>
              </a:rPr>
              <a:t>COPY</a:t>
            </a:r>
            <a:r>
              <a:rPr lang="en-US" sz="1500" dirty="0">
                <a:solidFill>
                  <a:srgbClr val="E6EDF3"/>
                </a:solidFill>
                <a:latin typeface="Consolas" pitchFamily="34" charset="0"/>
                <a:ea typeface="Consolas" pitchFamily="34" charset="-122"/>
                <a:cs typeface="Consolas" pitchFamily="34" charset="-120"/>
              </a:rPr>
              <a:t> index.html /usr/share/nginx/html/</a:t>
            </a:r>
            <a:endParaRPr lang="en-US" sz="1500" dirty="0"/>
          </a:p>
          <a:p>
            <a:pPr marL="0" indent="0">
              <a:lnSpc>
                <a:spcPct val="112000"/>
              </a:lnSpc>
              <a:buNone/>
            </a:pPr>
            <a:r>
              <a:rPr lang="en-US" sz="1500" b="1" dirty="0">
                <a:solidFill>
                  <a:srgbClr val="79C0FF"/>
                </a:solidFill>
                <a:latin typeface="Consolas" pitchFamily="34" charset="0"/>
                <a:ea typeface="Consolas" pitchFamily="34" charset="-122"/>
                <a:cs typeface="Consolas" pitchFamily="34" charset="-120"/>
              </a:rPr>
              <a:t>EXPOSE</a:t>
            </a:r>
            <a:r>
              <a:rPr lang="en-US" sz="1500" dirty="0">
                <a:solidFill>
                  <a:srgbClr val="E6EDF3"/>
                </a:solidFill>
                <a:latin typeface="Consolas" pitchFamily="34" charset="0"/>
                <a:ea typeface="Consolas" pitchFamily="34" charset="-122"/>
                <a:cs typeface="Consolas" pitchFamily="34" charset="-120"/>
              </a:rPr>
              <a:t> 80</a:t>
            </a:r>
            <a:endParaRPr lang="en-US" sz="1500" dirty="0"/>
          </a:p>
        </p:txBody>
      </p:sp>
      <p:sp>
        <p:nvSpPr>
          <p:cNvPr id="10" name="Shape 8"/>
          <p:cNvSpPr/>
          <p:nvPr/>
        </p:nvSpPr>
        <p:spPr>
          <a:xfrm>
            <a:off x="731520" y="3474720"/>
            <a:ext cx="10698480" cy="2697480"/>
          </a:xfrm>
          <a:prstGeom prst="roundRect">
            <a:avLst>
              <a:gd name="adj" fmla="val 2712"/>
            </a:avLst>
          </a:prstGeom>
          <a:solidFill>
            <a:srgbClr val="070D1A"/>
          </a:solidFill>
          <a:ln w="12700">
            <a:solidFill>
              <a:srgbClr val="23314F"/>
            </a:solidFill>
            <a:prstDash val="solid"/>
          </a:ln>
        </p:spPr>
      </p:sp>
      <p:sp>
        <p:nvSpPr>
          <p:cNvPr id="11" name="Shape 9"/>
          <p:cNvSpPr/>
          <p:nvPr/>
        </p:nvSpPr>
        <p:spPr>
          <a:xfrm>
            <a:off x="914400" y="3621024"/>
            <a:ext cx="100584" cy="100584"/>
          </a:xfrm>
          <a:prstGeom prst="ellipse">
            <a:avLst/>
          </a:prstGeom>
          <a:solidFill>
            <a:srgbClr val="FF5F57"/>
          </a:solidFill>
          <a:ln w="12700">
            <a:solidFill>
              <a:srgbClr val="FF5F57"/>
            </a:solidFill>
            <a:prstDash val="solid"/>
          </a:ln>
        </p:spPr>
      </p:sp>
      <p:sp>
        <p:nvSpPr>
          <p:cNvPr id="12" name="Shape 10"/>
          <p:cNvSpPr/>
          <p:nvPr/>
        </p:nvSpPr>
        <p:spPr>
          <a:xfrm>
            <a:off x="1097280" y="3621024"/>
            <a:ext cx="100584" cy="100584"/>
          </a:xfrm>
          <a:prstGeom prst="ellipse">
            <a:avLst/>
          </a:prstGeom>
          <a:solidFill>
            <a:srgbClr val="FEBC2E"/>
          </a:solidFill>
          <a:ln w="12700">
            <a:solidFill>
              <a:srgbClr val="FEBC2E"/>
            </a:solidFill>
            <a:prstDash val="solid"/>
          </a:ln>
        </p:spPr>
      </p:sp>
      <p:sp>
        <p:nvSpPr>
          <p:cNvPr id="13" name="Shape 11"/>
          <p:cNvSpPr/>
          <p:nvPr/>
        </p:nvSpPr>
        <p:spPr>
          <a:xfrm>
            <a:off x="1280160" y="3621024"/>
            <a:ext cx="100584" cy="100584"/>
          </a:xfrm>
          <a:prstGeom prst="ellipse">
            <a:avLst/>
          </a:prstGeom>
          <a:solidFill>
            <a:srgbClr val="28C840"/>
          </a:solidFill>
          <a:ln w="12700">
            <a:solidFill>
              <a:srgbClr val="28C840"/>
            </a:solidFill>
            <a:prstDash val="solid"/>
          </a:ln>
        </p:spPr>
      </p:sp>
      <p:sp>
        <p:nvSpPr>
          <p:cNvPr id="14" name="Text 12"/>
          <p:cNvSpPr txBox="1"/>
          <p:nvPr/>
        </p:nvSpPr>
        <p:spPr>
          <a:xfrm>
            <a:off x="1508760" y="3547872"/>
            <a:ext cx="978408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terminal</a:t>
            </a:r>
            <a:endParaRPr lang="en-US" sz="1100" dirty="0"/>
          </a:p>
        </p:txBody>
      </p:sp>
      <p:sp>
        <p:nvSpPr>
          <p:cNvPr id="15" name="Text 13"/>
          <p:cNvSpPr txBox="1"/>
          <p:nvPr/>
        </p:nvSpPr>
        <p:spPr>
          <a:xfrm>
            <a:off x="960120" y="3895344"/>
            <a:ext cx="10332720" cy="2185416"/>
          </a:xfrm>
          <a:prstGeom prst="rect">
            <a:avLst/>
          </a:prstGeom>
          <a:noFill/>
          <a:ln/>
        </p:spPr>
        <p:txBody>
          <a:bodyPr wrap="square" lIns="0" tIns="0" rIns="0" bIns="0" rtlCol="0" anchor="t"/>
          <a:lstStyle/>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build -t myapp:1.0 .</a:t>
            </a:r>
            <a:r>
              <a:rPr lang="en-US" sz="1500" dirty="0">
                <a:solidFill>
                  <a:srgbClr val="7D8BA6"/>
                </a:solidFill>
                <a:latin typeface="Consolas" pitchFamily="34" charset="0"/>
                <a:ea typeface="Consolas" pitchFamily="34" charset="-122"/>
                <a:cs typeface="Consolas" pitchFamily="34" charset="-120"/>
              </a:rPr>
              <a:t>  # Dockerfile → image</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tag myapp:1.0 &lt;you&gt;/myapp:1.0</a:t>
            </a:r>
            <a:r>
              <a:rPr lang="en-US" sz="1500" dirty="0">
                <a:solidFill>
                  <a:srgbClr val="7D8BA6"/>
                </a:solidFill>
                <a:latin typeface="Consolas" pitchFamily="34" charset="0"/>
                <a:ea typeface="Consolas" pitchFamily="34" charset="-122"/>
                <a:cs typeface="Consolas" pitchFamily="34" charset="-120"/>
              </a:rPr>
              <a:t>  # add your registry name</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push &lt;you&gt;/myapp:1.0</a:t>
            </a:r>
            <a:r>
              <a:rPr lang="en-US" sz="1500" dirty="0">
                <a:solidFill>
                  <a:srgbClr val="7D8BA6"/>
                </a:solidFill>
                <a:latin typeface="Consolas" pitchFamily="34" charset="0"/>
                <a:ea typeface="Consolas" pitchFamily="34" charset="-122"/>
                <a:cs typeface="Consolas" pitchFamily="34" charset="-120"/>
              </a:rPr>
              <a:t>  # image → registry</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pull &lt;you&gt;/myapp:1.0</a:t>
            </a:r>
            <a:r>
              <a:rPr lang="en-US" sz="1500" dirty="0">
                <a:solidFill>
                  <a:srgbClr val="7D8BA6"/>
                </a:solidFill>
                <a:latin typeface="Consolas" pitchFamily="34" charset="0"/>
                <a:ea typeface="Consolas" pitchFamily="34" charset="-122"/>
                <a:cs typeface="Consolas" pitchFamily="34" charset="-120"/>
              </a:rPr>
              <a:t>  # registry → any machine</a:t>
            </a:r>
            <a:endParaRPr lang="en-US" sz="1500" dirty="0"/>
          </a:p>
          <a:p>
            <a:pPr marL="0" indent="0">
              <a:lnSpc>
                <a:spcPct val="112000"/>
              </a:lnSpc>
              <a:buNone/>
            </a:pPr>
            <a:r>
              <a:rPr lang="en-US" sz="1500" dirty="0">
                <a:solidFill>
                  <a:srgbClr val="14C8B0"/>
                </a:solidFill>
                <a:latin typeface="Consolas" pitchFamily="34" charset="0"/>
                <a:ea typeface="Consolas" pitchFamily="34" charset="-122"/>
                <a:cs typeface="Consolas" pitchFamily="34" charset="-120"/>
              </a:rPr>
              <a:t>$ </a:t>
            </a:r>
            <a:r>
              <a:rPr lang="en-US" sz="1500" dirty="0">
                <a:solidFill>
                  <a:srgbClr val="E6EDF3"/>
                </a:solidFill>
                <a:latin typeface="Consolas" pitchFamily="34" charset="0"/>
                <a:ea typeface="Consolas" pitchFamily="34" charset="-122"/>
                <a:cs typeface="Consolas" pitchFamily="34" charset="-120"/>
              </a:rPr>
              <a:t>docker run -d -p 8080:80 &lt;you&gt;/myapp:1.0</a:t>
            </a:r>
            <a:r>
              <a:rPr lang="en-US" sz="1500" dirty="0">
                <a:solidFill>
                  <a:srgbClr val="7D8BA6"/>
                </a:solidFill>
                <a:latin typeface="Consolas" pitchFamily="34" charset="0"/>
                <a:ea typeface="Consolas" pitchFamily="34" charset="-122"/>
                <a:cs typeface="Consolas" pitchFamily="34" charset="-120"/>
              </a:rPr>
              <a:t>  # image → running container</a:t>
            </a:r>
            <a:endParaRPr lang="en-US" sz="1500" dirty="0"/>
          </a:p>
        </p:txBody>
      </p:sp>
      <p:sp>
        <p:nvSpPr>
          <p:cNvPr id="16" name="Text 14"/>
          <p:cNvSpPr txBox="1"/>
          <p:nvPr/>
        </p:nvSpPr>
        <p:spPr>
          <a:xfrm>
            <a:off x="6035040" y="1463040"/>
            <a:ext cx="539496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WHAT EACH LINE DOES</a:t>
            </a:r>
            <a:endParaRPr lang="en-US" sz="1100" dirty="0"/>
          </a:p>
        </p:txBody>
      </p:sp>
      <p:sp>
        <p:nvSpPr>
          <p:cNvPr id="17" name="Text 15"/>
          <p:cNvSpPr txBox="1"/>
          <p:nvPr/>
        </p:nvSpPr>
        <p:spPr>
          <a:xfrm>
            <a:off x="6035040" y="1719072"/>
            <a:ext cx="5394960" cy="539496"/>
          </a:xfrm>
          <a:prstGeom prst="rect">
            <a:avLst/>
          </a:prstGeom>
          <a:noFill/>
          <a:ln/>
        </p:spPr>
        <p:txBody>
          <a:bodyPr wrap="square" lIns="0" tIns="0" rIns="0" bIns="0" rtlCol="0" anchor="t"/>
          <a:lstStyle/>
          <a:p>
            <a:pPr marL="0" indent="0">
              <a:buNone/>
            </a:pPr>
            <a:r>
              <a:rPr lang="en-US" sz="1400" dirty="0">
                <a:solidFill>
                  <a:schemeClr val="bg1"/>
                </a:solidFill>
              </a:rPr>
              <a:t>FROM picks a ready base, COPY adds your file, EXPOSE documents the port.</a:t>
            </a:r>
            <a:endParaRPr lang="en-US" sz="1400" dirty="0"/>
          </a:p>
        </p:txBody>
      </p:sp>
      <p:sp>
        <p:nvSpPr>
          <p:cNvPr id="18" name="Text 16"/>
          <p:cNvSpPr txBox="1"/>
          <p:nvPr/>
        </p:nvSpPr>
        <p:spPr>
          <a:xfrm>
            <a:off x="6035040" y="2368296"/>
            <a:ext cx="539496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OBSERVE</a:t>
            </a:r>
            <a:endParaRPr lang="en-US" sz="1100" dirty="0"/>
          </a:p>
        </p:txBody>
      </p:sp>
      <p:sp>
        <p:nvSpPr>
          <p:cNvPr id="19" name="Text 17"/>
          <p:cNvSpPr txBox="1"/>
          <p:nvPr/>
        </p:nvSpPr>
        <p:spPr>
          <a:xfrm>
            <a:off x="6035040" y="2624328"/>
            <a:ext cx="5394960" cy="539496"/>
          </a:xfrm>
          <a:prstGeom prst="rect">
            <a:avLst/>
          </a:prstGeom>
          <a:noFill/>
          <a:ln/>
        </p:spPr>
        <p:txBody>
          <a:bodyPr wrap="square" lIns="0" tIns="0" rIns="0" bIns="0" rtlCol="0" anchor="t"/>
          <a:lstStyle/>
          <a:p>
            <a:pPr marL="0" indent="0">
              <a:buNone/>
            </a:pPr>
            <a:r>
              <a:rPr lang="en-US" sz="1400" dirty="0">
                <a:solidFill>
                  <a:schemeClr val="bg1"/>
                </a:solidFill>
              </a:rPr>
              <a:t>docker images lists myapp:1.0; localhost:8080 shows your page.</a:t>
            </a:r>
            <a:endParaRPr lang="en-US" sz="14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METHOD 2 · DOCKER COMMIT</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Snapshot a container you changed by hand</a:t>
            </a:r>
            <a:endParaRPr lang="en-US" sz="3000" dirty="0"/>
          </a:p>
        </p:txBody>
      </p:sp>
      <p:sp>
        <p:nvSpPr>
          <p:cNvPr id="4" name="Text 2"/>
          <p:cNvSpPr txBox="1"/>
          <p:nvPr/>
        </p:nvSpPr>
        <p:spPr>
          <a:xfrm>
            <a:off x="731520" y="1463040"/>
            <a:ext cx="2514600" cy="365760"/>
          </a:xfrm>
          <a:prstGeom prst="rect">
            <a:avLst/>
          </a:prstGeom>
          <a:noFill/>
          <a:ln/>
        </p:spPr>
        <p:txBody>
          <a:bodyPr wrap="square" lIns="0" tIns="0" rIns="0" bIns="0" rtlCol="0" anchor="t"/>
          <a:lstStyle/>
          <a:p>
            <a:pPr marL="0" indent="0" algn="ctr">
              <a:buNone/>
            </a:pPr>
            <a:r>
              <a:rPr lang="en-US" sz="1700" b="1" dirty="0">
                <a:solidFill>
                  <a:schemeClr val="bg1"/>
                </a:solidFill>
              </a:rPr>
              <a:t>1. Base image</a:t>
            </a:r>
            <a:endParaRPr lang="en-US" sz="1700" dirty="0"/>
          </a:p>
        </p:txBody>
      </p:sp>
      <p:sp>
        <p:nvSpPr>
          <p:cNvPr id="5" name="Text 3"/>
          <p:cNvSpPr txBox="1"/>
          <p:nvPr/>
        </p:nvSpPr>
        <p:spPr>
          <a:xfrm>
            <a:off x="731520" y="4846320"/>
            <a:ext cx="2514600" cy="640080"/>
          </a:xfrm>
          <a:prstGeom prst="rect">
            <a:avLst/>
          </a:prstGeom>
          <a:noFill/>
          <a:ln/>
        </p:spPr>
        <p:txBody>
          <a:bodyPr wrap="square" lIns="0" tIns="0" rIns="0" bIns="0" rtlCol="0" anchor="t"/>
          <a:lstStyle/>
          <a:p>
            <a:pPr marL="0" indent="0" algn="ctr">
              <a:buNone/>
            </a:pPr>
            <a:r>
              <a:rPr lang="en-US" sz="1400" dirty="0">
                <a:solidFill>
                  <a:schemeClr val="bg2"/>
                </a:solidFill>
              </a:rPr>
              <a:t>what you start with</a:t>
            </a:r>
            <a:endParaRPr lang="en-US" sz="1400" dirty="0"/>
          </a:p>
        </p:txBody>
      </p:sp>
      <p:sp>
        <p:nvSpPr>
          <p:cNvPr id="6" name="Text 4"/>
          <p:cNvSpPr txBox="1"/>
          <p:nvPr/>
        </p:nvSpPr>
        <p:spPr>
          <a:xfrm>
            <a:off x="3474720" y="1463040"/>
            <a:ext cx="2514600" cy="365760"/>
          </a:xfrm>
          <a:prstGeom prst="rect">
            <a:avLst/>
          </a:prstGeom>
          <a:noFill/>
          <a:ln/>
        </p:spPr>
        <p:txBody>
          <a:bodyPr wrap="square" lIns="0" tIns="0" rIns="0" bIns="0" rtlCol="0" anchor="t"/>
          <a:lstStyle/>
          <a:p>
            <a:pPr marL="0" indent="0" algn="ctr">
              <a:buNone/>
            </a:pPr>
            <a:r>
              <a:rPr lang="en-US" sz="1700" b="1" dirty="0">
                <a:solidFill>
                  <a:schemeClr val="bg1"/>
                </a:solidFill>
              </a:rPr>
              <a:t>2. Container</a:t>
            </a:r>
            <a:endParaRPr lang="en-US" sz="1700" dirty="0"/>
          </a:p>
        </p:txBody>
      </p:sp>
      <p:sp>
        <p:nvSpPr>
          <p:cNvPr id="7" name="Text 5"/>
          <p:cNvSpPr txBox="1"/>
          <p:nvPr/>
        </p:nvSpPr>
        <p:spPr>
          <a:xfrm>
            <a:off x="3474720" y="4846320"/>
            <a:ext cx="2514600" cy="640080"/>
          </a:xfrm>
          <a:prstGeom prst="rect">
            <a:avLst/>
          </a:prstGeom>
          <a:noFill/>
          <a:ln/>
        </p:spPr>
        <p:txBody>
          <a:bodyPr wrap="square" lIns="0" tIns="0" rIns="0" bIns="0" rtlCol="0" anchor="t"/>
          <a:lstStyle/>
          <a:p>
            <a:pPr marL="0" indent="0" algn="ctr">
              <a:buNone/>
            </a:pPr>
            <a:r>
              <a:rPr lang="en-US" sz="1400" dirty="0">
                <a:solidFill>
                  <a:schemeClr val="bg2"/>
                </a:solidFill>
              </a:rPr>
              <a:t>you install a tool and add a file</a:t>
            </a:r>
            <a:endParaRPr lang="en-US" sz="1400" dirty="0"/>
          </a:p>
        </p:txBody>
      </p:sp>
      <p:sp>
        <p:nvSpPr>
          <p:cNvPr id="8" name="Text 6"/>
          <p:cNvSpPr txBox="1"/>
          <p:nvPr/>
        </p:nvSpPr>
        <p:spPr>
          <a:xfrm>
            <a:off x="6217920" y="1463040"/>
            <a:ext cx="2514600" cy="365760"/>
          </a:xfrm>
          <a:prstGeom prst="rect">
            <a:avLst/>
          </a:prstGeom>
          <a:noFill/>
          <a:ln/>
        </p:spPr>
        <p:txBody>
          <a:bodyPr wrap="square" lIns="0" tIns="0" rIns="0" bIns="0" rtlCol="0" anchor="t"/>
          <a:lstStyle/>
          <a:p>
            <a:pPr marL="0" indent="0" algn="ctr">
              <a:buNone/>
            </a:pPr>
            <a:r>
              <a:rPr lang="en-US" sz="1700" b="1" dirty="0">
                <a:solidFill>
                  <a:schemeClr val="bg1"/>
                </a:solidFill>
              </a:rPr>
              <a:t>3. docker commit</a:t>
            </a:r>
            <a:endParaRPr lang="en-US" sz="1700" dirty="0"/>
          </a:p>
        </p:txBody>
      </p:sp>
      <p:sp>
        <p:nvSpPr>
          <p:cNvPr id="9" name="Text 7"/>
          <p:cNvSpPr txBox="1"/>
          <p:nvPr/>
        </p:nvSpPr>
        <p:spPr>
          <a:xfrm>
            <a:off x="6217920" y="4846320"/>
            <a:ext cx="2514600" cy="640080"/>
          </a:xfrm>
          <a:prstGeom prst="rect">
            <a:avLst/>
          </a:prstGeom>
          <a:noFill/>
          <a:ln/>
        </p:spPr>
        <p:txBody>
          <a:bodyPr wrap="square" lIns="0" tIns="0" rIns="0" bIns="0" rtlCol="0" anchor="t"/>
          <a:lstStyle/>
          <a:p>
            <a:pPr marL="0" indent="0" algn="ctr">
              <a:buNone/>
            </a:pPr>
            <a:r>
              <a:rPr lang="en-US" sz="1400" dirty="0">
                <a:solidFill>
                  <a:schemeClr val="bg2"/>
                </a:solidFill>
              </a:rPr>
              <a:t>all of it is frozen into a new image</a:t>
            </a:r>
            <a:endParaRPr lang="en-US" sz="1400" dirty="0"/>
          </a:p>
        </p:txBody>
      </p:sp>
      <p:sp>
        <p:nvSpPr>
          <p:cNvPr id="10" name="Text 8"/>
          <p:cNvSpPr txBox="1"/>
          <p:nvPr/>
        </p:nvSpPr>
        <p:spPr>
          <a:xfrm>
            <a:off x="8961120" y="1463040"/>
            <a:ext cx="2514600" cy="365760"/>
          </a:xfrm>
          <a:prstGeom prst="rect">
            <a:avLst/>
          </a:prstGeom>
          <a:noFill/>
          <a:ln/>
        </p:spPr>
        <p:txBody>
          <a:bodyPr wrap="square" lIns="0" tIns="0" rIns="0" bIns="0" rtlCol="0" anchor="t"/>
          <a:lstStyle/>
          <a:p>
            <a:pPr marL="0" indent="0" algn="ctr">
              <a:buNone/>
            </a:pPr>
            <a:r>
              <a:rPr lang="en-US" sz="1700" b="1" dirty="0">
                <a:solidFill>
                  <a:schemeClr val="bg1"/>
                </a:solidFill>
              </a:rPr>
              <a:t>4. Run it anywhere</a:t>
            </a:r>
            <a:endParaRPr lang="en-US" sz="1700" dirty="0"/>
          </a:p>
        </p:txBody>
      </p:sp>
      <p:sp>
        <p:nvSpPr>
          <p:cNvPr id="11" name="Text 9"/>
          <p:cNvSpPr txBox="1"/>
          <p:nvPr/>
        </p:nvSpPr>
        <p:spPr>
          <a:xfrm>
            <a:off x="8961120" y="4846320"/>
            <a:ext cx="2514600" cy="640080"/>
          </a:xfrm>
          <a:prstGeom prst="rect">
            <a:avLst/>
          </a:prstGeom>
          <a:noFill/>
          <a:ln/>
        </p:spPr>
        <p:txBody>
          <a:bodyPr wrap="square" lIns="0" tIns="0" rIns="0" bIns="0" rtlCol="0" anchor="t"/>
          <a:lstStyle/>
          <a:p>
            <a:pPr marL="0" indent="0" algn="ctr">
              <a:buNone/>
            </a:pPr>
            <a:r>
              <a:rPr lang="en-US" sz="1400" dirty="0">
                <a:solidFill>
                  <a:schemeClr val="bg2"/>
                </a:solidFill>
              </a:rPr>
              <a:t>every new container starts with all three</a:t>
            </a:r>
            <a:endParaRPr lang="en-US" sz="1400" dirty="0"/>
          </a:p>
        </p:txBody>
      </p:sp>
      <p:sp>
        <p:nvSpPr>
          <p:cNvPr id="12" name="Shape 10"/>
          <p:cNvSpPr/>
          <p:nvPr/>
        </p:nvSpPr>
        <p:spPr>
          <a:xfrm>
            <a:off x="914400" y="3840480"/>
            <a:ext cx="2148840" cy="548640"/>
          </a:xfrm>
          <a:prstGeom prst="roundRect">
            <a:avLst>
              <a:gd name="adj" fmla="val 16667"/>
            </a:avLst>
          </a:prstGeom>
          <a:solidFill>
            <a:srgbClr val="2B3346"/>
          </a:solidFill>
          <a:ln w="12700">
            <a:solidFill>
              <a:srgbClr val="2B3346"/>
            </a:solidFill>
            <a:prstDash val="solid"/>
          </a:ln>
        </p:spPr>
      </p:sp>
      <p:sp>
        <p:nvSpPr>
          <p:cNvPr id="13" name="Text 11"/>
          <p:cNvSpPr txBox="1"/>
          <p:nvPr/>
        </p:nvSpPr>
        <p:spPr>
          <a:xfrm>
            <a:off x="987552" y="38404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Ubuntu</a:t>
            </a:r>
            <a:endParaRPr lang="en-US" sz="1400" dirty="0"/>
          </a:p>
        </p:txBody>
      </p:sp>
      <p:sp>
        <p:nvSpPr>
          <p:cNvPr id="14" name="Shape 12"/>
          <p:cNvSpPr/>
          <p:nvPr/>
        </p:nvSpPr>
        <p:spPr>
          <a:xfrm>
            <a:off x="3474720" y="1965960"/>
            <a:ext cx="2514600" cy="2697480"/>
          </a:xfrm>
          <a:prstGeom prst="roundRect">
            <a:avLst>
              <a:gd name="adj" fmla="val 3636"/>
            </a:avLst>
          </a:prstGeom>
          <a:solidFill>
            <a:srgbClr val="0B1426"/>
          </a:solidFill>
          <a:ln w="19050">
            <a:solidFill>
              <a:schemeClr val="bg2"/>
            </a:solidFill>
            <a:prstDash val="dash"/>
          </a:ln>
        </p:spPr>
      </p:sp>
      <p:sp>
        <p:nvSpPr>
          <p:cNvPr id="15" name="Text 13"/>
          <p:cNvSpPr txBox="1"/>
          <p:nvPr/>
        </p:nvSpPr>
        <p:spPr>
          <a:xfrm>
            <a:off x="3474720" y="2057400"/>
            <a:ext cx="2514600" cy="320040"/>
          </a:xfrm>
          <a:prstGeom prst="rect">
            <a:avLst/>
          </a:prstGeom>
          <a:noFill/>
          <a:ln/>
        </p:spPr>
        <p:txBody>
          <a:bodyPr wrap="square" lIns="0" tIns="0" rIns="0" bIns="0" rtlCol="0" anchor="t"/>
          <a:lstStyle/>
          <a:p>
            <a:pPr marL="0" indent="0" algn="ctr">
              <a:buNone/>
            </a:pPr>
            <a:r>
              <a:rPr lang="en-US" sz="1300" dirty="0">
                <a:solidFill>
                  <a:schemeClr val="bg2"/>
                </a:solidFill>
              </a:rPr>
              <a:t>running, editable</a:t>
            </a:r>
            <a:endParaRPr lang="en-US" sz="1300" dirty="0"/>
          </a:p>
        </p:txBody>
      </p:sp>
      <p:sp>
        <p:nvSpPr>
          <p:cNvPr id="16" name="Shape 14"/>
          <p:cNvSpPr/>
          <p:nvPr/>
        </p:nvSpPr>
        <p:spPr>
          <a:xfrm>
            <a:off x="3657600" y="2468880"/>
            <a:ext cx="2148840" cy="548640"/>
          </a:xfrm>
          <a:prstGeom prst="roundRect">
            <a:avLst>
              <a:gd name="adj" fmla="val 16667"/>
            </a:avLst>
          </a:prstGeom>
          <a:solidFill>
            <a:srgbClr val="2E2410"/>
          </a:solidFill>
          <a:ln w="12700">
            <a:solidFill>
              <a:schemeClr val="accent3"/>
            </a:solidFill>
            <a:prstDash val="solid"/>
          </a:ln>
        </p:spPr>
      </p:sp>
      <p:sp>
        <p:nvSpPr>
          <p:cNvPr id="17" name="Text 15"/>
          <p:cNvSpPr txBox="1"/>
          <p:nvPr/>
        </p:nvSpPr>
        <p:spPr>
          <a:xfrm>
            <a:off x="3730752" y="24688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accent3"/>
                </a:solidFill>
              </a:rPr>
              <a:t>figlet installed</a:t>
            </a:r>
            <a:endParaRPr lang="en-US" sz="1400" dirty="0"/>
          </a:p>
        </p:txBody>
      </p:sp>
      <p:sp>
        <p:nvSpPr>
          <p:cNvPr id="18" name="Shape 16"/>
          <p:cNvSpPr/>
          <p:nvPr/>
        </p:nvSpPr>
        <p:spPr>
          <a:xfrm>
            <a:off x="3657600" y="3154680"/>
            <a:ext cx="2148840" cy="548640"/>
          </a:xfrm>
          <a:prstGeom prst="roundRect">
            <a:avLst>
              <a:gd name="adj" fmla="val 16667"/>
            </a:avLst>
          </a:prstGeom>
          <a:solidFill>
            <a:srgbClr val="2E2410"/>
          </a:solidFill>
          <a:ln w="12700">
            <a:solidFill>
              <a:schemeClr val="accent3"/>
            </a:solidFill>
            <a:prstDash val="solid"/>
          </a:ln>
        </p:spPr>
      </p:sp>
      <p:sp>
        <p:nvSpPr>
          <p:cNvPr id="19" name="Text 17"/>
          <p:cNvSpPr txBox="1"/>
          <p:nvPr/>
        </p:nvSpPr>
        <p:spPr>
          <a:xfrm>
            <a:off x="3730752" y="31546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accent3"/>
                </a:solidFill>
              </a:rPr>
              <a:t>notes.txt added</a:t>
            </a:r>
            <a:endParaRPr lang="en-US" sz="1400" dirty="0"/>
          </a:p>
        </p:txBody>
      </p:sp>
      <p:sp>
        <p:nvSpPr>
          <p:cNvPr id="20" name="Shape 18"/>
          <p:cNvSpPr/>
          <p:nvPr/>
        </p:nvSpPr>
        <p:spPr>
          <a:xfrm>
            <a:off x="3657600" y="3840480"/>
            <a:ext cx="2148840" cy="548640"/>
          </a:xfrm>
          <a:prstGeom prst="roundRect">
            <a:avLst>
              <a:gd name="adj" fmla="val 16667"/>
            </a:avLst>
          </a:prstGeom>
          <a:solidFill>
            <a:srgbClr val="2B3346"/>
          </a:solidFill>
          <a:ln w="12700">
            <a:solidFill>
              <a:srgbClr val="2B3346"/>
            </a:solidFill>
            <a:prstDash val="solid"/>
          </a:ln>
        </p:spPr>
      </p:sp>
      <p:sp>
        <p:nvSpPr>
          <p:cNvPr id="21" name="Text 19"/>
          <p:cNvSpPr txBox="1"/>
          <p:nvPr/>
        </p:nvSpPr>
        <p:spPr>
          <a:xfrm>
            <a:off x="3730752" y="38404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Ubuntu</a:t>
            </a:r>
            <a:endParaRPr lang="en-US" sz="1400" dirty="0"/>
          </a:p>
        </p:txBody>
      </p:sp>
      <p:sp>
        <p:nvSpPr>
          <p:cNvPr id="22" name="Shape 20"/>
          <p:cNvSpPr/>
          <p:nvPr/>
        </p:nvSpPr>
        <p:spPr>
          <a:xfrm>
            <a:off x="6217920" y="1965960"/>
            <a:ext cx="2514600" cy="2697480"/>
          </a:xfrm>
          <a:prstGeom prst="roundRect">
            <a:avLst>
              <a:gd name="adj" fmla="val 3636"/>
            </a:avLst>
          </a:prstGeom>
          <a:solidFill>
            <a:srgbClr val="0F2A4D"/>
          </a:solidFill>
          <a:ln w="19050">
            <a:solidFill>
              <a:schemeClr val="accent1"/>
            </a:solidFill>
            <a:prstDash val="solid"/>
          </a:ln>
        </p:spPr>
      </p:sp>
      <p:sp>
        <p:nvSpPr>
          <p:cNvPr id="23" name="Text 21"/>
          <p:cNvSpPr txBox="1"/>
          <p:nvPr/>
        </p:nvSpPr>
        <p:spPr>
          <a:xfrm>
            <a:off x="6217920" y="2057400"/>
            <a:ext cx="2514600" cy="320040"/>
          </a:xfrm>
          <a:prstGeom prst="rect">
            <a:avLst/>
          </a:prstGeom>
          <a:noFill/>
          <a:ln/>
        </p:spPr>
        <p:txBody>
          <a:bodyPr wrap="square" lIns="0" tIns="0" rIns="0" bIns="0" rtlCol="0" anchor="t"/>
          <a:lstStyle/>
          <a:p>
            <a:pPr marL="0" indent="0" algn="ctr">
              <a:buNone/>
            </a:pPr>
            <a:r>
              <a:rPr lang="en-US" sz="1300" dirty="0">
                <a:solidFill>
                  <a:srgbClr val="9FD3FF"/>
                </a:solidFill>
                <a:latin typeface="Consolas" pitchFamily="34" charset="0"/>
                <a:ea typeface="Consolas" pitchFamily="34" charset="-122"/>
                <a:cs typeface="Consolas" pitchFamily="34" charset="-120"/>
              </a:rPr>
              <a:t>my-ubuntu:custom</a:t>
            </a:r>
            <a:endParaRPr lang="en-US" sz="1300" dirty="0"/>
          </a:p>
        </p:txBody>
      </p:sp>
      <p:sp>
        <p:nvSpPr>
          <p:cNvPr id="24" name="Shape 22"/>
          <p:cNvSpPr/>
          <p:nvPr/>
        </p:nvSpPr>
        <p:spPr>
          <a:xfrm>
            <a:off x="6400800" y="2468880"/>
            <a:ext cx="2148840" cy="548640"/>
          </a:xfrm>
          <a:prstGeom prst="roundRect">
            <a:avLst>
              <a:gd name="adj" fmla="val 16667"/>
            </a:avLst>
          </a:prstGeom>
          <a:solidFill>
            <a:srgbClr val="2E2410"/>
          </a:solidFill>
          <a:ln w="12700">
            <a:solidFill>
              <a:schemeClr val="accent3"/>
            </a:solidFill>
            <a:prstDash val="solid"/>
          </a:ln>
        </p:spPr>
      </p:sp>
      <p:sp>
        <p:nvSpPr>
          <p:cNvPr id="25" name="Text 23"/>
          <p:cNvSpPr txBox="1"/>
          <p:nvPr/>
        </p:nvSpPr>
        <p:spPr>
          <a:xfrm>
            <a:off x="6473952" y="24688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accent3"/>
                </a:solidFill>
              </a:rPr>
              <a:t>figlet installed</a:t>
            </a:r>
            <a:endParaRPr lang="en-US" sz="1400" dirty="0"/>
          </a:p>
        </p:txBody>
      </p:sp>
      <p:sp>
        <p:nvSpPr>
          <p:cNvPr id="26" name="Shape 24"/>
          <p:cNvSpPr/>
          <p:nvPr/>
        </p:nvSpPr>
        <p:spPr>
          <a:xfrm>
            <a:off x="6400800" y="3154680"/>
            <a:ext cx="2148840" cy="548640"/>
          </a:xfrm>
          <a:prstGeom prst="roundRect">
            <a:avLst>
              <a:gd name="adj" fmla="val 16667"/>
            </a:avLst>
          </a:prstGeom>
          <a:solidFill>
            <a:srgbClr val="2E2410"/>
          </a:solidFill>
          <a:ln w="12700">
            <a:solidFill>
              <a:schemeClr val="accent3"/>
            </a:solidFill>
            <a:prstDash val="solid"/>
          </a:ln>
        </p:spPr>
      </p:sp>
      <p:sp>
        <p:nvSpPr>
          <p:cNvPr id="27" name="Text 25"/>
          <p:cNvSpPr txBox="1"/>
          <p:nvPr/>
        </p:nvSpPr>
        <p:spPr>
          <a:xfrm>
            <a:off x="6473952" y="31546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accent3"/>
                </a:solidFill>
              </a:rPr>
              <a:t>notes.txt added</a:t>
            </a:r>
            <a:endParaRPr lang="en-US" sz="1400" dirty="0"/>
          </a:p>
        </p:txBody>
      </p:sp>
      <p:sp>
        <p:nvSpPr>
          <p:cNvPr id="28" name="Shape 26"/>
          <p:cNvSpPr/>
          <p:nvPr/>
        </p:nvSpPr>
        <p:spPr>
          <a:xfrm>
            <a:off x="6400800" y="3840480"/>
            <a:ext cx="2148840" cy="548640"/>
          </a:xfrm>
          <a:prstGeom prst="roundRect">
            <a:avLst>
              <a:gd name="adj" fmla="val 16667"/>
            </a:avLst>
          </a:prstGeom>
          <a:solidFill>
            <a:srgbClr val="2B3346"/>
          </a:solidFill>
          <a:ln w="12700">
            <a:solidFill>
              <a:srgbClr val="2B3346"/>
            </a:solidFill>
            <a:prstDash val="solid"/>
          </a:ln>
        </p:spPr>
      </p:sp>
      <p:sp>
        <p:nvSpPr>
          <p:cNvPr id="29" name="Text 27"/>
          <p:cNvSpPr txBox="1"/>
          <p:nvPr/>
        </p:nvSpPr>
        <p:spPr>
          <a:xfrm>
            <a:off x="6473952" y="38404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Ubuntu</a:t>
            </a:r>
            <a:endParaRPr lang="en-US" sz="1400" dirty="0"/>
          </a:p>
        </p:txBody>
      </p:sp>
      <p:sp>
        <p:nvSpPr>
          <p:cNvPr id="30" name="Shape 28"/>
          <p:cNvSpPr/>
          <p:nvPr/>
        </p:nvSpPr>
        <p:spPr>
          <a:xfrm>
            <a:off x="8961120" y="1965960"/>
            <a:ext cx="2514600" cy="2697480"/>
          </a:xfrm>
          <a:prstGeom prst="roundRect">
            <a:avLst>
              <a:gd name="adj" fmla="val 3636"/>
            </a:avLst>
          </a:prstGeom>
          <a:solidFill>
            <a:srgbClr val="0B1426"/>
          </a:solidFill>
          <a:ln w="19050">
            <a:solidFill>
              <a:schemeClr val="accent2"/>
            </a:solidFill>
            <a:prstDash val="dash"/>
          </a:ln>
        </p:spPr>
      </p:sp>
      <p:sp>
        <p:nvSpPr>
          <p:cNvPr id="31" name="Text 29"/>
          <p:cNvSpPr txBox="1"/>
          <p:nvPr/>
        </p:nvSpPr>
        <p:spPr>
          <a:xfrm>
            <a:off x="8961120" y="2057400"/>
            <a:ext cx="2514600" cy="320040"/>
          </a:xfrm>
          <a:prstGeom prst="rect">
            <a:avLst/>
          </a:prstGeom>
          <a:noFill/>
          <a:ln/>
        </p:spPr>
        <p:txBody>
          <a:bodyPr wrap="square" lIns="0" tIns="0" rIns="0" bIns="0" rtlCol="0" anchor="t"/>
          <a:lstStyle/>
          <a:p>
            <a:pPr marL="0" indent="0" algn="ctr">
              <a:buNone/>
            </a:pPr>
            <a:r>
              <a:rPr lang="en-US" sz="1300" dirty="0">
                <a:solidFill>
                  <a:schemeClr val="accent2"/>
                </a:solidFill>
              </a:rPr>
              <a:t>new containers</a:t>
            </a:r>
            <a:endParaRPr lang="en-US" sz="1300" dirty="0"/>
          </a:p>
        </p:txBody>
      </p:sp>
      <p:sp>
        <p:nvSpPr>
          <p:cNvPr id="32" name="Shape 30"/>
          <p:cNvSpPr/>
          <p:nvPr/>
        </p:nvSpPr>
        <p:spPr>
          <a:xfrm>
            <a:off x="9144000" y="2468880"/>
            <a:ext cx="2148840" cy="548640"/>
          </a:xfrm>
          <a:prstGeom prst="roundRect">
            <a:avLst>
              <a:gd name="adj" fmla="val 16667"/>
            </a:avLst>
          </a:prstGeom>
          <a:solidFill>
            <a:srgbClr val="2E2410"/>
          </a:solidFill>
          <a:ln w="12700">
            <a:solidFill>
              <a:schemeClr val="accent3"/>
            </a:solidFill>
            <a:prstDash val="solid"/>
          </a:ln>
        </p:spPr>
      </p:sp>
      <p:sp>
        <p:nvSpPr>
          <p:cNvPr id="33" name="Text 31"/>
          <p:cNvSpPr txBox="1"/>
          <p:nvPr/>
        </p:nvSpPr>
        <p:spPr>
          <a:xfrm>
            <a:off x="9217152" y="24688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accent3"/>
                </a:solidFill>
              </a:rPr>
              <a:t>figlet installed</a:t>
            </a:r>
            <a:endParaRPr lang="en-US" sz="1400" dirty="0"/>
          </a:p>
        </p:txBody>
      </p:sp>
      <p:sp>
        <p:nvSpPr>
          <p:cNvPr id="34" name="Shape 32"/>
          <p:cNvSpPr/>
          <p:nvPr/>
        </p:nvSpPr>
        <p:spPr>
          <a:xfrm>
            <a:off x="9144000" y="3154680"/>
            <a:ext cx="2148840" cy="548640"/>
          </a:xfrm>
          <a:prstGeom prst="roundRect">
            <a:avLst>
              <a:gd name="adj" fmla="val 16667"/>
            </a:avLst>
          </a:prstGeom>
          <a:solidFill>
            <a:srgbClr val="2E2410"/>
          </a:solidFill>
          <a:ln w="12700">
            <a:solidFill>
              <a:schemeClr val="accent3"/>
            </a:solidFill>
            <a:prstDash val="solid"/>
          </a:ln>
        </p:spPr>
      </p:sp>
      <p:sp>
        <p:nvSpPr>
          <p:cNvPr id="35" name="Text 33"/>
          <p:cNvSpPr txBox="1"/>
          <p:nvPr/>
        </p:nvSpPr>
        <p:spPr>
          <a:xfrm>
            <a:off x="9217152" y="31546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accent3"/>
                </a:solidFill>
              </a:rPr>
              <a:t>notes.txt added</a:t>
            </a:r>
            <a:endParaRPr lang="en-US" sz="1400" dirty="0"/>
          </a:p>
        </p:txBody>
      </p:sp>
      <p:sp>
        <p:nvSpPr>
          <p:cNvPr id="36" name="Shape 34"/>
          <p:cNvSpPr/>
          <p:nvPr/>
        </p:nvSpPr>
        <p:spPr>
          <a:xfrm>
            <a:off x="9144000" y="3840480"/>
            <a:ext cx="2148840" cy="548640"/>
          </a:xfrm>
          <a:prstGeom prst="roundRect">
            <a:avLst>
              <a:gd name="adj" fmla="val 16667"/>
            </a:avLst>
          </a:prstGeom>
          <a:solidFill>
            <a:srgbClr val="2B3346"/>
          </a:solidFill>
          <a:ln w="12700">
            <a:solidFill>
              <a:srgbClr val="2B3346"/>
            </a:solidFill>
            <a:prstDash val="solid"/>
          </a:ln>
        </p:spPr>
      </p:sp>
      <p:sp>
        <p:nvSpPr>
          <p:cNvPr id="37" name="Text 35"/>
          <p:cNvSpPr txBox="1"/>
          <p:nvPr/>
        </p:nvSpPr>
        <p:spPr>
          <a:xfrm>
            <a:off x="9217152" y="3840480"/>
            <a:ext cx="2002536" cy="54864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Ubuntu</a:t>
            </a:r>
            <a:endParaRPr lang="en-US" sz="1400" dirty="0"/>
          </a:p>
        </p:txBody>
      </p:sp>
      <p:sp>
        <p:nvSpPr>
          <p:cNvPr id="38" name="Shape 36"/>
          <p:cNvSpPr/>
          <p:nvPr/>
        </p:nvSpPr>
        <p:spPr>
          <a:xfrm>
            <a:off x="2926080" y="4114800"/>
            <a:ext cx="502920" cy="0"/>
          </a:xfrm>
          <a:prstGeom prst="line">
            <a:avLst/>
          </a:prstGeom>
          <a:noFill/>
          <a:ln w="22225">
            <a:solidFill>
              <a:schemeClr val="bg2"/>
            </a:solidFill>
            <a:prstDash val="solid"/>
            <a:tailEnd type="triangle"/>
          </a:ln>
        </p:spPr>
      </p:sp>
      <p:sp>
        <p:nvSpPr>
          <p:cNvPr id="39" name="Shape 37"/>
          <p:cNvSpPr/>
          <p:nvPr/>
        </p:nvSpPr>
        <p:spPr>
          <a:xfrm>
            <a:off x="6035040" y="3291840"/>
            <a:ext cx="137160" cy="0"/>
          </a:xfrm>
          <a:prstGeom prst="line">
            <a:avLst/>
          </a:prstGeom>
          <a:noFill/>
          <a:ln w="22225">
            <a:solidFill>
              <a:schemeClr val="bg2"/>
            </a:solidFill>
            <a:prstDash val="solid"/>
            <a:tailEnd type="triangle"/>
          </a:ln>
        </p:spPr>
      </p:sp>
      <p:sp>
        <p:nvSpPr>
          <p:cNvPr id="40" name="Shape 38"/>
          <p:cNvSpPr/>
          <p:nvPr/>
        </p:nvSpPr>
        <p:spPr>
          <a:xfrm>
            <a:off x="8778240" y="3291840"/>
            <a:ext cx="137160" cy="0"/>
          </a:xfrm>
          <a:prstGeom prst="line">
            <a:avLst/>
          </a:prstGeom>
          <a:noFill/>
          <a:ln w="22225">
            <a:solidFill>
              <a:schemeClr val="bg2"/>
            </a:solidFill>
            <a:prstDash val="solid"/>
            <a:tailEnd type="triangle"/>
          </a:ln>
        </p:spPr>
      </p:sp>
      <p:sp>
        <p:nvSpPr>
          <p:cNvPr id="41" name="Shape 39"/>
          <p:cNvSpPr/>
          <p:nvPr/>
        </p:nvSpPr>
        <p:spPr>
          <a:xfrm>
            <a:off x="731520" y="5532120"/>
            <a:ext cx="10698480" cy="594360"/>
          </a:xfrm>
          <a:prstGeom prst="roundRect">
            <a:avLst>
              <a:gd name="adj" fmla="val 15385"/>
            </a:avLst>
          </a:prstGeom>
          <a:solidFill>
            <a:schemeClr val="tx2"/>
          </a:solidFill>
          <a:ln w="12700">
            <a:solidFill>
              <a:schemeClr val="accent6"/>
            </a:solidFill>
            <a:prstDash val="solid"/>
          </a:ln>
        </p:spPr>
      </p:sp>
      <p:sp>
        <p:nvSpPr>
          <p:cNvPr id="42" name="Text 40"/>
          <p:cNvSpPr txBox="1"/>
          <p:nvPr/>
        </p:nvSpPr>
        <p:spPr>
          <a:xfrm>
            <a:off x="1005840" y="5532120"/>
            <a:ext cx="10241280" cy="594360"/>
          </a:xfrm>
          <a:prstGeom prst="rect">
            <a:avLst/>
          </a:prstGeom>
          <a:noFill/>
          <a:ln/>
        </p:spPr>
        <p:txBody>
          <a:bodyPr wrap="square" lIns="0" tIns="0" rIns="0" bIns="0" rtlCol="0" anchor="ctr"/>
          <a:lstStyle/>
          <a:p>
            <a:pPr marL="0" indent="0">
              <a:buNone/>
            </a:pPr>
            <a:r>
              <a:rPr lang="en-US" sz="1500" dirty="0">
                <a:solidFill>
                  <a:schemeClr val="bg1"/>
                </a:solidFill>
              </a:rPr>
              <a:t>What gets saved? The base image plus every file you added or changed. Your original container is untouched and keeps running.</a:t>
            </a:r>
            <a:endParaRPr lang="en-US" sz="1500" dirty="0"/>
          </a:p>
        </p:txBody>
      </p:sp>
      <p:sp>
        <p:nvSpPr>
          <p:cNvPr id="43"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METHOD 2 · DOCKER COMMIT</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docker commit, step by step</a:t>
            </a:r>
            <a:endParaRPr lang="en-US" sz="3000" dirty="0"/>
          </a:p>
        </p:txBody>
      </p:sp>
      <p:sp>
        <p:nvSpPr>
          <p:cNvPr id="4" name="Shape 2"/>
          <p:cNvSpPr/>
          <p:nvPr/>
        </p:nvSpPr>
        <p:spPr>
          <a:xfrm>
            <a:off x="731520" y="1463040"/>
            <a:ext cx="6675120" cy="4709160"/>
          </a:xfrm>
          <a:prstGeom prst="roundRect">
            <a:avLst>
              <a:gd name="adj" fmla="val 1553"/>
            </a:avLst>
          </a:prstGeom>
          <a:solidFill>
            <a:srgbClr val="070D1A"/>
          </a:solidFill>
          <a:ln w="12700">
            <a:solidFill>
              <a:srgbClr val="23314F"/>
            </a:solidFill>
            <a:prstDash val="solid"/>
          </a:ln>
        </p:spPr>
      </p:sp>
      <p:sp>
        <p:nvSpPr>
          <p:cNvPr id="5" name="Shape 3"/>
          <p:cNvSpPr/>
          <p:nvPr/>
        </p:nvSpPr>
        <p:spPr>
          <a:xfrm>
            <a:off x="914400" y="1609344"/>
            <a:ext cx="100584" cy="100584"/>
          </a:xfrm>
          <a:prstGeom prst="ellipse">
            <a:avLst/>
          </a:prstGeom>
          <a:solidFill>
            <a:srgbClr val="FF5F57"/>
          </a:solidFill>
          <a:ln w="12700">
            <a:solidFill>
              <a:srgbClr val="FF5F57"/>
            </a:solidFill>
            <a:prstDash val="solid"/>
          </a:ln>
        </p:spPr>
      </p:sp>
      <p:sp>
        <p:nvSpPr>
          <p:cNvPr id="6" name="Shape 4"/>
          <p:cNvSpPr/>
          <p:nvPr/>
        </p:nvSpPr>
        <p:spPr>
          <a:xfrm>
            <a:off x="1097280" y="1609344"/>
            <a:ext cx="100584" cy="100584"/>
          </a:xfrm>
          <a:prstGeom prst="ellipse">
            <a:avLst/>
          </a:prstGeom>
          <a:solidFill>
            <a:srgbClr val="FEBC2E"/>
          </a:solidFill>
          <a:ln w="12700">
            <a:solidFill>
              <a:srgbClr val="FEBC2E"/>
            </a:solidFill>
            <a:prstDash val="solid"/>
          </a:ln>
        </p:spPr>
      </p:sp>
      <p:sp>
        <p:nvSpPr>
          <p:cNvPr id="7" name="Shape 5"/>
          <p:cNvSpPr/>
          <p:nvPr/>
        </p:nvSpPr>
        <p:spPr>
          <a:xfrm>
            <a:off x="1280160" y="1609344"/>
            <a:ext cx="100584" cy="100584"/>
          </a:xfrm>
          <a:prstGeom prst="ellipse">
            <a:avLst/>
          </a:prstGeom>
          <a:solidFill>
            <a:srgbClr val="28C840"/>
          </a:solidFill>
          <a:ln w="12700">
            <a:solidFill>
              <a:srgbClr val="28C840"/>
            </a:solidFill>
            <a:prstDash val="solid"/>
          </a:ln>
        </p:spPr>
      </p:sp>
      <p:sp>
        <p:nvSpPr>
          <p:cNvPr id="8" name="Text 6"/>
          <p:cNvSpPr txBox="1"/>
          <p:nvPr/>
        </p:nvSpPr>
        <p:spPr>
          <a:xfrm>
            <a:off x="1508760" y="1536192"/>
            <a:ext cx="576072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terminal</a:t>
            </a:r>
            <a:endParaRPr lang="en-US" sz="1100" dirty="0"/>
          </a:p>
        </p:txBody>
      </p:sp>
      <p:sp>
        <p:nvSpPr>
          <p:cNvPr id="9" name="Text 7"/>
          <p:cNvSpPr txBox="1"/>
          <p:nvPr/>
        </p:nvSpPr>
        <p:spPr>
          <a:xfrm>
            <a:off x="960120" y="1883664"/>
            <a:ext cx="6309360" cy="4197096"/>
          </a:xfrm>
          <a:prstGeom prst="rect">
            <a:avLst/>
          </a:prstGeom>
          <a:noFill/>
          <a:ln/>
        </p:spPr>
        <p:txBody>
          <a:bodyPr wrap="square" lIns="0" tIns="0" rIns="0" bIns="0" rtlCol="0" anchor="t"/>
          <a:lstStyle/>
          <a:p>
            <a:pPr marL="0" indent="0">
              <a:lnSpc>
                <a:spcPct val="112000"/>
              </a:lnSpc>
              <a:buNone/>
            </a:pPr>
            <a:r>
              <a:rPr lang="en-US" sz="1300" dirty="0">
                <a:solidFill>
                  <a:srgbClr val="7D8BA6"/>
                </a:solidFill>
                <a:latin typeface="Consolas" pitchFamily="34" charset="0"/>
                <a:ea typeface="Consolas" pitchFamily="34" charset="-122"/>
                <a:cs typeface="Consolas" pitchFamily="34" charset="-120"/>
              </a:rPr>
              <a:t># 1. Start a container from plain Ubuntu</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docker run -it --name temp ubuntu bash</a:t>
            </a:r>
            <a:endParaRPr lang="en-US" sz="1300" dirty="0"/>
          </a:p>
          <a:p>
            <a:pPr marL="0" indent="0">
              <a:lnSpc>
                <a:spcPct val="112000"/>
              </a:lnSpc>
              <a:buNone/>
            </a:pPr>
            <a:r>
              <a:rPr lang="en-US" sz="1300" dirty="0">
                <a:solidFill>
                  <a:srgbClr val="7D8BA6"/>
                </a:solidFill>
                <a:latin typeface="Consolas" pitchFamily="34" charset="0"/>
                <a:ea typeface="Consolas" pitchFamily="34" charset="-122"/>
                <a:cs typeface="Consolas" pitchFamily="34" charset="-120"/>
              </a:rPr>
              <a:t># 2. Inside the container: install a tool, add a file</a:t>
            </a:r>
            <a:endParaRPr lang="en-US" sz="1300" dirty="0"/>
          </a:p>
          <a:p>
            <a:pPr marL="0" indent="0">
              <a:lnSpc>
                <a:spcPct val="112000"/>
              </a:lnSpc>
              <a:buNone/>
            </a:pPr>
            <a:r>
              <a:rPr lang="en-US" sz="1300" dirty="0">
                <a:solidFill>
                  <a:srgbClr val="A9B8D0"/>
                </a:solidFill>
                <a:latin typeface="Consolas" pitchFamily="34" charset="0"/>
                <a:ea typeface="Consolas" pitchFamily="34" charset="-122"/>
                <a:cs typeface="Consolas" pitchFamily="34" charset="-120"/>
              </a:rPr>
              <a:t>apt-get update &amp;&amp; apt-get install -y figlet</a:t>
            </a:r>
            <a:endParaRPr lang="en-US" sz="1300" dirty="0"/>
          </a:p>
          <a:p>
            <a:pPr marL="0" indent="0">
              <a:lnSpc>
                <a:spcPct val="112000"/>
              </a:lnSpc>
              <a:buNone/>
            </a:pPr>
            <a:r>
              <a:rPr lang="en-US" sz="1300" dirty="0">
                <a:solidFill>
                  <a:srgbClr val="A9B8D0"/>
                </a:solidFill>
                <a:latin typeface="Consolas" pitchFamily="34" charset="0"/>
                <a:ea typeface="Consolas" pitchFamily="34" charset="-122"/>
                <a:cs typeface="Consolas" pitchFamily="34" charset="-120"/>
              </a:rPr>
              <a:t>echo "Made with docker commit" &gt; /notes.txt</a:t>
            </a:r>
            <a:endParaRPr lang="en-US" sz="1300" dirty="0"/>
          </a:p>
          <a:p>
            <a:pPr marL="0" indent="0">
              <a:lnSpc>
                <a:spcPct val="112000"/>
              </a:lnSpc>
              <a:buNone/>
            </a:pPr>
            <a:r>
              <a:rPr lang="en-US" sz="1300" dirty="0">
                <a:solidFill>
                  <a:srgbClr val="A9B8D0"/>
                </a:solidFill>
                <a:latin typeface="Consolas" pitchFamily="34" charset="0"/>
                <a:ea typeface="Consolas" pitchFamily="34" charset="-122"/>
                <a:cs typeface="Consolas" pitchFamily="34" charset="-120"/>
              </a:rPr>
              <a:t>exit</a:t>
            </a:r>
            <a:endParaRPr lang="en-US" sz="1300" dirty="0"/>
          </a:p>
          <a:p>
            <a:pPr marL="0" indent="0">
              <a:lnSpc>
                <a:spcPct val="112000"/>
              </a:lnSpc>
              <a:buNone/>
            </a:pPr>
            <a:r>
              <a:rPr lang="en-US" sz="1300" dirty="0">
                <a:solidFill>
                  <a:srgbClr val="7D8BA6"/>
                </a:solidFill>
                <a:latin typeface="Consolas" pitchFamily="34" charset="0"/>
                <a:ea typeface="Consolas" pitchFamily="34" charset="-122"/>
                <a:cs typeface="Consolas" pitchFamily="34" charset="-120"/>
              </a:rPr>
              <a:t># 3. See your changes (A = added, C = changed)</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docker diff temp</a:t>
            </a:r>
            <a:endParaRPr lang="en-US" sz="1300" dirty="0"/>
          </a:p>
          <a:p>
            <a:pPr marL="0" indent="0">
              <a:lnSpc>
                <a:spcPct val="112000"/>
              </a:lnSpc>
              <a:buNone/>
            </a:pPr>
            <a:r>
              <a:rPr lang="en-US" sz="1300" dirty="0">
                <a:solidFill>
                  <a:srgbClr val="7D8BA6"/>
                </a:solidFill>
                <a:latin typeface="Consolas" pitchFamily="34" charset="0"/>
                <a:ea typeface="Consolas" pitchFamily="34" charset="-122"/>
                <a:cs typeface="Consolas" pitchFamily="34" charset="-120"/>
              </a:rPr>
              <a:t># 4. Freeze Ubuntu + figlet + notes.txt</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docker commit -m "Add figlet and notes" temp my-ubuntu:custom</a:t>
            </a:r>
            <a:endParaRPr lang="en-US" sz="1300" dirty="0"/>
          </a:p>
          <a:p>
            <a:pPr marL="0" indent="0">
              <a:lnSpc>
                <a:spcPct val="112000"/>
              </a:lnSpc>
              <a:buNone/>
            </a:pPr>
            <a:r>
              <a:rPr lang="en-US" sz="1300" dirty="0">
                <a:solidFill>
                  <a:srgbClr val="7D8BA6"/>
                </a:solidFill>
                <a:latin typeface="Consolas" pitchFamily="34" charset="0"/>
                <a:ea typeface="Consolas" pitchFamily="34" charset="-122"/>
                <a:cs typeface="Consolas" pitchFamily="34" charset="-120"/>
              </a:rPr>
              <a:t># 5–6. Check it, then run NEW containers from it</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docker images my-ubuntu</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docker run --rm my-ubuntu:custom figlet Hello</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docker run --rm my-ubuntu:custom cat /notes.txt</a:t>
            </a:r>
            <a:endParaRPr lang="en-US" sz="1300" dirty="0"/>
          </a:p>
        </p:txBody>
      </p:sp>
      <p:sp>
        <p:nvSpPr>
          <p:cNvPr id="10" name="Text 8"/>
          <p:cNvSpPr txBox="1"/>
          <p:nvPr/>
        </p:nvSpPr>
        <p:spPr>
          <a:xfrm>
            <a:off x="7726680" y="1508760"/>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WHAT IT DOES</a:t>
            </a:r>
            <a:endParaRPr lang="en-US" sz="1100" dirty="0"/>
          </a:p>
        </p:txBody>
      </p:sp>
      <p:sp>
        <p:nvSpPr>
          <p:cNvPr id="11" name="Text 9"/>
          <p:cNvSpPr txBox="1"/>
          <p:nvPr/>
        </p:nvSpPr>
        <p:spPr>
          <a:xfrm>
            <a:off x="7726680" y="1764792"/>
            <a:ext cx="3749040" cy="539496"/>
          </a:xfrm>
          <a:prstGeom prst="rect">
            <a:avLst/>
          </a:prstGeom>
          <a:noFill/>
          <a:ln/>
        </p:spPr>
        <p:txBody>
          <a:bodyPr wrap="square" lIns="0" tIns="0" rIns="0" bIns="0" rtlCol="0" anchor="t"/>
          <a:lstStyle/>
          <a:p>
            <a:pPr marL="0" indent="0">
              <a:buNone/>
            </a:pPr>
            <a:r>
              <a:rPr lang="en-US" sz="1400" dirty="0">
                <a:solidFill>
                  <a:schemeClr val="bg1"/>
                </a:solidFill>
              </a:rPr>
              <a:t>Turns the changed container into a new image: my-ubuntu:custom.</a:t>
            </a:r>
            <a:endParaRPr lang="en-US" sz="1400" dirty="0"/>
          </a:p>
        </p:txBody>
      </p:sp>
      <p:sp>
        <p:nvSpPr>
          <p:cNvPr id="12" name="Text 10"/>
          <p:cNvSpPr txBox="1"/>
          <p:nvPr/>
        </p:nvSpPr>
        <p:spPr>
          <a:xfrm>
            <a:off x="7726680" y="2450592"/>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WHY</a:t>
            </a:r>
            <a:endParaRPr lang="en-US" sz="1100" dirty="0"/>
          </a:p>
        </p:txBody>
      </p:sp>
      <p:sp>
        <p:nvSpPr>
          <p:cNvPr id="13" name="Text 11"/>
          <p:cNvSpPr txBox="1"/>
          <p:nvPr/>
        </p:nvSpPr>
        <p:spPr>
          <a:xfrm>
            <a:off x="7726680" y="2706624"/>
            <a:ext cx="3749040" cy="786384"/>
          </a:xfrm>
          <a:prstGeom prst="rect">
            <a:avLst/>
          </a:prstGeom>
          <a:noFill/>
          <a:ln/>
        </p:spPr>
        <p:txBody>
          <a:bodyPr wrap="square" lIns="0" tIns="0" rIns="0" bIns="0" rtlCol="0" anchor="t"/>
          <a:lstStyle/>
          <a:p>
            <a:pPr marL="0" indent="0">
              <a:buNone/>
            </a:pPr>
            <a:r>
              <a:rPr lang="en-US" sz="1400" dirty="0">
                <a:solidFill>
                  <a:schemeClr val="bg1"/>
                </a:solidFill>
              </a:rPr>
              <a:t>Quick experiments and debugging. Not for production: nothing records how it was built.</a:t>
            </a:r>
            <a:endParaRPr lang="en-US" sz="1400" dirty="0"/>
          </a:p>
        </p:txBody>
      </p:sp>
      <p:sp>
        <p:nvSpPr>
          <p:cNvPr id="14" name="Text 12"/>
          <p:cNvSpPr txBox="1"/>
          <p:nvPr/>
        </p:nvSpPr>
        <p:spPr>
          <a:xfrm>
            <a:off x="7726680" y="3639312"/>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OBSERVE</a:t>
            </a:r>
            <a:endParaRPr lang="en-US" sz="1100" dirty="0"/>
          </a:p>
        </p:txBody>
      </p:sp>
      <p:sp>
        <p:nvSpPr>
          <p:cNvPr id="15" name="Text 13"/>
          <p:cNvSpPr txBox="1"/>
          <p:nvPr/>
        </p:nvSpPr>
        <p:spPr>
          <a:xfrm>
            <a:off x="7726680" y="3895344"/>
            <a:ext cx="3749040" cy="539496"/>
          </a:xfrm>
          <a:prstGeom prst="rect">
            <a:avLst/>
          </a:prstGeom>
          <a:noFill/>
          <a:ln/>
        </p:spPr>
        <p:txBody>
          <a:bodyPr wrap="square" lIns="0" tIns="0" rIns="0" bIns="0" rtlCol="0" anchor="t"/>
          <a:lstStyle/>
          <a:p>
            <a:pPr marL="0" indent="0">
              <a:buNone/>
            </a:pPr>
            <a:r>
              <a:rPr lang="en-US" sz="1400" dirty="0">
                <a:solidFill>
                  <a:schemeClr val="bg1"/>
                </a:solidFill>
              </a:rPr>
              <a:t>figlet prints “Hello” in big letters, and notes.txt is already there.</a:t>
            </a:r>
            <a:endParaRPr lang="en-US" sz="1400" dirty="0"/>
          </a:p>
        </p:txBody>
      </p:sp>
      <p:sp>
        <p:nvSpPr>
          <p:cNvPr id="16" name="Text 14"/>
          <p:cNvSpPr txBox="1"/>
          <p:nvPr/>
        </p:nvSpPr>
        <p:spPr>
          <a:xfrm>
            <a:off x="7726680" y="4581144"/>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KEY FLAGS</a:t>
            </a:r>
            <a:endParaRPr lang="en-US" sz="1100" dirty="0"/>
          </a:p>
        </p:txBody>
      </p:sp>
      <p:sp>
        <p:nvSpPr>
          <p:cNvPr id="17" name="Text 15"/>
          <p:cNvSpPr txBox="1"/>
          <p:nvPr/>
        </p:nvSpPr>
        <p:spPr>
          <a:xfrm>
            <a:off x="7726680" y="4837176"/>
            <a:ext cx="3749040" cy="1033272"/>
          </a:xfrm>
          <a:prstGeom prst="rect">
            <a:avLst/>
          </a:prstGeom>
          <a:noFill/>
          <a:ln/>
        </p:spPr>
        <p:txBody>
          <a:bodyPr wrap="square" lIns="0" tIns="0" rIns="0" bIns="0" rtlCol="0" anchor="t"/>
          <a:lstStyle/>
          <a:p>
            <a:pPr marL="0" indent="0">
              <a:buNone/>
            </a:pPr>
            <a:r>
              <a:rPr lang="en-US" sz="1400" dirty="0">
                <a:solidFill>
                  <a:schemeClr val="bg1"/>
                </a:solidFill>
              </a:rPr>
              <a:t>-it   interactive shell</a:t>
            </a:r>
            <a:endParaRPr lang="en-US" sz="1400" dirty="0"/>
          </a:p>
          <a:p>
            <a:pPr marL="0" indent="0">
              <a:buNone/>
            </a:pPr>
            <a:r>
              <a:rPr lang="en-US" sz="1400" dirty="0">
                <a:solidFill>
                  <a:schemeClr val="bg1"/>
                </a:solidFill>
              </a:rPr>
              <a:t>-m   commit message</a:t>
            </a:r>
            <a:endParaRPr lang="en-US" sz="1400" dirty="0"/>
          </a:p>
          <a:p>
            <a:pPr marL="0" indent="0">
              <a:buNone/>
            </a:pPr>
            <a:r>
              <a:rPr lang="en-US" sz="1400" dirty="0">
                <a:solidFill>
                  <a:schemeClr val="bg1"/>
                </a:solidFill>
              </a:rPr>
              <a:t>--rm   delete the container on exit</a:t>
            </a:r>
            <a:endParaRPr lang="en-US" sz="1400" dirty="0"/>
          </a:p>
          <a:p>
            <a:pPr marL="0" indent="0">
              <a:buNone/>
            </a:pPr>
            <a:r>
              <a:rPr lang="en-US" sz="1400" dirty="0">
                <a:solidFill>
                  <a:schemeClr val="bg1"/>
                </a:solidFill>
              </a:rPr>
              <a:t>--change   set CMD or ENV</a:t>
            </a:r>
            <a:endParaRPr lang="en-US" sz="14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HANDS-ON · DOCKER FUN LAB</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Four demos, four reasons industry uses Docker</a:t>
            </a:r>
            <a:endParaRPr lang="en-US" sz="3000" dirty="0"/>
          </a:p>
        </p:txBody>
      </p:sp>
      <p:sp>
        <p:nvSpPr>
          <p:cNvPr id="4" name="Text 2"/>
          <p:cNvSpPr txBox="1"/>
          <p:nvPr/>
        </p:nvSpPr>
        <p:spPr>
          <a:xfrm>
            <a:off x="731520" y="1463040"/>
            <a:ext cx="5257800" cy="347472"/>
          </a:xfrm>
          <a:prstGeom prst="rect">
            <a:avLst/>
          </a:prstGeom>
          <a:noFill/>
          <a:ln/>
        </p:spPr>
        <p:txBody>
          <a:bodyPr wrap="square" lIns="0" tIns="0" rIns="0" bIns="0" rtlCol="0" anchor="t"/>
          <a:lstStyle/>
          <a:p>
            <a:pPr marL="0" indent="0">
              <a:buNone/>
            </a:pPr>
            <a:r>
              <a:rPr lang="en-US" sz="1700" b="1" dirty="0">
                <a:solidFill>
                  <a:schemeClr val="accent2"/>
                </a:solidFill>
              </a:rPr>
              <a:t>1 · The whale says</a:t>
            </a:r>
            <a:endParaRPr lang="en-US" sz="1700" dirty="0"/>
          </a:p>
        </p:txBody>
      </p:sp>
      <p:sp>
        <p:nvSpPr>
          <p:cNvPr id="5" name="Text 3"/>
          <p:cNvSpPr txBox="1"/>
          <p:nvPr/>
        </p:nvSpPr>
        <p:spPr>
          <a:xfrm>
            <a:off x="731520" y="1810512"/>
            <a:ext cx="5257800" cy="292608"/>
          </a:xfrm>
          <a:prstGeom prst="rect">
            <a:avLst/>
          </a:prstGeom>
          <a:noFill/>
          <a:ln/>
        </p:spPr>
        <p:txBody>
          <a:bodyPr wrap="square" lIns="0" tIns="0" rIns="0" bIns="0" rtlCol="0" anchor="t"/>
          <a:lstStyle/>
          <a:p>
            <a:pPr marL="0" indent="0">
              <a:buNone/>
            </a:pPr>
            <a:r>
              <a:rPr lang="en-US" sz="1300" dirty="0">
                <a:solidFill>
                  <a:schemeClr val="bg2"/>
                </a:solidFill>
              </a:rPr>
              <a:t>No setup: run tools you never installed</a:t>
            </a:r>
            <a:endParaRPr lang="en-US" sz="1300" dirty="0"/>
          </a:p>
        </p:txBody>
      </p:sp>
      <p:sp>
        <p:nvSpPr>
          <p:cNvPr id="6" name="Shape 4"/>
          <p:cNvSpPr/>
          <p:nvPr/>
        </p:nvSpPr>
        <p:spPr>
          <a:xfrm>
            <a:off x="731520" y="2176272"/>
            <a:ext cx="5257800" cy="1481328"/>
          </a:xfrm>
          <a:prstGeom prst="roundRect">
            <a:avLst>
              <a:gd name="adj" fmla="val 4938"/>
            </a:avLst>
          </a:prstGeom>
          <a:solidFill>
            <a:srgbClr val="070D1A"/>
          </a:solidFill>
          <a:ln w="12700">
            <a:solidFill>
              <a:srgbClr val="23314F"/>
            </a:solidFill>
            <a:prstDash val="solid"/>
          </a:ln>
        </p:spPr>
      </p:sp>
      <p:sp>
        <p:nvSpPr>
          <p:cNvPr id="7" name="Shape 5"/>
          <p:cNvSpPr/>
          <p:nvPr/>
        </p:nvSpPr>
        <p:spPr>
          <a:xfrm>
            <a:off x="914400" y="2322576"/>
            <a:ext cx="100584" cy="100584"/>
          </a:xfrm>
          <a:prstGeom prst="ellipse">
            <a:avLst/>
          </a:prstGeom>
          <a:solidFill>
            <a:srgbClr val="FF5F57"/>
          </a:solidFill>
          <a:ln w="12700">
            <a:solidFill>
              <a:srgbClr val="FF5F57"/>
            </a:solidFill>
            <a:prstDash val="solid"/>
          </a:ln>
        </p:spPr>
      </p:sp>
      <p:sp>
        <p:nvSpPr>
          <p:cNvPr id="8" name="Shape 6"/>
          <p:cNvSpPr/>
          <p:nvPr/>
        </p:nvSpPr>
        <p:spPr>
          <a:xfrm>
            <a:off x="1097280" y="2322576"/>
            <a:ext cx="100584" cy="100584"/>
          </a:xfrm>
          <a:prstGeom prst="ellipse">
            <a:avLst/>
          </a:prstGeom>
          <a:solidFill>
            <a:srgbClr val="FEBC2E"/>
          </a:solidFill>
          <a:ln w="12700">
            <a:solidFill>
              <a:srgbClr val="FEBC2E"/>
            </a:solidFill>
            <a:prstDash val="solid"/>
          </a:ln>
        </p:spPr>
      </p:sp>
      <p:sp>
        <p:nvSpPr>
          <p:cNvPr id="9" name="Shape 7"/>
          <p:cNvSpPr/>
          <p:nvPr/>
        </p:nvSpPr>
        <p:spPr>
          <a:xfrm>
            <a:off x="1280160" y="2322576"/>
            <a:ext cx="100584" cy="100584"/>
          </a:xfrm>
          <a:prstGeom prst="ellipse">
            <a:avLst/>
          </a:prstGeom>
          <a:solidFill>
            <a:srgbClr val="28C840"/>
          </a:solidFill>
          <a:ln w="12700">
            <a:solidFill>
              <a:srgbClr val="28C840"/>
            </a:solidFill>
            <a:prstDash val="solid"/>
          </a:ln>
        </p:spPr>
      </p:sp>
      <p:sp>
        <p:nvSpPr>
          <p:cNvPr id="10" name="Text 8"/>
          <p:cNvSpPr txBox="1"/>
          <p:nvPr/>
        </p:nvSpPr>
        <p:spPr>
          <a:xfrm>
            <a:off x="960120" y="2596896"/>
            <a:ext cx="4892040" cy="969264"/>
          </a:xfrm>
          <a:prstGeom prst="rect">
            <a:avLst/>
          </a:prstGeom>
          <a:noFill/>
          <a:ln/>
        </p:spPr>
        <p:txBody>
          <a:bodyPr wrap="square" lIns="0" tIns="0" rIns="0" bIns="0" rtlCol="0" anchor="t"/>
          <a:lstStyle/>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cd 01-whale-says</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build -t whale-says .</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run --rm -t whale-says "Hi"</a:t>
            </a:r>
            <a:endParaRPr lang="en-US" sz="1200" dirty="0"/>
          </a:p>
        </p:txBody>
      </p:sp>
      <p:sp>
        <p:nvSpPr>
          <p:cNvPr id="11" name="Text 9"/>
          <p:cNvSpPr txBox="1"/>
          <p:nvPr/>
        </p:nvSpPr>
        <p:spPr>
          <a:xfrm>
            <a:off x="6172200" y="1463040"/>
            <a:ext cx="5257800" cy="347472"/>
          </a:xfrm>
          <a:prstGeom prst="rect">
            <a:avLst/>
          </a:prstGeom>
          <a:noFill/>
          <a:ln/>
        </p:spPr>
        <p:txBody>
          <a:bodyPr wrap="square" lIns="0" tIns="0" rIns="0" bIns="0" rtlCol="0" anchor="t"/>
          <a:lstStyle/>
          <a:p>
            <a:pPr marL="0" indent="0">
              <a:buNone/>
            </a:pPr>
            <a:r>
              <a:rPr lang="en-US" sz="1700" b="1" dirty="0">
                <a:solidFill>
                  <a:schemeClr val="accent2"/>
                </a:solidFill>
              </a:rPr>
              <a:t>2 · Whack-a-bug</a:t>
            </a:r>
            <a:endParaRPr lang="en-US" sz="1700" dirty="0"/>
          </a:p>
        </p:txBody>
      </p:sp>
      <p:sp>
        <p:nvSpPr>
          <p:cNvPr id="12" name="Text 10"/>
          <p:cNvSpPr txBox="1"/>
          <p:nvPr/>
        </p:nvSpPr>
        <p:spPr>
          <a:xfrm>
            <a:off x="6172200" y="1810512"/>
            <a:ext cx="5257800" cy="292608"/>
          </a:xfrm>
          <a:prstGeom prst="rect">
            <a:avLst/>
          </a:prstGeom>
          <a:noFill/>
          <a:ln/>
        </p:spPr>
        <p:txBody>
          <a:bodyPr wrap="square" lIns="0" tIns="0" rIns="0" bIns="0" rtlCol="0" anchor="t"/>
          <a:lstStyle/>
          <a:p>
            <a:pPr marL="0" indent="0">
              <a:buNone/>
            </a:pPr>
            <a:r>
              <a:rPr lang="en-US" sz="1300" dirty="0">
                <a:solidFill>
                  <a:schemeClr val="bg2"/>
                </a:solidFill>
              </a:rPr>
              <a:t>Ship any app with one command</a:t>
            </a:r>
            <a:endParaRPr lang="en-US" sz="1300" dirty="0"/>
          </a:p>
        </p:txBody>
      </p:sp>
      <p:sp>
        <p:nvSpPr>
          <p:cNvPr id="13" name="Shape 11"/>
          <p:cNvSpPr/>
          <p:nvPr/>
        </p:nvSpPr>
        <p:spPr>
          <a:xfrm>
            <a:off x="6172200" y="2176272"/>
            <a:ext cx="5257800" cy="1481328"/>
          </a:xfrm>
          <a:prstGeom prst="roundRect">
            <a:avLst>
              <a:gd name="adj" fmla="val 4938"/>
            </a:avLst>
          </a:prstGeom>
          <a:solidFill>
            <a:srgbClr val="070D1A"/>
          </a:solidFill>
          <a:ln w="12700">
            <a:solidFill>
              <a:srgbClr val="23314F"/>
            </a:solidFill>
            <a:prstDash val="solid"/>
          </a:ln>
        </p:spPr>
      </p:sp>
      <p:sp>
        <p:nvSpPr>
          <p:cNvPr id="14" name="Shape 12"/>
          <p:cNvSpPr/>
          <p:nvPr/>
        </p:nvSpPr>
        <p:spPr>
          <a:xfrm>
            <a:off x="6355080" y="2322576"/>
            <a:ext cx="100584" cy="100584"/>
          </a:xfrm>
          <a:prstGeom prst="ellipse">
            <a:avLst/>
          </a:prstGeom>
          <a:solidFill>
            <a:srgbClr val="FF5F57"/>
          </a:solidFill>
          <a:ln w="12700">
            <a:solidFill>
              <a:srgbClr val="FF5F57"/>
            </a:solidFill>
            <a:prstDash val="solid"/>
          </a:ln>
        </p:spPr>
      </p:sp>
      <p:sp>
        <p:nvSpPr>
          <p:cNvPr id="15" name="Shape 13"/>
          <p:cNvSpPr/>
          <p:nvPr/>
        </p:nvSpPr>
        <p:spPr>
          <a:xfrm>
            <a:off x="6537960" y="2322576"/>
            <a:ext cx="100584" cy="100584"/>
          </a:xfrm>
          <a:prstGeom prst="ellipse">
            <a:avLst/>
          </a:prstGeom>
          <a:solidFill>
            <a:srgbClr val="FEBC2E"/>
          </a:solidFill>
          <a:ln w="12700">
            <a:solidFill>
              <a:srgbClr val="FEBC2E"/>
            </a:solidFill>
            <a:prstDash val="solid"/>
          </a:ln>
        </p:spPr>
      </p:sp>
      <p:sp>
        <p:nvSpPr>
          <p:cNvPr id="16" name="Shape 14"/>
          <p:cNvSpPr/>
          <p:nvPr/>
        </p:nvSpPr>
        <p:spPr>
          <a:xfrm>
            <a:off x="6720840" y="2322576"/>
            <a:ext cx="100584" cy="100584"/>
          </a:xfrm>
          <a:prstGeom prst="ellipse">
            <a:avLst/>
          </a:prstGeom>
          <a:solidFill>
            <a:srgbClr val="28C840"/>
          </a:solidFill>
          <a:ln w="12700">
            <a:solidFill>
              <a:srgbClr val="28C840"/>
            </a:solidFill>
            <a:prstDash val="solid"/>
          </a:ln>
        </p:spPr>
      </p:sp>
      <p:sp>
        <p:nvSpPr>
          <p:cNvPr id="17" name="Text 15"/>
          <p:cNvSpPr txBox="1"/>
          <p:nvPr/>
        </p:nvSpPr>
        <p:spPr>
          <a:xfrm>
            <a:off x="6400800" y="2596896"/>
            <a:ext cx="4892040" cy="969264"/>
          </a:xfrm>
          <a:prstGeom prst="rect">
            <a:avLst/>
          </a:prstGeom>
          <a:noFill/>
          <a:ln/>
        </p:spPr>
        <p:txBody>
          <a:bodyPr wrap="square" lIns="0" tIns="0" rIns="0" bIns="0" rtlCol="0" anchor="t"/>
          <a:lstStyle/>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cd ../02-whack-a-bug</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build -t whack-a-bug .</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run -d -p 8080:80 --name game whack-a-bug</a:t>
            </a:r>
            <a:endParaRPr lang="en-US" sz="1200" dirty="0"/>
          </a:p>
        </p:txBody>
      </p:sp>
      <p:sp>
        <p:nvSpPr>
          <p:cNvPr id="18" name="Text 16"/>
          <p:cNvSpPr txBox="1"/>
          <p:nvPr/>
        </p:nvSpPr>
        <p:spPr>
          <a:xfrm>
            <a:off x="731520" y="3858768"/>
            <a:ext cx="5257800" cy="347472"/>
          </a:xfrm>
          <a:prstGeom prst="rect">
            <a:avLst/>
          </a:prstGeom>
          <a:noFill/>
          <a:ln/>
        </p:spPr>
        <p:txBody>
          <a:bodyPr wrap="square" lIns="0" tIns="0" rIns="0" bIns="0" rtlCol="0" anchor="t"/>
          <a:lstStyle/>
          <a:p>
            <a:pPr marL="0" indent="0">
              <a:buNone/>
            </a:pPr>
            <a:r>
              <a:rPr lang="en-US" sz="1700" b="1" dirty="0">
                <a:solidFill>
                  <a:schemeClr val="accent2"/>
                </a:solidFill>
              </a:rPr>
              <a:t>3 · Scale me</a:t>
            </a:r>
            <a:endParaRPr lang="en-US" sz="1700" dirty="0"/>
          </a:p>
        </p:txBody>
      </p:sp>
      <p:sp>
        <p:nvSpPr>
          <p:cNvPr id="19" name="Text 17"/>
          <p:cNvSpPr txBox="1"/>
          <p:nvPr/>
        </p:nvSpPr>
        <p:spPr>
          <a:xfrm>
            <a:off x="731520" y="4206240"/>
            <a:ext cx="5257800" cy="292608"/>
          </a:xfrm>
          <a:prstGeom prst="rect">
            <a:avLst/>
          </a:prstGeom>
          <a:noFill/>
          <a:ln/>
        </p:spPr>
        <p:txBody>
          <a:bodyPr wrap="square" lIns="0" tIns="0" rIns="0" bIns="0" rtlCol="0" anchor="t"/>
          <a:lstStyle/>
          <a:p>
            <a:pPr marL="0" indent="0">
              <a:buNone/>
            </a:pPr>
            <a:r>
              <a:rPr lang="en-US" sz="1300" dirty="0">
                <a:solidFill>
                  <a:schemeClr val="bg2"/>
                </a:solidFill>
              </a:rPr>
              <a:t>Scale in seconds: one image, many copies</a:t>
            </a:r>
            <a:endParaRPr lang="en-US" sz="1300" dirty="0"/>
          </a:p>
        </p:txBody>
      </p:sp>
      <p:sp>
        <p:nvSpPr>
          <p:cNvPr id="20" name="Shape 18"/>
          <p:cNvSpPr/>
          <p:nvPr/>
        </p:nvSpPr>
        <p:spPr>
          <a:xfrm>
            <a:off x="731520" y="4572000"/>
            <a:ext cx="5257800" cy="1481328"/>
          </a:xfrm>
          <a:prstGeom prst="roundRect">
            <a:avLst>
              <a:gd name="adj" fmla="val 4938"/>
            </a:avLst>
          </a:prstGeom>
          <a:solidFill>
            <a:srgbClr val="070D1A"/>
          </a:solidFill>
          <a:ln w="12700">
            <a:solidFill>
              <a:srgbClr val="23314F"/>
            </a:solidFill>
            <a:prstDash val="solid"/>
          </a:ln>
        </p:spPr>
      </p:sp>
      <p:sp>
        <p:nvSpPr>
          <p:cNvPr id="21" name="Shape 19"/>
          <p:cNvSpPr/>
          <p:nvPr/>
        </p:nvSpPr>
        <p:spPr>
          <a:xfrm>
            <a:off x="914400" y="4718304"/>
            <a:ext cx="100584" cy="100584"/>
          </a:xfrm>
          <a:prstGeom prst="ellipse">
            <a:avLst/>
          </a:prstGeom>
          <a:solidFill>
            <a:srgbClr val="FF5F57"/>
          </a:solidFill>
          <a:ln w="12700">
            <a:solidFill>
              <a:srgbClr val="FF5F57"/>
            </a:solidFill>
            <a:prstDash val="solid"/>
          </a:ln>
        </p:spPr>
      </p:sp>
      <p:sp>
        <p:nvSpPr>
          <p:cNvPr id="22" name="Shape 20"/>
          <p:cNvSpPr/>
          <p:nvPr/>
        </p:nvSpPr>
        <p:spPr>
          <a:xfrm>
            <a:off x="1097280" y="4718304"/>
            <a:ext cx="100584" cy="100584"/>
          </a:xfrm>
          <a:prstGeom prst="ellipse">
            <a:avLst/>
          </a:prstGeom>
          <a:solidFill>
            <a:srgbClr val="FEBC2E"/>
          </a:solidFill>
          <a:ln w="12700">
            <a:solidFill>
              <a:srgbClr val="FEBC2E"/>
            </a:solidFill>
            <a:prstDash val="solid"/>
          </a:ln>
        </p:spPr>
      </p:sp>
      <p:sp>
        <p:nvSpPr>
          <p:cNvPr id="23" name="Shape 21"/>
          <p:cNvSpPr/>
          <p:nvPr/>
        </p:nvSpPr>
        <p:spPr>
          <a:xfrm>
            <a:off x="1280160" y="4718304"/>
            <a:ext cx="100584" cy="100584"/>
          </a:xfrm>
          <a:prstGeom prst="ellipse">
            <a:avLst/>
          </a:prstGeom>
          <a:solidFill>
            <a:srgbClr val="28C840"/>
          </a:solidFill>
          <a:ln w="12700">
            <a:solidFill>
              <a:srgbClr val="28C840"/>
            </a:solidFill>
            <a:prstDash val="solid"/>
          </a:ln>
        </p:spPr>
      </p:sp>
      <p:sp>
        <p:nvSpPr>
          <p:cNvPr id="24" name="Text 22"/>
          <p:cNvSpPr txBox="1"/>
          <p:nvPr/>
        </p:nvSpPr>
        <p:spPr>
          <a:xfrm>
            <a:off x="960120" y="4992624"/>
            <a:ext cx="4892040" cy="969264"/>
          </a:xfrm>
          <a:prstGeom prst="rect">
            <a:avLst/>
          </a:prstGeom>
          <a:noFill/>
          <a:ln/>
        </p:spPr>
        <p:txBody>
          <a:bodyPr wrap="square" lIns="0" tIns="0" rIns="0" bIns="0" rtlCol="0" anchor="t"/>
          <a:lstStyle/>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cd ../03-scale-me</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build -t scale-me .</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run -d -p 8001:8000 --name app1 scale-me</a:t>
            </a:r>
            <a:endParaRPr lang="en-US" sz="1200" dirty="0"/>
          </a:p>
        </p:txBody>
      </p:sp>
      <p:sp>
        <p:nvSpPr>
          <p:cNvPr id="25" name="Text 23"/>
          <p:cNvSpPr txBox="1"/>
          <p:nvPr/>
        </p:nvSpPr>
        <p:spPr>
          <a:xfrm>
            <a:off x="6172200" y="3858768"/>
            <a:ext cx="5257800" cy="347472"/>
          </a:xfrm>
          <a:prstGeom prst="rect">
            <a:avLst/>
          </a:prstGeom>
          <a:noFill/>
          <a:ln/>
        </p:spPr>
        <p:txBody>
          <a:bodyPr wrap="square" lIns="0" tIns="0" rIns="0" bIns="0" rtlCol="0" anchor="t"/>
          <a:lstStyle/>
          <a:p>
            <a:pPr marL="0" indent="0">
              <a:buNone/>
            </a:pPr>
            <a:r>
              <a:rPr lang="en-US" sz="1700" b="1" dirty="0">
                <a:solidFill>
                  <a:schemeClr val="accent2"/>
                </a:solidFill>
              </a:rPr>
              <a:t>4 · Time machine</a:t>
            </a:r>
            <a:endParaRPr lang="en-US" sz="1700" dirty="0"/>
          </a:p>
        </p:txBody>
      </p:sp>
      <p:sp>
        <p:nvSpPr>
          <p:cNvPr id="26" name="Text 24"/>
          <p:cNvSpPr txBox="1"/>
          <p:nvPr/>
        </p:nvSpPr>
        <p:spPr>
          <a:xfrm>
            <a:off x="6172200" y="4206240"/>
            <a:ext cx="5257800" cy="292608"/>
          </a:xfrm>
          <a:prstGeom prst="rect">
            <a:avLst/>
          </a:prstGeom>
          <a:noFill/>
          <a:ln/>
        </p:spPr>
        <p:txBody>
          <a:bodyPr wrap="square" lIns="0" tIns="0" rIns="0" bIns="0" rtlCol="0" anchor="t"/>
          <a:lstStyle/>
          <a:p>
            <a:pPr marL="0" indent="0">
              <a:buNone/>
            </a:pPr>
            <a:r>
              <a:rPr lang="en-US" sz="1300" dirty="0">
                <a:solidFill>
                  <a:schemeClr val="bg2"/>
                </a:solidFill>
              </a:rPr>
              <a:t>“Works on my machine”, solved</a:t>
            </a:r>
            <a:endParaRPr lang="en-US" sz="1300" dirty="0"/>
          </a:p>
        </p:txBody>
      </p:sp>
      <p:sp>
        <p:nvSpPr>
          <p:cNvPr id="27" name="Shape 25"/>
          <p:cNvSpPr/>
          <p:nvPr/>
        </p:nvSpPr>
        <p:spPr>
          <a:xfrm>
            <a:off x="6172200" y="4572000"/>
            <a:ext cx="5257800" cy="1481328"/>
          </a:xfrm>
          <a:prstGeom prst="roundRect">
            <a:avLst>
              <a:gd name="adj" fmla="val 4938"/>
            </a:avLst>
          </a:prstGeom>
          <a:solidFill>
            <a:srgbClr val="070D1A"/>
          </a:solidFill>
          <a:ln w="12700">
            <a:solidFill>
              <a:srgbClr val="23314F"/>
            </a:solidFill>
            <a:prstDash val="solid"/>
          </a:ln>
        </p:spPr>
      </p:sp>
      <p:sp>
        <p:nvSpPr>
          <p:cNvPr id="28" name="Shape 26"/>
          <p:cNvSpPr/>
          <p:nvPr/>
        </p:nvSpPr>
        <p:spPr>
          <a:xfrm>
            <a:off x="6355080" y="4718304"/>
            <a:ext cx="100584" cy="100584"/>
          </a:xfrm>
          <a:prstGeom prst="ellipse">
            <a:avLst/>
          </a:prstGeom>
          <a:solidFill>
            <a:srgbClr val="FF5F57"/>
          </a:solidFill>
          <a:ln w="12700">
            <a:solidFill>
              <a:srgbClr val="FF5F57"/>
            </a:solidFill>
            <a:prstDash val="solid"/>
          </a:ln>
        </p:spPr>
      </p:sp>
      <p:sp>
        <p:nvSpPr>
          <p:cNvPr id="29" name="Shape 27"/>
          <p:cNvSpPr/>
          <p:nvPr/>
        </p:nvSpPr>
        <p:spPr>
          <a:xfrm>
            <a:off x="6537960" y="4718304"/>
            <a:ext cx="100584" cy="100584"/>
          </a:xfrm>
          <a:prstGeom prst="ellipse">
            <a:avLst/>
          </a:prstGeom>
          <a:solidFill>
            <a:srgbClr val="FEBC2E"/>
          </a:solidFill>
          <a:ln w="12700">
            <a:solidFill>
              <a:srgbClr val="FEBC2E"/>
            </a:solidFill>
            <a:prstDash val="solid"/>
          </a:ln>
        </p:spPr>
      </p:sp>
      <p:sp>
        <p:nvSpPr>
          <p:cNvPr id="30" name="Shape 28"/>
          <p:cNvSpPr/>
          <p:nvPr/>
        </p:nvSpPr>
        <p:spPr>
          <a:xfrm>
            <a:off x="6720840" y="4718304"/>
            <a:ext cx="100584" cy="100584"/>
          </a:xfrm>
          <a:prstGeom prst="ellipse">
            <a:avLst/>
          </a:prstGeom>
          <a:solidFill>
            <a:srgbClr val="28C840"/>
          </a:solidFill>
          <a:ln w="12700">
            <a:solidFill>
              <a:srgbClr val="28C840"/>
            </a:solidFill>
            <a:prstDash val="solid"/>
          </a:ln>
        </p:spPr>
      </p:sp>
      <p:sp>
        <p:nvSpPr>
          <p:cNvPr id="31" name="Text 29"/>
          <p:cNvSpPr txBox="1"/>
          <p:nvPr/>
        </p:nvSpPr>
        <p:spPr>
          <a:xfrm>
            <a:off x="6400800" y="4992624"/>
            <a:ext cx="4892040" cy="969264"/>
          </a:xfrm>
          <a:prstGeom prst="rect">
            <a:avLst/>
          </a:prstGeom>
          <a:noFill/>
          <a:ln/>
        </p:spPr>
        <p:txBody>
          <a:bodyPr wrap="square" lIns="0" tIns="0" rIns="0" bIns="0" rtlCol="0" anchor="t"/>
          <a:lstStyle/>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cd ../04-time-machine</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build -t pytime:old \</a:t>
            </a:r>
            <a:endParaRPr lang="en-US" sz="1200" dirty="0"/>
          </a:p>
          <a:p>
            <a:pPr marL="0" indent="0">
              <a:lnSpc>
                <a:spcPct val="112000"/>
              </a:lnSpc>
              <a:buNone/>
            </a:pPr>
            <a:r>
              <a:rPr lang="en-US" sz="1200" dirty="0">
                <a:solidFill>
                  <a:srgbClr val="A9B8D0"/>
                </a:solidFill>
                <a:latin typeface="Consolas" pitchFamily="34" charset="0"/>
                <a:ea typeface="Consolas" pitchFamily="34" charset="-122"/>
                <a:cs typeface="Consolas" pitchFamily="34" charset="-120"/>
              </a:rPr>
              <a:t>    --build-arg PY_VERSION=3.8 .</a:t>
            </a:r>
            <a:endParaRPr lang="en-US" sz="1200" dirty="0"/>
          </a:p>
          <a:p>
            <a:pPr marL="0" indent="0">
              <a:lnSpc>
                <a:spcPct val="112000"/>
              </a:lnSpc>
              <a:buNone/>
            </a:pPr>
            <a:r>
              <a:rPr lang="en-US" sz="1200" dirty="0">
                <a:solidFill>
                  <a:srgbClr val="14C8B0"/>
                </a:solidFill>
                <a:latin typeface="Consolas" pitchFamily="34" charset="0"/>
                <a:ea typeface="Consolas" pitchFamily="34" charset="-122"/>
                <a:cs typeface="Consolas" pitchFamily="34" charset="-120"/>
              </a:rPr>
              <a:t>$ </a:t>
            </a:r>
            <a:r>
              <a:rPr lang="en-US" sz="1200" dirty="0">
                <a:solidFill>
                  <a:srgbClr val="E6EDF3"/>
                </a:solidFill>
                <a:latin typeface="Consolas" pitchFamily="34" charset="0"/>
                <a:ea typeface="Consolas" pitchFamily="34" charset="-122"/>
                <a:cs typeface="Consolas" pitchFamily="34" charset="-120"/>
              </a:rPr>
              <a:t>docker run --rm -t pytime:old</a:t>
            </a:r>
            <a:endParaRPr lang="en-US" sz="1200" dirty="0"/>
          </a:p>
        </p:txBody>
      </p:sp>
      <p:sp>
        <p:nvSpPr>
          <p:cNvPr id="32"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7863840" y="1280160"/>
            <a:ext cx="3840480" cy="3291840"/>
          </a:xfrm>
          <a:prstGeom prst="rect">
            <a:avLst/>
          </a:prstGeom>
          <a:noFill/>
          <a:ln/>
        </p:spPr>
        <p:txBody>
          <a:bodyPr wrap="square" lIns="0" tIns="0" rIns="0" bIns="0" rtlCol="0" anchor="ctr"/>
          <a:lstStyle/>
          <a:p>
            <a:pPr marL="0" indent="0" algn="r">
              <a:buNone/>
            </a:pPr>
            <a:r>
              <a:rPr lang="en-US" sz="22000" b="1" dirty="0">
                <a:solidFill>
                  <a:schemeClr val="accent5"/>
                </a:solidFill>
              </a:rPr>
              <a:t>07</a:t>
            </a:r>
            <a:endParaRPr lang="en-US" sz="22000" dirty="0"/>
          </a:p>
        </p:txBody>
      </p:sp>
      <p:sp>
        <p:nvSpPr>
          <p:cNvPr id="3" name="Text 0"/>
          <p:cNvSpPr>
            <a:spLocks noGrp="1"/>
          </p:cNvSpPr>
          <p:nvPr>
            <p:ph type="body" idx="100" hasCustomPrompt="1"/>
          </p:nvPr>
        </p:nvSpPr>
        <p:spPr>
          <a:xfrm>
            <a:off x="731520" y="2148840"/>
            <a:ext cx="7315200" cy="365760"/>
          </a:xfrm>
          <a:prstGeom prst="rect">
            <a:avLst/>
          </a:prstGeom>
          <a:noFill/>
          <a:ln/>
        </p:spPr>
        <p:txBody>
          <a:bodyPr wrap="square" lIns="0" tIns="0" rIns="0" bIns="0" rtlCol="0"/>
          <a:lstStyle/>
          <a:p>
            <a:pPr marL="0" indent="0">
              <a:buNone/>
            </a:pPr>
            <a:r>
              <a:rPr lang="en-US" sz="1400" b="1" kern="0" spc="400" dirty="0">
                <a:solidFill>
                  <a:schemeClr val="accent2"/>
                </a:solidFill>
              </a:rPr>
              <a:t>SECTION 07</a:t>
            </a:r>
            <a:endParaRPr lang="en-US" sz="1400" dirty="0"/>
          </a:p>
        </p:txBody>
      </p:sp>
      <p:sp>
        <p:nvSpPr>
          <p:cNvPr id="4" name="Text 0"/>
          <p:cNvSpPr>
            <a:spLocks noGrp="1"/>
          </p:cNvSpPr>
          <p:nvPr>
            <p:ph type="title" idx="101" hasCustomPrompt="1"/>
          </p:nvPr>
        </p:nvSpPr>
        <p:spPr>
          <a:xfrm>
            <a:off x="731520" y="2560320"/>
            <a:ext cx="6766560" cy="1371600"/>
          </a:xfrm>
          <a:prstGeom prst="rect">
            <a:avLst/>
          </a:prstGeom>
          <a:noFill/>
          <a:ln/>
        </p:spPr>
        <p:txBody>
          <a:bodyPr wrap="square" lIns="0" tIns="0" rIns="0" bIns="0" rtlCol="0" anchor="t"/>
          <a:lstStyle/>
          <a:p>
            <a:pPr marL="0" indent="0" algn="l">
              <a:buNone/>
            </a:pPr>
            <a:r>
              <a:rPr lang="en-US" sz="4000" b="1" dirty="0">
                <a:solidFill>
                  <a:schemeClr val="bg1"/>
                </a:solidFill>
              </a:rPr>
              <a:t>Git and GitHub</a:t>
            </a:r>
            <a:endParaRPr lang="en-US" sz="4000" dirty="0"/>
          </a:p>
        </p:txBody>
      </p:sp>
      <p:sp>
        <p:nvSpPr>
          <p:cNvPr id="5" name="Text 0"/>
          <p:cNvSpPr>
            <a:spLocks noGrp="1"/>
          </p:cNvSpPr>
          <p:nvPr>
            <p:ph type="body" idx="102" hasCustomPrompt="1"/>
          </p:nvPr>
        </p:nvSpPr>
        <p:spPr>
          <a:xfrm>
            <a:off x="731520" y="4069080"/>
            <a:ext cx="6583680" cy="1280160"/>
          </a:xfrm>
          <a:prstGeom prst="rect">
            <a:avLst/>
          </a:prstGeom>
          <a:noFill/>
          <a:ln/>
        </p:spPr>
        <p:txBody>
          <a:bodyPr wrap="square" lIns="0" tIns="0" rIns="0" bIns="0" rtlCol="0" anchor="t"/>
          <a:lstStyle/>
          <a:p>
            <a:pPr marL="0" indent="0" algn="l">
              <a:buNone/>
            </a:pPr>
            <a:r>
              <a:rPr lang="en-US" sz="2200" i="1" dirty="0">
                <a:solidFill>
                  <a:schemeClr val="bg2"/>
                </a:solidFill>
              </a:rPr>
              <a:t>Your Dockerfile is code. How do teams version it, review it and share it?</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GIT ARCHITECTURE</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Four places your work lives</a:t>
            </a:r>
            <a:endParaRPr lang="en-US" sz="3000" dirty="0"/>
          </a:p>
        </p:txBody>
      </p:sp>
      <p:sp>
        <p:nvSpPr>
          <p:cNvPr id="4" name="Shape 2"/>
          <p:cNvSpPr/>
          <p:nvPr/>
        </p:nvSpPr>
        <p:spPr>
          <a:xfrm>
            <a:off x="731520" y="1463040"/>
            <a:ext cx="7909560" cy="3017520"/>
          </a:xfrm>
          <a:prstGeom prst="roundRect">
            <a:avLst>
              <a:gd name="adj" fmla="val 3030"/>
            </a:avLst>
          </a:prstGeom>
          <a:solidFill>
            <a:srgbClr val="0B1426"/>
          </a:solidFill>
          <a:ln w="12700">
            <a:solidFill>
              <a:schemeClr val="accent6"/>
            </a:solidFill>
            <a:prstDash val="dash"/>
          </a:ln>
        </p:spPr>
      </p:sp>
      <p:sp>
        <p:nvSpPr>
          <p:cNvPr id="5" name="Text 3"/>
          <p:cNvSpPr txBox="1"/>
          <p:nvPr/>
        </p:nvSpPr>
        <p:spPr>
          <a:xfrm>
            <a:off x="914400" y="1554480"/>
            <a:ext cx="2743200" cy="274320"/>
          </a:xfrm>
          <a:prstGeom prst="rect">
            <a:avLst/>
          </a:prstGeom>
          <a:noFill/>
          <a:ln/>
        </p:spPr>
        <p:txBody>
          <a:bodyPr wrap="square" lIns="0" tIns="0" rIns="0" bIns="0" rtlCol="0" anchor="t"/>
          <a:lstStyle/>
          <a:p>
            <a:pPr marL="0" indent="0">
              <a:buNone/>
            </a:pPr>
            <a:r>
              <a:rPr lang="en-US" sz="1200" dirty="0">
                <a:solidFill>
                  <a:schemeClr val="bg2"/>
                </a:solidFill>
              </a:rPr>
              <a:t>Your laptop</a:t>
            </a:r>
            <a:endParaRPr lang="en-US" sz="1200" dirty="0"/>
          </a:p>
        </p:txBody>
      </p:sp>
      <p:sp>
        <p:nvSpPr>
          <p:cNvPr id="6" name="Shape 4"/>
          <p:cNvSpPr/>
          <p:nvPr/>
        </p:nvSpPr>
        <p:spPr>
          <a:xfrm>
            <a:off x="8869680" y="1463040"/>
            <a:ext cx="2560320" cy="3017520"/>
          </a:xfrm>
          <a:prstGeom prst="roundRect">
            <a:avLst>
              <a:gd name="adj" fmla="val 3571"/>
            </a:avLst>
          </a:prstGeom>
          <a:solidFill>
            <a:srgbClr val="0B1426"/>
          </a:solidFill>
          <a:ln w="12700">
            <a:solidFill>
              <a:schemeClr val="accent6"/>
            </a:solidFill>
            <a:prstDash val="dash"/>
          </a:ln>
        </p:spPr>
      </p:sp>
      <p:sp>
        <p:nvSpPr>
          <p:cNvPr id="7" name="Text 5"/>
          <p:cNvSpPr txBox="1"/>
          <p:nvPr/>
        </p:nvSpPr>
        <p:spPr>
          <a:xfrm>
            <a:off x="9052560" y="1554480"/>
            <a:ext cx="1828800" cy="274320"/>
          </a:xfrm>
          <a:prstGeom prst="rect">
            <a:avLst/>
          </a:prstGeom>
          <a:noFill/>
          <a:ln/>
        </p:spPr>
        <p:txBody>
          <a:bodyPr wrap="square" lIns="0" tIns="0" rIns="0" bIns="0" rtlCol="0" anchor="t"/>
          <a:lstStyle/>
          <a:p>
            <a:pPr marL="0" indent="0">
              <a:buNone/>
            </a:pPr>
            <a:r>
              <a:rPr lang="en-US" sz="1200" dirty="0">
                <a:solidFill>
                  <a:schemeClr val="bg2"/>
                </a:solidFill>
              </a:rPr>
              <a:t>GitHub</a:t>
            </a:r>
            <a:endParaRPr lang="en-US" sz="1200" dirty="0"/>
          </a:p>
        </p:txBody>
      </p:sp>
      <p:sp>
        <p:nvSpPr>
          <p:cNvPr id="8" name="Shape 6"/>
          <p:cNvSpPr/>
          <p:nvPr/>
        </p:nvSpPr>
        <p:spPr>
          <a:xfrm>
            <a:off x="914400" y="2697480"/>
            <a:ext cx="2331720" cy="1463040"/>
          </a:xfrm>
          <a:prstGeom prst="roundRect">
            <a:avLst>
              <a:gd name="adj" fmla="val 6250"/>
            </a:avLst>
          </a:prstGeom>
          <a:solidFill>
            <a:schemeClr val="tx2"/>
          </a:solidFill>
          <a:ln w="12700">
            <a:solidFill>
              <a:schemeClr val="accent6"/>
            </a:solidFill>
            <a:prstDash val="solid"/>
          </a:ln>
        </p:spPr>
      </p:sp>
      <p:sp>
        <p:nvSpPr>
          <p:cNvPr id="9" name="Text 7"/>
          <p:cNvSpPr txBox="1"/>
          <p:nvPr/>
        </p:nvSpPr>
        <p:spPr>
          <a:xfrm>
            <a:off x="987552" y="2697480"/>
            <a:ext cx="2185416" cy="1463040"/>
          </a:xfrm>
          <a:prstGeom prst="rect">
            <a:avLst/>
          </a:prstGeom>
          <a:noFill/>
          <a:ln/>
        </p:spPr>
        <p:txBody>
          <a:bodyPr wrap="square" lIns="0" tIns="0" rIns="0" bIns="0" rtlCol="0" anchor="ctr"/>
          <a:lstStyle/>
          <a:p>
            <a:pPr marL="0" indent="0" algn="ctr">
              <a:spcAft>
                <a:spcPts val="200"/>
              </a:spcAft>
              <a:buNone/>
            </a:pPr>
            <a:r>
              <a:rPr lang="en-US" sz="1600" b="1" dirty="0">
                <a:solidFill>
                  <a:schemeClr val="bg1"/>
                </a:solidFill>
              </a:rPr>
              <a:t>Working directory</a:t>
            </a:r>
            <a:endParaRPr lang="en-US" sz="1600" dirty="0"/>
          </a:p>
          <a:p>
            <a:pPr marL="0" indent="0" algn="ctr">
              <a:spcAft>
                <a:spcPts val="200"/>
              </a:spcAft>
              <a:buNone/>
            </a:pPr>
            <a:r>
              <a:rPr lang="en-US" sz="1300" dirty="0">
                <a:solidFill>
                  <a:schemeClr val="bg2"/>
                </a:solidFill>
              </a:rPr>
              <a:t>files you edit</a:t>
            </a:r>
            <a:endParaRPr lang="en-US" sz="1600" dirty="0"/>
          </a:p>
        </p:txBody>
      </p:sp>
      <p:sp>
        <p:nvSpPr>
          <p:cNvPr id="10" name="Shape 8"/>
          <p:cNvSpPr/>
          <p:nvPr/>
        </p:nvSpPr>
        <p:spPr>
          <a:xfrm>
            <a:off x="3520440" y="2697480"/>
            <a:ext cx="2331720" cy="1463040"/>
          </a:xfrm>
          <a:prstGeom prst="roundRect">
            <a:avLst>
              <a:gd name="adj" fmla="val 6250"/>
            </a:avLst>
          </a:prstGeom>
          <a:solidFill>
            <a:srgbClr val="2E2410"/>
          </a:solidFill>
          <a:ln w="12700">
            <a:solidFill>
              <a:schemeClr val="accent3"/>
            </a:solidFill>
            <a:prstDash val="solid"/>
          </a:ln>
        </p:spPr>
      </p:sp>
      <p:sp>
        <p:nvSpPr>
          <p:cNvPr id="11" name="Text 9"/>
          <p:cNvSpPr txBox="1"/>
          <p:nvPr/>
        </p:nvSpPr>
        <p:spPr>
          <a:xfrm>
            <a:off x="3593592" y="2697480"/>
            <a:ext cx="2185416" cy="1463040"/>
          </a:xfrm>
          <a:prstGeom prst="rect">
            <a:avLst/>
          </a:prstGeom>
          <a:noFill/>
          <a:ln/>
        </p:spPr>
        <p:txBody>
          <a:bodyPr wrap="square" lIns="0" tIns="0" rIns="0" bIns="0" rtlCol="0" anchor="ctr"/>
          <a:lstStyle/>
          <a:p>
            <a:pPr marL="0" indent="0" algn="ctr">
              <a:spcAft>
                <a:spcPts val="200"/>
              </a:spcAft>
              <a:buNone/>
            </a:pPr>
            <a:r>
              <a:rPr lang="en-US" sz="1600" b="1" dirty="0">
                <a:solidFill>
                  <a:schemeClr val="bg1"/>
                </a:solidFill>
              </a:rPr>
              <a:t>Staging area</a:t>
            </a:r>
            <a:endParaRPr lang="en-US" sz="1600" dirty="0"/>
          </a:p>
          <a:p>
            <a:pPr marL="0" indent="0" algn="ctr">
              <a:spcAft>
                <a:spcPts val="200"/>
              </a:spcAft>
              <a:buNone/>
            </a:pPr>
            <a:r>
              <a:rPr lang="en-US" sz="1300" dirty="0">
                <a:solidFill>
                  <a:schemeClr val="bg2"/>
                </a:solidFill>
              </a:rPr>
              <a:t>draft of the next commit</a:t>
            </a:r>
            <a:endParaRPr lang="en-US" sz="1600" dirty="0"/>
          </a:p>
        </p:txBody>
      </p:sp>
      <p:sp>
        <p:nvSpPr>
          <p:cNvPr id="12" name="Shape 10"/>
          <p:cNvSpPr/>
          <p:nvPr/>
        </p:nvSpPr>
        <p:spPr>
          <a:xfrm>
            <a:off x="6126480" y="2697480"/>
            <a:ext cx="2331720" cy="1463040"/>
          </a:xfrm>
          <a:prstGeom prst="roundRect">
            <a:avLst>
              <a:gd name="adj" fmla="val 6250"/>
            </a:avLst>
          </a:prstGeom>
          <a:solidFill>
            <a:srgbClr val="0F3A66"/>
          </a:solidFill>
          <a:ln w="12700">
            <a:solidFill>
              <a:schemeClr val="accent1"/>
            </a:solidFill>
            <a:prstDash val="solid"/>
          </a:ln>
        </p:spPr>
      </p:sp>
      <p:sp>
        <p:nvSpPr>
          <p:cNvPr id="13" name="Text 11"/>
          <p:cNvSpPr txBox="1"/>
          <p:nvPr/>
        </p:nvSpPr>
        <p:spPr>
          <a:xfrm>
            <a:off x="6199632" y="2697480"/>
            <a:ext cx="2185416" cy="1463040"/>
          </a:xfrm>
          <a:prstGeom prst="rect">
            <a:avLst/>
          </a:prstGeom>
          <a:noFill/>
          <a:ln/>
        </p:spPr>
        <p:txBody>
          <a:bodyPr wrap="square" lIns="0" tIns="0" rIns="0" bIns="0" rtlCol="0" anchor="ctr"/>
          <a:lstStyle/>
          <a:p>
            <a:pPr marL="0" indent="0" algn="ctr">
              <a:spcAft>
                <a:spcPts val="200"/>
              </a:spcAft>
              <a:buNone/>
            </a:pPr>
            <a:r>
              <a:rPr lang="en-US" sz="1600" b="1" dirty="0">
                <a:solidFill>
                  <a:schemeClr val="bg1"/>
                </a:solidFill>
              </a:rPr>
              <a:t>Local repository</a:t>
            </a:r>
            <a:endParaRPr lang="en-US" sz="1600" dirty="0"/>
          </a:p>
          <a:p>
            <a:pPr marL="0" indent="0" algn="ctr">
              <a:spcAft>
                <a:spcPts val="200"/>
              </a:spcAft>
              <a:buNone/>
            </a:pPr>
            <a:r>
              <a:rPr lang="en-US" sz="1300" dirty="0">
                <a:solidFill>
                  <a:schemeClr val="bg2"/>
                </a:solidFill>
              </a:rPr>
              <a:t>saved history</a:t>
            </a:r>
            <a:endParaRPr lang="en-US" sz="1600" dirty="0"/>
          </a:p>
        </p:txBody>
      </p:sp>
      <p:sp>
        <p:nvSpPr>
          <p:cNvPr id="14" name="Shape 12"/>
          <p:cNvSpPr/>
          <p:nvPr/>
        </p:nvSpPr>
        <p:spPr>
          <a:xfrm>
            <a:off x="9052560" y="2697480"/>
            <a:ext cx="2194560" cy="1463040"/>
          </a:xfrm>
          <a:prstGeom prst="roundRect">
            <a:avLst>
              <a:gd name="adj" fmla="val 6250"/>
            </a:avLst>
          </a:prstGeom>
          <a:solidFill>
            <a:srgbClr val="2A1F4D"/>
          </a:solidFill>
          <a:ln w="12700">
            <a:solidFill>
              <a:srgbClr val="9B8CFF"/>
            </a:solidFill>
            <a:prstDash val="solid"/>
          </a:ln>
        </p:spPr>
      </p:sp>
      <p:sp>
        <p:nvSpPr>
          <p:cNvPr id="15" name="Text 13"/>
          <p:cNvSpPr txBox="1"/>
          <p:nvPr/>
        </p:nvSpPr>
        <p:spPr>
          <a:xfrm>
            <a:off x="9125712" y="2697480"/>
            <a:ext cx="2048256" cy="1463040"/>
          </a:xfrm>
          <a:prstGeom prst="rect">
            <a:avLst/>
          </a:prstGeom>
          <a:noFill/>
          <a:ln/>
        </p:spPr>
        <p:txBody>
          <a:bodyPr wrap="square" lIns="0" tIns="0" rIns="0" bIns="0" rtlCol="0" anchor="ctr"/>
          <a:lstStyle/>
          <a:p>
            <a:pPr marL="0" indent="0" algn="ctr">
              <a:spcAft>
                <a:spcPts val="200"/>
              </a:spcAft>
              <a:buNone/>
            </a:pPr>
            <a:r>
              <a:rPr lang="en-US" sz="1600" b="1" dirty="0">
                <a:solidFill>
                  <a:schemeClr val="bg1"/>
                </a:solidFill>
              </a:rPr>
              <a:t>Remote repository</a:t>
            </a:r>
            <a:endParaRPr lang="en-US" sz="1600" dirty="0"/>
          </a:p>
          <a:p>
            <a:pPr marL="0" indent="0" algn="ctr">
              <a:spcAft>
                <a:spcPts val="200"/>
              </a:spcAft>
              <a:buNone/>
            </a:pPr>
            <a:r>
              <a:rPr lang="en-US" sz="1300" dirty="0">
                <a:solidFill>
                  <a:schemeClr val="bg2"/>
                </a:solidFill>
              </a:rPr>
              <a:t>shared copy</a:t>
            </a:r>
            <a:endParaRPr lang="en-US" sz="1600" dirty="0"/>
          </a:p>
        </p:txBody>
      </p:sp>
      <p:sp>
        <p:nvSpPr>
          <p:cNvPr id="16" name="Shape 14"/>
          <p:cNvSpPr/>
          <p:nvPr/>
        </p:nvSpPr>
        <p:spPr>
          <a:xfrm flipV="1">
            <a:off x="1828800" y="2240280"/>
            <a:ext cx="0" cy="438912"/>
          </a:xfrm>
          <a:prstGeom prst="line">
            <a:avLst/>
          </a:prstGeom>
          <a:noFill/>
          <a:ln w="22225">
            <a:solidFill>
              <a:schemeClr val="accent2"/>
            </a:solidFill>
            <a:prstDash val="solid"/>
          </a:ln>
        </p:spPr>
      </p:sp>
      <p:sp>
        <p:nvSpPr>
          <p:cNvPr id="17" name="Shape 15"/>
          <p:cNvSpPr/>
          <p:nvPr/>
        </p:nvSpPr>
        <p:spPr>
          <a:xfrm>
            <a:off x="1828800" y="2240280"/>
            <a:ext cx="2606040" cy="0"/>
          </a:xfrm>
          <a:prstGeom prst="line">
            <a:avLst/>
          </a:prstGeom>
          <a:noFill/>
          <a:ln w="22225">
            <a:solidFill>
              <a:schemeClr val="accent2"/>
            </a:solidFill>
            <a:prstDash val="solid"/>
          </a:ln>
        </p:spPr>
      </p:sp>
      <p:sp>
        <p:nvSpPr>
          <p:cNvPr id="18" name="Shape 16"/>
          <p:cNvSpPr/>
          <p:nvPr/>
        </p:nvSpPr>
        <p:spPr>
          <a:xfrm>
            <a:off x="4434840" y="2240280"/>
            <a:ext cx="0" cy="429768"/>
          </a:xfrm>
          <a:prstGeom prst="line">
            <a:avLst/>
          </a:prstGeom>
          <a:noFill/>
          <a:ln w="22225">
            <a:solidFill>
              <a:schemeClr val="accent2"/>
            </a:solidFill>
            <a:prstDash val="solid"/>
            <a:tailEnd type="triangle"/>
          </a:ln>
        </p:spPr>
      </p:sp>
      <p:sp>
        <p:nvSpPr>
          <p:cNvPr id="19" name="Text 17"/>
          <p:cNvSpPr txBox="1"/>
          <p:nvPr/>
        </p:nvSpPr>
        <p:spPr>
          <a:xfrm>
            <a:off x="2308860" y="1911096"/>
            <a:ext cx="1645920" cy="274320"/>
          </a:xfrm>
          <a:prstGeom prst="rect">
            <a:avLst/>
          </a:prstGeom>
          <a:noFill/>
          <a:ln/>
        </p:spPr>
        <p:txBody>
          <a:bodyPr wrap="square" lIns="0" tIns="0" rIns="0" bIns="0" rtlCol="0" anchor="t"/>
          <a:lstStyle/>
          <a:p>
            <a:pPr marL="0" indent="0" algn="ctr">
              <a:buNone/>
            </a:pPr>
            <a:r>
              <a:rPr lang="en-US" sz="1400" dirty="0">
                <a:solidFill>
                  <a:schemeClr val="accent2"/>
                </a:solidFill>
                <a:latin typeface="Consolas" pitchFamily="34" charset="0"/>
                <a:ea typeface="Consolas" pitchFamily="34" charset="-122"/>
                <a:cs typeface="Consolas" pitchFamily="34" charset="-120"/>
              </a:rPr>
              <a:t>git add</a:t>
            </a:r>
            <a:endParaRPr lang="en-US" sz="1400" dirty="0"/>
          </a:p>
        </p:txBody>
      </p:sp>
      <p:sp>
        <p:nvSpPr>
          <p:cNvPr id="20" name="Shape 18"/>
          <p:cNvSpPr/>
          <p:nvPr/>
        </p:nvSpPr>
        <p:spPr>
          <a:xfrm flipV="1">
            <a:off x="4709160" y="2240280"/>
            <a:ext cx="0" cy="438912"/>
          </a:xfrm>
          <a:prstGeom prst="line">
            <a:avLst/>
          </a:prstGeom>
          <a:noFill/>
          <a:ln w="22225">
            <a:solidFill>
              <a:schemeClr val="accent2"/>
            </a:solidFill>
            <a:prstDash val="solid"/>
          </a:ln>
        </p:spPr>
      </p:sp>
      <p:sp>
        <p:nvSpPr>
          <p:cNvPr id="21" name="Shape 19"/>
          <p:cNvSpPr/>
          <p:nvPr/>
        </p:nvSpPr>
        <p:spPr>
          <a:xfrm>
            <a:off x="4709160" y="2240280"/>
            <a:ext cx="2331720" cy="0"/>
          </a:xfrm>
          <a:prstGeom prst="line">
            <a:avLst/>
          </a:prstGeom>
          <a:noFill/>
          <a:ln w="22225">
            <a:solidFill>
              <a:schemeClr val="accent2"/>
            </a:solidFill>
            <a:prstDash val="solid"/>
          </a:ln>
        </p:spPr>
      </p:sp>
      <p:sp>
        <p:nvSpPr>
          <p:cNvPr id="22" name="Shape 20"/>
          <p:cNvSpPr/>
          <p:nvPr/>
        </p:nvSpPr>
        <p:spPr>
          <a:xfrm>
            <a:off x="7040880" y="2240280"/>
            <a:ext cx="0" cy="429768"/>
          </a:xfrm>
          <a:prstGeom prst="line">
            <a:avLst/>
          </a:prstGeom>
          <a:noFill/>
          <a:ln w="22225">
            <a:solidFill>
              <a:schemeClr val="accent2"/>
            </a:solidFill>
            <a:prstDash val="solid"/>
            <a:tailEnd type="triangle"/>
          </a:ln>
        </p:spPr>
      </p:sp>
      <p:sp>
        <p:nvSpPr>
          <p:cNvPr id="23" name="Text 21"/>
          <p:cNvSpPr txBox="1"/>
          <p:nvPr/>
        </p:nvSpPr>
        <p:spPr>
          <a:xfrm>
            <a:off x="5052060" y="1911096"/>
            <a:ext cx="1645920" cy="274320"/>
          </a:xfrm>
          <a:prstGeom prst="rect">
            <a:avLst/>
          </a:prstGeom>
          <a:noFill/>
          <a:ln/>
        </p:spPr>
        <p:txBody>
          <a:bodyPr wrap="square" lIns="0" tIns="0" rIns="0" bIns="0" rtlCol="0" anchor="t"/>
          <a:lstStyle/>
          <a:p>
            <a:pPr marL="0" indent="0" algn="ctr">
              <a:buNone/>
            </a:pPr>
            <a:r>
              <a:rPr lang="en-US" sz="1400" dirty="0">
                <a:solidFill>
                  <a:schemeClr val="accent2"/>
                </a:solidFill>
                <a:latin typeface="Consolas" pitchFamily="34" charset="0"/>
                <a:ea typeface="Consolas" pitchFamily="34" charset="-122"/>
                <a:cs typeface="Consolas" pitchFamily="34" charset="-120"/>
              </a:rPr>
              <a:t>git commit</a:t>
            </a:r>
            <a:endParaRPr lang="en-US" sz="1400" dirty="0"/>
          </a:p>
        </p:txBody>
      </p:sp>
      <p:sp>
        <p:nvSpPr>
          <p:cNvPr id="24" name="Shape 22"/>
          <p:cNvSpPr/>
          <p:nvPr/>
        </p:nvSpPr>
        <p:spPr>
          <a:xfrm flipV="1">
            <a:off x="7315200" y="2240280"/>
            <a:ext cx="0" cy="438912"/>
          </a:xfrm>
          <a:prstGeom prst="line">
            <a:avLst/>
          </a:prstGeom>
          <a:noFill/>
          <a:ln w="22225">
            <a:solidFill>
              <a:schemeClr val="accent2"/>
            </a:solidFill>
            <a:prstDash val="solid"/>
          </a:ln>
        </p:spPr>
      </p:sp>
      <p:sp>
        <p:nvSpPr>
          <p:cNvPr id="25" name="Shape 23"/>
          <p:cNvSpPr/>
          <p:nvPr/>
        </p:nvSpPr>
        <p:spPr>
          <a:xfrm>
            <a:off x="7315200" y="2240280"/>
            <a:ext cx="2743200" cy="0"/>
          </a:xfrm>
          <a:prstGeom prst="line">
            <a:avLst/>
          </a:prstGeom>
          <a:noFill/>
          <a:ln w="22225">
            <a:solidFill>
              <a:schemeClr val="accent2"/>
            </a:solidFill>
            <a:prstDash val="solid"/>
          </a:ln>
        </p:spPr>
      </p:sp>
      <p:sp>
        <p:nvSpPr>
          <p:cNvPr id="26" name="Shape 24"/>
          <p:cNvSpPr/>
          <p:nvPr/>
        </p:nvSpPr>
        <p:spPr>
          <a:xfrm>
            <a:off x="10058400" y="2240280"/>
            <a:ext cx="0" cy="429768"/>
          </a:xfrm>
          <a:prstGeom prst="line">
            <a:avLst/>
          </a:prstGeom>
          <a:noFill/>
          <a:ln w="22225">
            <a:solidFill>
              <a:schemeClr val="accent2"/>
            </a:solidFill>
            <a:prstDash val="solid"/>
            <a:tailEnd type="triangle"/>
          </a:ln>
        </p:spPr>
      </p:sp>
      <p:sp>
        <p:nvSpPr>
          <p:cNvPr id="27" name="Text 25"/>
          <p:cNvSpPr txBox="1"/>
          <p:nvPr/>
        </p:nvSpPr>
        <p:spPr>
          <a:xfrm>
            <a:off x="9006840" y="1911096"/>
            <a:ext cx="1645920" cy="274320"/>
          </a:xfrm>
          <a:prstGeom prst="rect">
            <a:avLst/>
          </a:prstGeom>
          <a:noFill/>
          <a:ln/>
        </p:spPr>
        <p:txBody>
          <a:bodyPr wrap="square" lIns="0" tIns="0" rIns="0" bIns="0" rtlCol="0" anchor="t"/>
          <a:lstStyle/>
          <a:p>
            <a:pPr marL="0" indent="0" algn="l">
              <a:buNone/>
            </a:pPr>
            <a:r>
              <a:rPr lang="en-US" sz="1400" dirty="0">
                <a:solidFill>
                  <a:schemeClr val="accent2"/>
                </a:solidFill>
                <a:latin typeface="Consolas" pitchFamily="34" charset="0"/>
                <a:ea typeface="Consolas" pitchFamily="34" charset="-122"/>
                <a:cs typeface="Consolas" pitchFamily="34" charset="-120"/>
              </a:rPr>
              <a:t>git push</a:t>
            </a:r>
            <a:endParaRPr lang="en-US" sz="1400" dirty="0"/>
          </a:p>
        </p:txBody>
      </p:sp>
      <p:sp>
        <p:nvSpPr>
          <p:cNvPr id="28" name="Shape 26"/>
          <p:cNvSpPr/>
          <p:nvPr/>
        </p:nvSpPr>
        <p:spPr>
          <a:xfrm>
            <a:off x="7315200" y="4178808"/>
            <a:ext cx="0" cy="576072"/>
          </a:xfrm>
          <a:prstGeom prst="line">
            <a:avLst/>
          </a:prstGeom>
          <a:noFill/>
          <a:ln w="22225">
            <a:solidFill>
              <a:schemeClr val="bg2"/>
            </a:solidFill>
            <a:prstDash val="solid"/>
          </a:ln>
        </p:spPr>
      </p:sp>
      <p:sp>
        <p:nvSpPr>
          <p:cNvPr id="29" name="Shape 27"/>
          <p:cNvSpPr/>
          <p:nvPr/>
        </p:nvSpPr>
        <p:spPr>
          <a:xfrm flipH="1">
            <a:off x="2377440" y="4754880"/>
            <a:ext cx="4937760" cy="0"/>
          </a:xfrm>
          <a:prstGeom prst="line">
            <a:avLst/>
          </a:prstGeom>
          <a:noFill/>
          <a:ln w="22225">
            <a:solidFill>
              <a:schemeClr val="bg2"/>
            </a:solidFill>
            <a:prstDash val="solid"/>
          </a:ln>
        </p:spPr>
      </p:sp>
      <p:sp>
        <p:nvSpPr>
          <p:cNvPr id="30" name="Shape 28"/>
          <p:cNvSpPr/>
          <p:nvPr/>
        </p:nvSpPr>
        <p:spPr>
          <a:xfrm flipV="1">
            <a:off x="2377440" y="4206240"/>
            <a:ext cx="0" cy="548640"/>
          </a:xfrm>
          <a:prstGeom prst="line">
            <a:avLst/>
          </a:prstGeom>
          <a:noFill/>
          <a:ln w="22225">
            <a:solidFill>
              <a:schemeClr val="bg2"/>
            </a:solidFill>
            <a:prstDash val="solid"/>
            <a:tailEnd type="triangle"/>
          </a:ln>
        </p:spPr>
      </p:sp>
      <p:sp>
        <p:nvSpPr>
          <p:cNvPr id="31" name="Text 29"/>
          <p:cNvSpPr txBox="1"/>
          <p:nvPr/>
        </p:nvSpPr>
        <p:spPr>
          <a:xfrm>
            <a:off x="3291840" y="4800600"/>
            <a:ext cx="3200400" cy="274320"/>
          </a:xfrm>
          <a:prstGeom prst="rect">
            <a:avLst/>
          </a:prstGeom>
          <a:noFill/>
          <a:ln/>
        </p:spPr>
        <p:txBody>
          <a:bodyPr wrap="square" lIns="0" tIns="0" rIns="0" bIns="0" rtlCol="0" anchor="t"/>
          <a:lstStyle/>
          <a:p>
            <a:pPr marL="0" indent="0" algn="ctr">
              <a:buNone/>
            </a:pPr>
            <a:r>
              <a:rPr lang="en-US" sz="1300" dirty="0">
                <a:solidFill>
                  <a:schemeClr val="bg2"/>
                </a:solidFill>
                <a:latin typeface="Consolas" pitchFamily="34" charset="0"/>
                <a:ea typeface="Consolas" pitchFamily="34" charset="-122"/>
                <a:cs typeface="Consolas" pitchFamily="34" charset="-120"/>
              </a:rPr>
              <a:t>git switch / git restore</a:t>
            </a:r>
            <a:endParaRPr lang="en-US" sz="1300" dirty="0"/>
          </a:p>
        </p:txBody>
      </p:sp>
      <p:sp>
        <p:nvSpPr>
          <p:cNvPr id="32" name="Shape 30"/>
          <p:cNvSpPr/>
          <p:nvPr/>
        </p:nvSpPr>
        <p:spPr>
          <a:xfrm>
            <a:off x="10149840" y="4178808"/>
            <a:ext cx="0" cy="1078992"/>
          </a:xfrm>
          <a:prstGeom prst="line">
            <a:avLst/>
          </a:prstGeom>
          <a:noFill/>
          <a:ln w="22225">
            <a:solidFill>
              <a:schemeClr val="accent1"/>
            </a:solidFill>
            <a:prstDash val="solid"/>
          </a:ln>
        </p:spPr>
      </p:sp>
      <p:sp>
        <p:nvSpPr>
          <p:cNvPr id="33" name="Shape 31"/>
          <p:cNvSpPr/>
          <p:nvPr/>
        </p:nvSpPr>
        <p:spPr>
          <a:xfrm flipH="1">
            <a:off x="1463040" y="5257800"/>
            <a:ext cx="8686800" cy="0"/>
          </a:xfrm>
          <a:prstGeom prst="line">
            <a:avLst/>
          </a:prstGeom>
          <a:noFill/>
          <a:ln w="22225">
            <a:solidFill>
              <a:schemeClr val="accent1"/>
            </a:solidFill>
            <a:prstDash val="solid"/>
          </a:ln>
        </p:spPr>
      </p:sp>
      <p:sp>
        <p:nvSpPr>
          <p:cNvPr id="34" name="Shape 32"/>
          <p:cNvSpPr/>
          <p:nvPr/>
        </p:nvSpPr>
        <p:spPr>
          <a:xfrm flipV="1">
            <a:off x="1463040" y="4206240"/>
            <a:ext cx="0" cy="1051560"/>
          </a:xfrm>
          <a:prstGeom prst="line">
            <a:avLst/>
          </a:prstGeom>
          <a:noFill/>
          <a:ln w="22225">
            <a:solidFill>
              <a:schemeClr val="accent1"/>
            </a:solidFill>
            <a:prstDash val="solid"/>
            <a:tailEnd type="triangle"/>
          </a:ln>
        </p:spPr>
      </p:sp>
      <p:sp>
        <p:nvSpPr>
          <p:cNvPr id="35" name="Text 33"/>
          <p:cNvSpPr txBox="1"/>
          <p:nvPr/>
        </p:nvSpPr>
        <p:spPr>
          <a:xfrm>
            <a:off x="4389120" y="5303520"/>
            <a:ext cx="3840480" cy="274320"/>
          </a:xfrm>
          <a:prstGeom prst="rect">
            <a:avLst/>
          </a:prstGeom>
          <a:noFill/>
          <a:ln/>
        </p:spPr>
        <p:txBody>
          <a:bodyPr wrap="square" lIns="0" tIns="0" rIns="0" bIns="0" rtlCol="0" anchor="t"/>
          <a:lstStyle/>
          <a:p>
            <a:pPr marL="0" indent="0" algn="ctr">
              <a:buNone/>
            </a:pPr>
            <a:r>
              <a:rPr lang="en-US" sz="1300" dirty="0">
                <a:solidFill>
                  <a:schemeClr val="accent1"/>
                </a:solidFill>
                <a:latin typeface="Consolas" pitchFamily="34" charset="0"/>
                <a:ea typeface="Consolas" pitchFamily="34" charset="-122"/>
                <a:cs typeface="Consolas" pitchFamily="34" charset="-120"/>
              </a:rPr>
              <a:t>git pull  =  fetch + merge</a:t>
            </a:r>
            <a:endParaRPr lang="en-US" sz="1300" dirty="0"/>
          </a:p>
        </p:txBody>
      </p:sp>
      <p:sp>
        <p:nvSpPr>
          <p:cNvPr id="36" name="Text 34"/>
          <p:cNvSpPr txBox="1"/>
          <p:nvPr/>
        </p:nvSpPr>
        <p:spPr>
          <a:xfrm>
            <a:off x="731520" y="5806440"/>
            <a:ext cx="10698480" cy="320040"/>
          </a:xfrm>
          <a:prstGeom prst="rect">
            <a:avLst/>
          </a:prstGeom>
          <a:noFill/>
          <a:ln/>
        </p:spPr>
        <p:txBody>
          <a:bodyPr wrap="square" lIns="0" tIns="0" rIns="0" bIns="0" rtlCol="0" anchor="t"/>
          <a:lstStyle/>
          <a:p>
            <a:pPr marL="0" indent="0" algn="ctr">
              <a:buNone/>
            </a:pPr>
            <a:r>
              <a:rPr lang="en-US" sz="1400" dirty="0">
                <a:solidFill>
                  <a:schemeClr val="bg2"/>
                </a:solidFill>
              </a:rPr>
              <a:t>commit = save on your laptop  ·  push = upload to GitHub  ·  pull = download the team’s changes</a:t>
            </a:r>
            <a:endParaRPr lang="en-US" sz="1400" dirty="0"/>
          </a:p>
        </p:txBody>
      </p:sp>
      <p:sp>
        <p:nvSpPr>
          <p:cNvPr id="37"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GIT · SETUP</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One-time setup, then start a repository</a:t>
            </a:r>
            <a:endParaRPr lang="en-US" sz="3000" dirty="0"/>
          </a:p>
        </p:txBody>
      </p:sp>
      <p:sp>
        <p:nvSpPr>
          <p:cNvPr id="4" name="Text 2"/>
          <p:cNvSpPr txBox="1"/>
          <p:nvPr/>
        </p:nvSpPr>
        <p:spPr>
          <a:xfrm>
            <a:off x="731520" y="1463040"/>
            <a:ext cx="5257800" cy="365760"/>
          </a:xfrm>
          <a:prstGeom prst="rect">
            <a:avLst/>
          </a:prstGeom>
          <a:noFill/>
          <a:ln/>
        </p:spPr>
        <p:txBody>
          <a:bodyPr wrap="square" lIns="0" tIns="0" rIns="0" bIns="0" rtlCol="0" anchor="t"/>
          <a:lstStyle/>
          <a:p>
            <a:pPr marL="0" indent="0">
              <a:buNone/>
            </a:pPr>
            <a:r>
              <a:rPr lang="en-US" sz="1700" b="1" dirty="0">
                <a:solidFill>
                  <a:schemeClr val="accent2"/>
                </a:solidFill>
              </a:rPr>
              <a:t>1 · Once per laptop</a:t>
            </a:r>
            <a:endParaRPr lang="en-US" sz="1700" dirty="0"/>
          </a:p>
        </p:txBody>
      </p:sp>
      <p:sp>
        <p:nvSpPr>
          <p:cNvPr id="5" name="Shape 3"/>
          <p:cNvSpPr/>
          <p:nvPr/>
        </p:nvSpPr>
        <p:spPr>
          <a:xfrm>
            <a:off x="731520" y="1874520"/>
            <a:ext cx="5257800" cy="2423160"/>
          </a:xfrm>
          <a:prstGeom prst="roundRect">
            <a:avLst>
              <a:gd name="adj" fmla="val 3019"/>
            </a:avLst>
          </a:prstGeom>
          <a:solidFill>
            <a:srgbClr val="070D1A"/>
          </a:solidFill>
          <a:ln w="12700">
            <a:solidFill>
              <a:srgbClr val="23314F"/>
            </a:solidFill>
            <a:prstDash val="solid"/>
          </a:ln>
        </p:spPr>
      </p:sp>
      <p:sp>
        <p:nvSpPr>
          <p:cNvPr id="6" name="Shape 4"/>
          <p:cNvSpPr/>
          <p:nvPr/>
        </p:nvSpPr>
        <p:spPr>
          <a:xfrm>
            <a:off x="914400" y="2020824"/>
            <a:ext cx="100584" cy="100584"/>
          </a:xfrm>
          <a:prstGeom prst="ellipse">
            <a:avLst/>
          </a:prstGeom>
          <a:solidFill>
            <a:srgbClr val="FF5F57"/>
          </a:solidFill>
          <a:ln w="12700">
            <a:solidFill>
              <a:srgbClr val="FF5F57"/>
            </a:solidFill>
            <a:prstDash val="solid"/>
          </a:ln>
        </p:spPr>
      </p:sp>
      <p:sp>
        <p:nvSpPr>
          <p:cNvPr id="7" name="Shape 5"/>
          <p:cNvSpPr/>
          <p:nvPr/>
        </p:nvSpPr>
        <p:spPr>
          <a:xfrm>
            <a:off x="1097280" y="2020824"/>
            <a:ext cx="100584" cy="100584"/>
          </a:xfrm>
          <a:prstGeom prst="ellipse">
            <a:avLst/>
          </a:prstGeom>
          <a:solidFill>
            <a:srgbClr val="FEBC2E"/>
          </a:solidFill>
          <a:ln w="12700">
            <a:solidFill>
              <a:srgbClr val="FEBC2E"/>
            </a:solidFill>
            <a:prstDash val="solid"/>
          </a:ln>
        </p:spPr>
      </p:sp>
      <p:sp>
        <p:nvSpPr>
          <p:cNvPr id="8" name="Shape 6"/>
          <p:cNvSpPr/>
          <p:nvPr/>
        </p:nvSpPr>
        <p:spPr>
          <a:xfrm>
            <a:off x="1280160" y="2020824"/>
            <a:ext cx="100584" cy="100584"/>
          </a:xfrm>
          <a:prstGeom prst="ellipse">
            <a:avLst/>
          </a:prstGeom>
          <a:solidFill>
            <a:srgbClr val="28C840"/>
          </a:solidFill>
          <a:ln w="12700">
            <a:solidFill>
              <a:srgbClr val="28C840"/>
            </a:solidFill>
            <a:prstDash val="solid"/>
          </a:ln>
        </p:spPr>
      </p:sp>
      <p:sp>
        <p:nvSpPr>
          <p:cNvPr id="9" name="Text 7"/>
          <p:cNvSpPr txBox="1"/>
          <p:nvPr/>
        </p:nvSpPr>
        <p:spPr>
          <a:xfrm>
            <a:off x="960120" y="2295144"/>
            <a:ext cx="4892040" cy="1911096"/>
          </a:xfrm>
          <a:prstGeom prst="rect">
            <a:avLst/>
          </a:prstGeom>
          <a:noFill/>
          <a:ln/>
        </p:spPr>
        <p:txBody>
          <a:bodyPr wrap="square" lIns="0" tIns="0" rIns="0" bIns="0" rtlCol="0" anchor="t"/>
          <a:lstStyle/>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config --global user.name "Your Name"</a:t>
            </a:r>
            <a:endParaRPr lang="en-US" sz="1250" dirty="0"/>
          </a:p>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config --global user.email "you@example.com"</a:t>
            </a:r>
            <a:endParaRPr lang="en-US" sz="1250" dirty="0"/>
          </a:p>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config --global init.defaultBranch main</a:t>
            </a:r>
            <a:endParaRPr lang="en-US" sz="1250" dirty="0"/>
          </a:p>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config --global --list</a:t>
            </a:r>
            <a:endParaRPr lang="en-US" sz="1250" dirty="0"/>
          </a:p>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gh auth login</a:t>
            </a:r>
            <a:endParaRPr lang="en-US" sz="1250" dirty="0"/>
          </a:p>
        </p:txBody>
      </p:sp>
      <p:sp>
        <p:nvSpPr>
          <p:cNvPr id="10" name="Text 8"/>
          <p:cNvSpPr txBox="1"/>
          <p:nvPr/>
        </p:nvSpPr>
        <p:spPr>
          <a:xfrm>
            <a:off x="6172200" y="1463040"/>
            <a:ext cx="5257800" cy="365760"/>
          </a:xfrm>
          <a:prstGeom prst="rect">
            <a:avLst/>
          </a:prstGeom>
          <a:noFill/>
          <a:ln/>
        </p:spPr>
        <p:txBody>
          <a:bodyPr wrap="square" lIns="0" tIns="0" rIns="0" bIns="0" rtlCol="0" anchor="t"/>
          <a:lstStyle/>
          <a:p>
            <a:pPr marL="0" indent="0">
              <a:buNone/>
            </a:pPr>
            <a:r>
              <a:rPr lang="en-US" sz="1700" b="1" dirty="0">
                <a:solidFill>
                  <a:schemeClr val="accent2"/>
                </a:solidFill>
              </a:rPr>
              <a:t>2 · Start a repository</a:t>
            </a:r>
            <a:endParaRPr lang="en-US" sz="1700" dirty="0"/>
          </a:p>
        </p:txBody>
      </p:sp>
      <p:sp>
        <p:nvSpPr>
          <p:cNvPr id="11" name="Shape 9"/>
          <p:cNvSpPr/>
          <p:nvPr/>
        </p:nvSpPr>
        <p:spPr>
          <a:xfrm>
            <a:off x="6172200" y="1874520"/>
            <a:ext cx="5257800" cy="2423160"/>
          </a:xfrm>
          <a:prstGeom prst="roundRect">
            <a:avLst>
              <a:gd name="adj" fmla="val 3019"/>
            </a:avLst>
          </a:prstGeom>
          <a:solidFill>
            <a:srgbClr val="070D1A"/>
          </a:solidFill>
          <a:ln w="12700">
            <a:solidFill>
              <a:srgbClr val="23314F"/>
            </a:solidFill>
            <a:prstDash val="solid"/>
          </a:ln>
        </p:spPr>
      </p:sp>
      <p:sp>
        <p:nvSpPr>
          <p:cNvPr id="12" name="Shape 10"/>
          <p:cNvSpPr/>
          <p:nvPr/>
        </p:nvSpPr>
        <p:spPr>
          <a:xfrm>
            <a:off x="6355080" y="2020824"/>
            <a:ext cx="100584" cy="100584"/>
          </a:xfrm>
          <a:prstGeom prst="ellipse">
            <a:avLst/>
          </a:prstGeom>
          <a:solidFill>
            <a:srgbClr val="FF5F57"/>
          </a:solidFill>
          <a:ln w="12700">
            <a:solidFill>
              <a:srgbClr val="FF5F57"/>
            </a:solidFill>
            <a:prstDash val="solid"/>
          </a:ln>
        </p:spPr>
      </p:sp>
      <p:sp>
        <p:nvSpPr>
          <p:cNvPr id="13" name="Shape 11"/>
          <p:cNvSpPr/>
          <p:nvPr/>
        </p:nvSpPr>
        <p:spPr>
          <a:xfrm>
            <a:off x="6537960" y="2020824"/>
            <a:ext cx="100584" cy="100584"/>
          </a:xfrm>
          <a:prstGeom prst="ellipse">
            <a:avLst/>
          </a:prstGeom>
          <a:solidFill>
            <a:srgbClr val="FEBC2E"/>
          </a:solidFill>
          <a:ln w="12700">
            <a:solidFill>
              <a:srgbClr val="FEBC2E"/>
            </a:solidFill>
            <a:prstDash val="solid"/>
          </a:ln>
        </p:spPr>
      </p:sp>
      <p:sp>
        <p:nvSpPr>
          <p:cNvPr id="14" name="Shape 12"/>
          <p:cNvSpPr/>
          <p:nvPr/>
        </p:nvSpPr>
        <p:spPr>
          <a:xfrm>
            <a:off x="6720840" y="2020824"/>
            <a:ext cx="100584" cy="100584"/>
          </a:xfrm>
          <a:prstGeom prst="ellipse">
            <a:avLst/>
          </a:prstGeom>
          <a:solidFill>
            <a:srgbClr val="28C840"/>
          </a:solidFill>
          <a:ln w="12700">
            <a:solidFill>
              <a:srgbClr val="28C840"/>
            </a:solidFill>
            <a:prstDash val="solid"/>
          </a:ln>
        </p:spPr>
      </p:sp>
      <p:sp>
        <p:nvSpPr>
          <p:cNvPr id="15" name="Text 13"/>
          <p:cNvSpPr txBox="1"/>
          <p:nvPr/>
        </p:nvSpPr>
        <p:spPr>
          <a:xfrm>
            <a:off x="6400800" y="2295144"/>
            <a:ext cx="4892040" cy="1911096"/>
          </a:xfrm>
          <a:prstGeom prst="rect">
            <a:avLst/>
          </a:prstGeom>
          <a:noFill/>
          <a:ln/>
        </p:spPr>
        <p:txBody>
          <a:bodyPr wrap="square" lIns="0" tIns="0" rIns="0" bIns="0" rtlCol="0" anchor="t"/>
          <a:lstStyle/>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init</a:t>
            </a:r>
            <a:r>
              <a:rPr lang="en-US" sz="1250" dirty="0">
                <a:solidFill>
                  <a:srgbClr val="7D8BA6"/>
                </a:solidFill>
                <a:latin typeface="Consolas" pitchFamily="34" charset="0"/>
                <a:ea typeface="Consolas" pitchFamily="34" charset="-122"/>
                <a:cs typeface="Consolas" pitchFamily="34" charset="-120"/>
              </a:rPr>
              <a:t>  # this folder → repo</a:t>
            </a:r>
            <a:endParaRPr lang="en-US" sz="1250" dirty="0"/>
          </a:p>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clone https://github.com/user/repo.git</a:t>
            </a:r>
            <a:endParaRPr lang="en-US" sz="1250" dirty="0"/>
          </a:p>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remote add origin \</a:t>
            </a:r>
            <a:endParaRPr lang="en-US" sz="1250" dirty="0"/>
          </a:p>
          <a:p>
            <a:pPr marL="0" indent="0">
              <a:lnSpc>
                <a:spcPct val="112000"/>
              </a:lnSpc>
              <a:buNone/>
            </a:pPr>
            <a:r>
              <a:rPr lang="en-US" sz="1250" dirty="0">
                <a:solidFill>
                  <a:srgbClr val="A9B8D0"/>
                </a:solidFill>
                <a:latin typeface="Consolas" pitchFamily="34" charset="0"/>
                <a:ea typeface="Consolas" pitchFamily="34" charset="-122"/>
                <a:cs typeface="Consolas" pitchFamily="34" charset="-120"/>
              </a:rPr>
              <a:t>    https://github.com/user/repo.git</a:t>
            </a:r>
            <a:endParaRPr lang="en-US" sz="1250" dirty="0"/>
          </a:p>
          <a:p>
            <a:pPr marL="0" indent="0">
              <a:lnSpc>
                <a:spcPct val="112000"/>
              </a:lnSpc>
              <a:buNone/>
            </a:pPr>
            <a:r>
              <a:rPr lang="en-US" sz="1250" dirty="0">
                <a:solidFill>
                  <a:srgbClr val="14C8B0"/>
                </a:solidFill>
                <a:latin typeface="Consolas" pitchFamily="34" charset="0"/>
                <a:ea typeface="Consolas" pitchFamily="34" charset="-122"/>
                <a:cs typeface="Consolas" pitchFamily="34" charset="-120"/>
              </a:rPr>
              <a:t>$ </a:t>
            </a:r>
            <a:r>
              <a:rPr lang="en-US" sz="1250" dirty="0">
                <a:solidFill>
                  <a:srgbClr val="E6EDF3"/>
                </a:solidFill>
                <a:latin typeface="Consolas" pitchFamily="34" charset="0"/>
                <a:ea typeface="Consolas" pitchFamily="34" charset="-122"/>
                <a:cs typeface="Consolas" pitchFamily="34" charset="-120"/>
              </a:rPr>
              <a:t>git remote -v</a:t>
            </a:r>
            <a:r>
              <a:rPr lang="en-US" sz="1250" dirty="0">
                <a:solidFill>
                  <a:srgbClr val="7D8BA6"/>
                </a:solidFill>
                <a:latin typeface="Consolas" pitchFamily="34" charset="0"/>
                <a:ea typeface="Consolas" pitchFamily="34" charset="-122"/>
                <a:cs typeface="Consolas" pitchFamily="34" charset="-120"/>
              </a:rPr>
              <a:t>  # show the link</a:t>
            </a:r>
            <a:endParaRPr lang="en-US" sz="1250" dirty="0"/>
          </a:p>
        </p:txBody>
      </p:sp>
      <p:sp>
        <p:nvSpPr>
          <p:cNvPr id="16" name="Text 14"/>
          <p:cNvSpPr txBox="1"/>
          <p:nvPr/>
        </p:nvSpPr>
        <p:spPr>
          <a:xfrm>
            <a:off x="731520" y="4572000"/>
            <a:ext cx="525780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WHY</a:t>
            </a:r>
            <a:endParaRPr lang="en-US" sz="1100" dirty="0"/>
          </a:p>
        </p:txBody>
      </p:sp>
      <p:sp>
        <p:nvSpPr>
          <p:cNvPr id="17" name="Text 15"/>
          <p:cNvSpPr txBox="1"/>
          <p:nvPr/>
        </p:nvSpPr>
        <p:spPr>
          <a:xfrm>
            <a:off x="731520" y="4828032"/>
            <a:ext cx="5257800" cy="539496"/>
          </a:xfrm>
          <a:prstGeom prst="rect">
            <a:avLst/>
          </a:prstGeom>
          <a:noFill/>
          <a:ln/>
        </p:spPr>
        <p:txBody>
          <a:bodyPr wrap="square" lIns="0" tIns="0" rIns="0" bIns="0" rtlCol="0" anchor="t"/>
          <a:lstStyle/>
          <a:p>
            <a:pPr marL="0" indent="0">
              <a:buNone/>
            </a:pPr>
            <a:r>
              <a:rPr lang="en-US" sz="1400" dirty="0">
                <a:solidFill>
                  <a:schemeClr val="bg1"/>
                </a:solidFill>
              </a:rPr>
              <a:t>Every commit is stamped with your name and email; use the same email as your GitHub account.</a:t>
            </a:r>
            <a:endParaRPr lang="en-US" sz="1400" dirty="0"/>
          </a:p>
        </p:txBody>
      </p:sp>
      <p:sp>
        <p:nvSpPr>
          <p:cNvPr id="18" name="Shape 16"/>
          <p:cNvSpPr/>
          <p:nvPr/>
        </p:nvSpPr>
        <p:spPr>
          <a:xfrm>
            <a:off x="6172200" y="4572000"/>
            <a:ext cx="5257800" cy="1417320"/>
          </a:xfrm>
          <a:prstGeom prst="roundRect">
            <a:avLst>
              <a:gd name="adj" fmla="val 6452"/>
            </a:avLst>
          </a:prstGeom>
          <a:solidFill>
            <a:srgbClr val="2E2410"/>
          </a:solidFill>
          <a:ln w="12700">
            <a:solidFill>
              <a:schemeClr val="accent3"/>
            </a:solidFill>
            <a:prstDash val="solid"/>
          </a:ln>
        </p:spPr>
      </p:sp>
      <p:sp>
        <p:nvSpPr>
          <p:cNvPr id="19" name="Text 17"/>
          <p:cNvSpPr txBox="1"/>
          <p:nvPr/>
        </p:nvSpPr>
        <p:spPr>
          <a:xfrm>
            <a:off x="6400800" y="4663440"/>
            <a:ext cx="4846320" cy="1234440"/>
          </a:xfrm>
          <a:prstGeom prst="rect">
            <a:avLst/>
          </a:prstGeom>
          <a:noFill/>
          <a:ln/>
        </p:spPr>
        <p:txBody>
          <a:bodyPr wrap="square" lIns="0" tIns="0" rIns="0" bIns="0" rtlCol="0" anchor="t"/>
          <a:lstStyle/>
          <a:p>
            <a:pPr marL="0" indent="0">
              <a:spcAft>
                <a:spcPts val="400"/>
              </a:spcAft>
              <a:buNone/>
            </a:pPr>
            <a:r>
              <a:rPr lang="en-US" sz="1400" b="1" dirty="0">
                <a:solidFill>
                  <a:schemeClr val="accent3"/>
                </a:solidFill>
              </a:rPr>
              <a:t>Watch out</a:t>
            </a:r>
            <a:endParaRPr lang="en-US" sz="1400" dirty="0"/>
          </a:p>
          <a:p>
            <a:pPr marL="0" indent="0">
              <a:spcAft>
                <a:spcPts val="400"/>
              </a:spcAft>
              <a:buNone/>
            </a:pPr>
            <a:r>
              <a:rPr lang="en-US" sz="1400" dirty="0">
                <a:solidFill>
                  <a:schemeClr val="bg1"/>
                </a:solidFill>
              </a:rPr>
              <a:t>GitHub no longer accepts your account password for git push. Use gh auth login, a personal access token or an SSH key.</a:t>
            </a:r>
            <a:endParaRPr lang="en-US" sz="14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GIT · DAILY WORKFLOW</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Add, commit, push, pull</a:t>
            </a:r>
            <a:endParaRPr lang="en-US" sz="3000" dirty="0"/>
          </a:p>
        </p:txBody>
      </p:sp>
      <p:sp>
        <p:nvSpPr>
          <p:cNvPr id="4" name="Shape 2"/>
          <p:cNvSpPr/>
          <p:nvPr/>
        </p:nvSpPr>
        <p:spPr>
          <a:xfrm>
            <a:off x="731520" y="1463040"/>
            <a:ext cx="6675120" cy="4709160"/>
          </a:xfrm>
          <a:prstGeom prst="roundRect">
            <a:avLst>
              <a:gd name="adj" fmla="val 1553"/>
            </a:avLst>
          </a:prstGeom>
          <a:solidFill>
            <a:srgbClr val="070D1A"/>
          </a:solidFill>
          <a:ln w="12700">
            <a:solidFill>
              <a:srgbClr val="23314F"/>
            </a:solidFill>
            <a:prstDash val="solid"/>
          </a:ln>
        </p:spPr>
      </p:sp>
      <p:sp>
        <p:nvSpPr>
          <p:cNvPr id="5" name="Shape 3"/>
          <p:cNvSpPr/>
          <p:nvPr/>
        </p:nvSpPr>
        <p:spPr>
          <a:xfrm>
            <a:off x="914400" y="1609344"/>
            <a:ext cx="100584" cy="100584"/>
          </a:xfrm>
          <a:prstGeom prst="ellipse">
            <a:avLst/>
          </a:prstGeom>
          <a:solidFill>
            <a:srgbClr val="FF5F57"/>
          </a:solidFill>
          <a:ln w="12700">
            <a:solidFill>
              <a:srgbClr val="FF5F57"/>
            </a:solidFill>
            <a:prstDash val="solid"/>
          </a:ln>
        </p:spPr>
      </p:sp>
      <p:sp>
        <p:nvSpPr>
          <p:cNvPr id="6" name="Shape 4"/>
          <p:cNvSpPr/>
          <p:nvPr/>
        </p:nvSpPr>
        <p:spPr>
          <a:xfrm>
            <a:off x="1097280" y="1609344"/>
            <a:ext cx="100584" cy="100584"/>
          </a:xfrm>
          <a:prstGeom prst="ellipse">
            <a:avLst/>
          </a:prstGeom>
          <a:solidFill>
            <a:srgbClr val="FEBC2E"/>
          </a:solidFill>
          <a:ln w="12700">
            <a:solidFill>
              <a:srgbClr val="FEBC2E"/>
            </a:solidFill>
            <a:prstDash val="solid"/>
          </a:ln>
        </p:spPr>
      </p:sp>
      <p:sp>
        <p:nvSpPr>
          <p:cNvPr id="7" name="Shape 5"/>
          <p:cNvSpPr/>
          <p:nvPr/>
        </p:nvSpPr>
        <p:spPr>
          <a:xfrm>
            <a:off x="1280160" y="1609344"/>
            <a:ext cx="100584" cy="100584"/>
          </a:xfrm>
          <a:prstGeom prst="ellipse">
            <a:avLst/>
          </a:prstGeom>
          <a:solidFill>
            <a:srgbClr val="28C840"/>
          </a:solidFill>
          <a:ln w="12700">
            <a:solidFill>
              <a:srgbClr val="28C840"/>
            </a:solidFill>
            <a:prstDash val="solid"/>
          </a:ln>
        </p:spPr>
      </p:sp>
      <p:sp>
        <p:nvSpPr>
          <p:cNvPr id="8" name="Text 6"/>
          <p:cNvSpPr txBox="1"/>
          <p:nvPr/>
        </p:nvSpPr>
        <p:spPr>
          <a:xfrm>
            <a:off x="1508760" y="1536192"/>
            <a:ext cx="576072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terminal</a:t>
            </a:r>
            <a:endParaRPr lang="en-US" sz="1100" dirty="0"/>
          </a:p>
        </p:txBody>
      </p:sp>
      <p:sp>
        <p:nvSpPr>
          <p:cNvPr id="9" name="Text 7"/>
          <p:cNvSpPr txBox="1"/>
          <p:nvPr/>
        </p:nvSpPr>
        <p:spPr>
          <a:xfrm>
            <a:off x="960120" y="1883664"/>
            <a:ext cx="6309360" cy="4197096"/>
          </a:xfrm>
          <a:prstGeom prst="rect">
            <a:avLst/>
          </a:prstGeom>
          <a:noFill/>
          <a:ln/>
        </p:spPr>
        <p:txBody>
          <a:bodyPr wrap="square" lIns="0" tIns="0" rIns="0" bIns="0" rtlCol="0" anchor="t"/>
          <a:lstStyle/>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status</a:t>
            </a:r>
            <a:r>
              <a:rPr lang="en-US" sz="1400" dirty="0">
                <a:solidFill>
                  <a:srgbClr val="7D8BA6"/>
                </a:solidFill>
                <a:latin typeface="Consolas" pitchFamily="34" charset="0"/>
                <a:ea typeface="Consolas" pitchFamily="34" charset="-122"/>
                <a:cs typeface="Consolas" pitchFamily="34" charset="-120"/>
              </a:rPr>
              <a:t>  # what changed?</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diff</a:t>
            </a:r>
            <a:r>
              <a:rPr lang="en-US" sz="1400" dirty="0">
                <a:solidFill>
                  <a:srgbClr val="7D8BA6"/>
                </a:solidFill>
                <a:latin typeface="Consolas" pitchFamily="34" charset="0"/>
                <a:ea typeface="Consolas" pitchFamily="34" charset="-122"/>
                <a:cs typeface="Consolas" pitchFamily="34" charset="-120"/>
              </a:rPr>
              <a:t>  # exactly which lines</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add app.py</a:t>
            </a:r>
            <a:r>
              <a:rPr lang="en-US" sz="1400" dirty="0">
                <a:solidFill>
                  <a:srgbClr val="7D8BA6"/>
                </a:solidFill>
                <a:latin typeface="Consolas" pitchFamily="34" charset="0"/>
                <a:ea typeface="Consolas" pitchFamily="34" charset="-122"/>
                <a:cs typeface="Consolas" pitchFamily="34" charset="-120"/>
              </a:rPr>
              <a:t>  # stage one file</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add .</a:t>
            </a:r>
            <a:r>
              <a:rPr lang="en-US" sz="1400" dirty="0">
                <a:solidFill>
                  <a:srgbClr val="7D8BA6"/>
                </a:solidFill>
                <a:latin typeface="Consolas" pitchFamily="34" charset="0"/>
                <a:ea typeface="Consolas" pitchFamily="34" charset="-122"/>
                <a:cs typeface="Consolas" pitchFamily="34" charset="-120"/>
              </a:rPr>
              <a:t>  # stage everything</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commit -m "Add login page"</a:t>
            </a:r>
            <a:r>
              <a:rPr lang="en-US" sz="1400" dirty="0">
                <a:solidFill>
                  <a:srgbClr val="7D8BA6"/>
                </a:solidFill>
                <a:latin typeface="Consolas" pitchFamily="34" charset="0"/>
                <a:ea typeface="Consolas" pitchFamily="34" charset="-122"/>
                <a:cs typeface="Consolas" pitchFamily="34" charset="-120"/>
              </a:rPr>
              <a:t>  # save locally</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push -u origin main</a:t>
            </a:r>
            <a:r>
              <a:rPr lang="en-US" sz="1400" dirty="0">
                <a:solidFill>
                  <a:srgbClr val="7D8BA6"/>
                </a:solidFill>
                <a:latin typeface="Consolas" pitchFamily="34" charset="0"/>
                <a:ea typeface="Consolas" pitchFamily="34" charset="-122"/>
                <a:cs typeface="Consolas" pitchFamily="34" charset="-120"/>
              </a:rPr>
              <a:t>  # first push</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push</a:t>
            </a:r>
            <a:r>
              <a:rPr lang="en-US" sz="1400" dirty="0">
                <a:solidFill>
                  <a:srgbClr val="7D8BA6"/>
                </a:solidFill>
                <a:latin typeface="Consolas" pitchFamily="34" charset="0"/>
                <a:ea typeface="Consolas" pitchFamily="34" charset="-122"/>
                <a:cs typeface="Consolas" pitchFamily="34" charset="-120"/>
              </a:rPr>
              <a:t>  # later pushes</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pull</a:t>
            </a:r>
            <a:r>
              <a:rPr lang="en-US" sz="1400" dirty="0">
                <a:solidFill>
                  <a:srgbClr val="7D8BA6"/>
                </a:solidFill>
                <a:latin typeface="Consolas" pitchFamily="34" charset="0"/>
                <a:ea typeface="Consolas" pitchFamily="34" charset="-122"/>
                <a:cs typeface="Consolas" pitchFamily="34" charset="-120"/>
              </a:rPr>
              <a:t>  # teammates' changes</a:t>
            </a:r>
            <a:endParaRPr lang="en-US" sz="1400" dirty="0"/>
          </a:p>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git log --oneline --graph</a:t>
            </a:r>
            <a:r>
              <a:rPr lang="en-US" sz="1400" dirty="0">
                <a:solidFill>
                  <a:srgbClr val="7D8BA6"/>
                </a:solidFill>
                <a:latin typeface="Consolas" pitchFamily="34" charset="0"/>
                <a:ea typeface="Consolas" pitchFamily="34" charset="-122"/>
                <a:cs typeface="Consolas" pitchFamily="34" charset="-120"/>
              </a:rPr>
              <a:t>  # history</a:t>
            </a:r>
            <a:endParaRPr lang="en-US" sz="1400" dirty="0"/>
          </a:p>
        </p:txBody>
      </p:sp>
      <p:sp>
        <p:nvSpPr>
          <p:cNvPr id="10" name="Text 8"/>
          <p:cNvSpPr txBox="1"/>
          <p:nvPr/>
        </p:nvSpPr>
        <p:spPr>
          <a:xfrm>
            <a:off x="7726680" y="1508760"/>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WHAT IT DOES</a:t>
            </a:r>
            <a:endParaRPr lang="en-US" sz="1100" dirty="0"/>
          </a:p>
        </p:txBody>
      </p:sp>
      <p:sp>
        <p:nvSpPr>
          <p:cNvPr id="11" name="Text 9"/>
          <p:cNvSpPr txBox="1"/>
          <p:nvPr/>
        </p:nvSpPr>
        <p:spPr>
          <a:xfrm>
            <a:off x="7726680" y="1764792"/>
            <a:ext cx="3749040" cy="786384"/>
          </a:xfrm>
          <a:prstGeom prst="rect">
            <a:avLst/>
          </a:prstGeom>
          <a:noFill/>
          <a:ln/>
        </p:spPr>
        <p:txBody>
          <a:bodyPr wrap="square" lIns="0" tIns="0" rIns="0" bIns="0" rtlCol="0" anchor="t"/>
          <a:lstStyle/>
          <a:p>
            <a:pPr marL="0" indent="0">
              <a:buNone/>
            </a:pPr>
            <a:r>
              <a:rPr lang="en-US" sz="1400" dirty="0">
                <a:solidFill>
                  <a:schemeClr val="bg1"/>
                </a:solidFill>
              </a:rPr>
              <a:t>Moves your change from the working directory to staging, history and GitHub.</a:t>
            </a:r>
            <a:endParaRPr lang="en-US" sz="1400" dirty="0"/>
          </a:p>
        </p:txBody>
      </p:sp>
      <p:sp>
        <p:nvSpPr>
          <p:cNvPr id="12" name="Text 10"/>
          <p:cNvSpPr txBox="1"/>
          <p:nvPr/>
        </p:nvSpPr>
        <p:spPr>
          <a:xfrm>
            <a:off x="7726680" y="2697480"/>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WHY</a:t>
            </a:r>
            <a:endParaRPr lang="en-US" sz="1100" dirty="0"/>
          </a:p>
        </p:txBody>
      </p:sp>
      <p:sp>
        <p:nvSpPr>
          <p:cNvPr id="13" name="Text 11"/>
          <p:cNvSpPr txBox="1"/>
          <p:nvPr/>
        </p:nvSpPr>
        <p:spPr>
          <a:xfrm>
            <a:off x="7726680" y="2953512"/>
            <a:ext cx="3749040" cy="786384"/>
          </a:xfrm>
          <a:prstGeom prst="rect">
            <a:avLst/>
          </a:prstGeom>
          <a:noFill/>
          <a:ln/>
        </p:spPr>
        <p:txBody>
          <a:bodyPr wrap="square" lIns="0" tIns="0" rIns="0" bIns="0" rtlCol="0" anchor="t"/>
          <a:lstStyle/>
          <a:p>
            <a:pPr marL="0" indent="0">
              <a:buNone/>
            </a:pPr>
            <a:r>
              <a:rPr lang="en-US" sz="1400" dirty="0">
                <a:solidFill>
                  <a:schemeClr val="bg1"/>
                </a:solidFill>
              </a:rPr>
              <a:t>Small commits with clear messages make it easy to review changes and undo mistakes.</a:t>
            </a:r>
            <a:endParaRPr lang="en-US" sz="1400" dirty="0"/>
          </a:p>
        </p:txBody>
      </p:sp>
      <p:sp>
        <p:nvSpPr>
          <p:cNvPr id="14" name="Text 12"/>
          <p:cNvSpPr txBox="1"/>
          <p:nvPr/>
        </p:nvSpPr>
        <p:spPr>
          <a:xfrm>
            <a:off x="7726680" y="3886200"/>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OBSERVE</a:t>
            </a:r>
            <a:endParaRPr lang="en-US" sz="1100" dirty="0"/>
          </a:p>
        </p:txBody>
      </p:sp>
      <p:sp>
        <p:nvSpPr>
          <p:cNvPr id="15" name="Text 13"/>
          <p:cNvSpPr txBox="1"/>
          <p:nvPr/>
        </p:nvSpPr>
        <p:spPr>
          <a:xfrm>
            <a:off x="7726680" y="4142232"/>
            <a:ext cx="3749040" cy="786384"/>
          </a:xfrm>
          <a:prstGeom prst="rect">
            <a:avLst/>
          </a:prstGeom>
          <a:noFill/>
          <a:ln/>
        </p:spPr>
        <p:txBody>
          <a:bodyPr wrap="square" lIns="0" tIns="0" rIns="0" bIns="0" rtlCol="0" anchor="t"/>
          <a:lstStyle/>
          <a:p>
            <a:pPr marL="0" indent="0">
              <a:buNone/>
            </a:pPr>
            <a:r>
              <a:rPr lang="en-US" sz="1400" dirty="0">
                <a:solidFill>
                  <a:schemeClr val="bg1"/>
                </a:solidFill>
              </a:rPr>
              <a:t>git status: red = changed, green = staged, “nothing to commit” = all saved.</a:t>
            </a:r>
            <a:endParaRPr lang="en-US" sz="1400" dirty="0"/>
          </a:p>
        </p:txBody>
      </p:sp>
      <p:sp>
        <p:nvSpPr>
          <p:cNvPr id="16" name="Text 14"/>
          <p:cNvSpPr txBox="1"/>
          <p:nvPr/>
        </p:nvSpPr>
        <p:spPr>
          <a:xfrm>
            <a:off x="7726680" y="5074920"/>
            <a:ext cx="374904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KEY FLAGS</a:t>
            </a:r>
            <a:endParaRPr lang="en-US" sz="1100" dirty="0"/>
          </a:p>
        </p:txBody>
      </p:sp>
      <p:sp>
        <p:nvSpPr>
          <p:cNvPr id="17" name="Text 15"/>
          <p:cNvSpPr txBox="1"/>
          <p:nvPr/>
        </p:nvSpPr>
        <p:spPr>
          <a:xfrm>
            <a:off x="7726680" y="5330952"/>
            <a:ext cx="3749040" cy="786384"/>
          </a:xfrm>
          <a:prstGeom prst="rect">
            <a:avLst/>
          </a:prstGeom>
          <a:noFill/>
          <a:ln/>
        </p:spPr>
        <p:txBody>
          <a:bodyPr wrap="square" lIns="0" tIns="0" rIns="0" bIns="0" rtlCol="0" anchor="t"/>
          <a:lstStyle/>
          <a:p>
            <a:pPr marL="0" indent="0">
              <a:buNone/>
            </a:pPr>
            <a:r>
              <a:rPr lang="en-US" sz="1400" dirty="0">
                <a:solidFill>
                  <a:schemeClr val="bg1"/>
                </a:solidFill>
              </a:rPr>
              <a:t>-m commit message · -u remember the upstream, so later push and pull need no arguments</a:t>
            </a:r>
            <a:endParaRPr lang="en-US" sz="14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GIT · BRANCHES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Branch, merge, and undo safely</a:t>
            </a:r>
            <a:endParaRPr lang="en-US" sz="3000" dirty="0"/>
          </a:p>
        </p:txBody>
      </p:sp>
      <p:sp>
        <p:nvSpPr>
          <p:cNvPr id="4" name="Shape 2"/>
          <p:cNvSpPr/>
          <p:nvPr/>
        </p:nvSpPr>
        <p:spPr>
          <a:xfrm>
            <a:off x="822960" y="2057400"/>
            <a:ext cx="4937760" cy="0"/>
          </a:xfrm>
          <a:prstGeom prst="line">
            <a:avLst/>
          </a:prstGeom>
          <a:noFill/>
          <a:ln w="25400">
            <a:solidFill>
              <a:schemeClr val="bg2"/>
            </a:solidFill>
            <a:prstDash val="solid"/>
            <a:tailEnd type="triangle"/>
          </a:ln>
        </p:spPr>
      </p:sp>
      <p:sp>
        <p:nvSpPr>
          <p:cNvPr id="5" name="Text 3"/>
          <p:cNvSpPr txBox="1"/>
          <p:nvPr/>
        </p:nvSpPr>
        <p:spPr>
          <a:xfrm>
            <a:off x="731520" y="1554480"/>
            <a:ext cx="914400" cy="274320"/>
          </a:xfrm>
          <a:prstGeom prst="rect">
            <a:avLst/>
          </a:prstGeom>
          <a:noFill/>
          <a:ln/>
        </p:spPr>
        <p:txBody>
          <a:bodyPr wrap="square" lIns="0" tIns="0" rIns="0" bIns="0" rtlCol="0" anchor="t"/>
          <a:lstStyle/>
          <a:p>
            <a:pPr marL="0" indent="0">
              <a:buNone/>
            </a:pPr>
            <a:r>
              <a:rPr lang="en-US" sz="1300" b="1" dirty="0">
                <a:solidFill>
                  <a:schemeClr val="bg1"/>
                </a:solidFill>
              </a:rPr>
              <a:t>main</a:t>
            </a:r>
            <a:endParaRPr lang="en-US" sz="1300" dirty="0"/>
          </a:p>
        </p:txBody>
      </p:sp>
      <p:sp>
        <p:nvSpPr>
          <p:cNvPr id="6" name="Shape 4"/>
          <p:cNvSpPr/>
          <p:nvPr/>
        </p:nvSpPr>
        <p:spPr>
          <a:xfrm>
            <a:off x="1554480" y="2167128"/>
            <a:ext cx="0" cy="1033272"/>
          </a:xfrm>
          <a:prstGeom prst="line">
            <a:avLst/>
          </a:prstGeom>
          <a:noFill/>
          <a:ln w="25400">
            <a:solidFill>
              <a:schemeClr val="accent2"/>
            </a:solidFill>
            <a:prstDash val="solid"/>
          </a:ln>
        </p:spPr>
      </p:sp>
      <p:sp>
        <p:nvSpPr>
          <p:cNvPr id="7" name="Shape 5"/>
          <p:cNvSpPr/>
          <p:nvPr/>
        </p:nvSpPr>
        <p:spPr>
          <a:xfrm>
            <a:off x="1554480" y="3200400"/>
            <a:ext cx="2651760" cy="0"/>
          </a:xfrm>
          <a:prstGeom prst="line">
            <a:avLst/>
          </a:prstGeom>
          <a:noFill/>
          <a:ln w="25400">
            <a:solidFill>
              <a:schemeClr val="accent2"/>
            </a:solidFill>
            <a:prstDash val="solid"/>
          </a:ln>
        </p:spPr>
      </p:sp>
      <p:sp>
        <p:nvSpPr>
          <p:cNvPr id="8" name="Shape 6"/>
          <p:cNvSpPr/>
          <p:nvPr/>
        </p:nvSpPr>
        <p:spPr>
          <a:xfrm flipV="1">
            <a:off x="4206240" y="2203704"/>
            <a:ext cx="0" cy="996696"/>
          </a:xfrm>
          <a:prstGeom prst="line">
            <a:avLst/>
          </a:prstGeom>
          <a:noFill/>
          <a:ln w="25400">
            <a:solidFill>
              <a:schemeClr val="accent2"/>
            </a:solidFill>
            <a:prstDash val="solid"/>
            <a:tailEnd type="triangle"/>
          </a:ln>
        </p:spPr>
      </p:sp>
      <p:sp>
        <p:nvSpPr>
          <p:cNvPr id="9" name="Shape 7"/>
          <p:cNvSpPr/>
          <p:nvPr/>
        </p:nvSpPr>
        <p:spPr>
          <a:xfrm>
            <a:off x="1417320" y="1920240"/>
            <a:ext cx="274320" cy="274320"/>
          </a:xfrm>
          <a:prstGeom prst="ellipse">
            <a:avLst/>
          </a:prstGeom>
          <a:solidFill>
            <a:schemeClr val="bg2"/>
          </a:solidFill>
          <a:ln w="25400">
            <a:solidFill>
              <a:srgbClr val="0B1426"/>
            </a:solidFill>
            <a:prstDash val="solid"/>
          </a:ln>
        </p:spPr>
      </p:sp>
      <p:sp>
        <p:nvSpPr>
          <p:cNvPr id="10" name="Shape 8"/>
          <p:cNvSpPr/>
          <p:nvPr/>
        </p:nvSpPr>
        <p:spPr>
          <a:xfrm>
            <a:off x="2651760" y="3063240"/>
            <a:ext cx="274320" cy="274320"/>
          </a:xfrm>
          <a:prstGeom prst="ellipse">
            <a:avLst/>
          </a:prstGeom>
          <a:solidFill>
            <a:schemeClr val="accent2"/>
          </a:solidFill>
          <a:ln w="25400">
            <a:solidFill>
              <a:srgbClr val="0B1426"/>
            </a:solidFill>
            <a:prstDash val="solid"/>
          </a:ln>
        </p:spPr>
      </p:sp>
      <p:sp>
        <p:nvSpPr>
          <p:cNvPr id="11" name="Shape 9"/>
          <p:cNvSpPr/>
          <p:nvPr/>
        </p:nvSpPr>
        <p:spPr>
          <a:xfrm>
            <a:off x="3566160" y="3063240"/>
            <a:ext cx="274320" cy="274320"/>
          </a:xfrm>
          <a:prstGeom prst="ellipse">
            <a:avLst/>
          </a:prstGeom>
          <a:solidFill>
            <a:schemeClr val="accent2"/>
          </a:solidFill>
          <a:ln w="25400">
            <a:solidFill>
              <a:srgbClr val="0B1426"/>
            </a:solidFill>
            <a:prstDash val="solid"/>
          </a:ln>
        </p:spPr>
      </p:sp>
      <p:sp>
        <p:nvSpPr>
          <p:cNvPr id="12" name="Shape 10"/>
          <p:cNvSpPr/>
          <p:nvPr/>
        </p:nvSpPr>
        <p:spPr>
          <a:xfrm>
            <a:off x="4069080" y="1920240"/>
            <a:ext cx="274320" cy="274320"/>
          </a:xfrm>
          <a:prstGeom prst="ellipse">
            <a:avLst/>
          </a:prstGeom>
          <a:solidFill>
            <a:schemeClr val="accent1"/>
          </a:solidFill>
          <a:ln w="25400">
            <a:solidFill>
              <a:srgbClr val="0B1426"/>
            </a:solidFill>
            <a:prstDash val="solid"/>
          </a:ln>
        </p:spPr>
      </p:sp>
      <p:sp>
        <p:nvSpPr>
          <p:cNvPr id="13" name="Text 11"/>
          <p:cNvSpPr txBox="1"/>
          <p:nvPr/>
        </p:nvSpPr>
        <p:spPr>
          <a:xfrm>
            <a:off x="1691640" y="3337560"/>
            <a:ext cx="2286000" cy="274320"/>
          </a:xfrm>
          <a:prstGeom prst="rect">
            <a:avLst/>
          </a:prstGeom>
          <a:noFill/>
          <a:ln/>
        </p:spPr>
        <p:txBody>
          <a:bodyPr wrap="square" lIns="0" tIns="0" rIns="0" bIns="0" rtlCol="0" anchor="t"/>
          <a:lstStyle/>
          <a:p>
            <a:pPr marL="0" indent="0">
              <a:buNone/>
            </a:pPr>
            <a:r>
              <a:rPr lang="en-US" sz="1300" dirty="0">
                <a:solidFill>
                  <a:schemeClr val="accent2"/>
                </a:solidFill>
                <a:latin typeface="Consolas" pitchFamily="34" charset="0"/>
                <a:ea typeface="Consolas" pitchFamily="34" charset="-122"/>
                <a:cs typeface="Consolas" pitchFamily="34" charset="-120"/>
              </a:rPr>
              <a:t>feature/login</a:t>
            </a:r>
            <a:endParaRPr lang="en-US" sz="1300" dirty="0"/>
          </a:p>
        </p:txBody>
      </p:sp>
      <p:sp>
        <p:nvSpPr>
          <p:cNvPr id="14" name="Text 12"/>
          <p:cNvSpPr txBox="1"/>
          <p:nvPr/>
        </p:nvSpPr>
        <p:spPr>
          <a:xfrm>
            <a:off x="4343400" y="2514600"/>
            <a:ext cx="1097280" cy="274320"/>
          </a:xfrm>
          <a:prstGeom prst="rect">
            <a:avLst/>
          </a:prstGeom>
          <a:noFill/>
          <a:ln/>
        </p:spPr>
        <p:txBody>
          <a:bodyPr wrap="square" lIns="0" tIns="0" rIns="0" bIns="0" rtlCol="0" anchor="t"/>
          <a:lstStyle/>
          <a:p>
            <a:pPr marL="0" indent="0">
              <a:buNone/>
            </a:pPr>
            <a:r>
              <a:rPr lang="en-US" sz="1300" dirty="0">
                <a:solidFill>
                  <a:schemeClr val="accent1"/>
                </a:solidFill>
                <a:latin typeface="Consolas" pitchFamily="34" charset="0"/>
                <a:ea typeface="Consolas" pitchFamily="34" charset="-122"/>
                <a:cs typeface="Consolas" pitchFamily="34" charset="-120"/>
              </a:rPr>
              <a:t>merge</a:t>
            </a:r>
            <a:endParaRPr lang="en-US" sz="1300" dirty="0"/>
          </a:p>
        </p:txBody>
      </p:sp>
      <p:sp>
        <p:nvSpPr>
          <p:cNvPr id="15" name="Text 13"/>
          <p:cNvSpPr txBox="1"/>
          <p:nvPr/>
        </p:nvSpPr>
        <p:spPr>
          <a:xfrm>
            <a:off x="731520" y="3794760"/>
            <a:ext cx="5120640" cy="731520"/>
          </a:xfrm>
          <a:prstGeom prst="rect">
            <a:avLst/>
          </a:prstGeom>
          <a:noFill/>
          <a:ln/>
        </p:spPr>
        <p:txBody>
          <a:bodyPr wrap="square" lIns="0" tIns="0" rIns="0" bIns="0" rtlCol="0" anchor="t"/>
          <a:lstStyle/>
          <a:p>
            <a:pPr marL="0" indent="0">
              <a:buNone/>
            </a:pPr>
            <a:r>
              <a:rPr lang="en-US" sz="1500" dirty="0">
                <a:solidFill>
                  <a:schemeClr val="bg2"/>
                </a:solidFill>
              </a:rPr>
              <a:t>Work on a branch, keep main always working, merge when it’s tested and reviewed.</a:t>
            </a:r>
            <a:endParaRPr lang="en-US" sz="1500" dirty="0"/>
          </a:p>
        </p:txBody>
      </p:sp>
      <p:sp>
        <p:nvSpPr>
          <p:cNvPr id="16" name="Shape 14"/>
          <p:cNvSpPr/>
          <p:nvPr/>
        </p:nvSpPr>
        <p:spPr>
          <a:xfrm>
            <a:off x="6172200" y="1463040"/>
            <a:ext cx="5257800" cy="3063240"/>
          </a:xfrm>
          <a:prstGeom prst="roundRect">
            <a:avLst>
              <a:gd name="adj" fmla="val 2388"/>
            </a:avLst>
          </a:prstGeom>
          <a:solidFill>
            <a:srgbClr val="070D1A"/>
          </a:solidFill>
          <a:ln w="12700">
            <a:solidFill>
              <a:srgbClr val="23314F"/>
            </a:solidFill>
            <a:prstDash val="solid"/>
          </a:ln>
        </p:spPr>
      </p:sp>
      <p:sp>
        <p:nvSpPr>
          <p:cNvPr id="17" name="Shape 15"/>
          <p:cNvSpPr/>
          <p:nvPr/>
        </p:nvSpPr>
        <p:spPr>
          <a:xfrm>
            <a:off x="6355080" y="1609344"/>
            <a:ext cx="100584" cy="100584"/>
          </a:xfrm>
          <a:prstGeom prst="ellipse">
            <a:avLst/>
          </a:prstGeom>
          <a:solidFill>
            <a:srgbClr val="FF5F57"/>
          </a:solidFill>
          <a:ln w="12700">
            <a:solidFill>
              <a:srgbClr val="FF5F57"/>
            </a:solidFill>
            <a:prstDash val="solid"/>
          </a:ln>
        </p:spPr>
      </p:sp>
      <p:sp>
        <p:nvSpPr>
          <p:cNvPr id="18" name="Shape 16"/>
          <p:cNvSpPr/>
          <p:nvPr/>
        </p:nvSpPr>
        <p:spPr>
          <a:xfrm>
            <a:off x="6537960" y="1609344"/>
            <a:ext cx="100584" cy="100584"/>
          </a:xfrm>
          <a:prstGeom prst="ellipse">
            <a:avLst/>
          </a:prstGeom>
          <a:solidFill>
            <a:srgbClr val="FEBC2E"/>
          </a:solidFill>
          <a:ln w="12700">
            <a:solidFill>
              <a:srgbClr val="FEBC2E"/>
            </a:solidFill>
            <a:prstDash val="solid"/>
          </a:ln>
        </p:spPr>
      </p:sp>
      <p:sp>
        <p:nvSpPr>
          <p:cNvPr id="19" name="Shape 17"/>
          <p:cNvSpPr/>
          <p:nvPr/>
        </p:nvSpPr>
        <p:spPr>
          <a:xfrm>
            <a:off x="6720840" y="1609344"/>
            <a:ext cx="100584" cy="100584"/>
          </a:xfrm>
          <a:prstGeom prst="ellipse">
            <a:avLst/>
          </a:prstGeom>
          <a:solidFill>
            <a:srgbClr val="28C840"/>
          </a:solidFill>
          <a:ln w="12700">
            <a:solidFill>
              <a:srgbClr val="28C840"/>
            </a:solidFill>
            <a:prstDash val="solid"/>
          </a:ln>
        </p:spPr>
      </p:sp>
      <p:sp>
        <p:nvSpPr>
          <p:cNvPr id="20" name="Text 18"/>
          <p:cNvSpPr txBox="1"/>
          <p:nvPr/>
        </p:nvSpPr>
        <p:spPr>
          <a:xfrm>
            <a:off x="6949440" y="1536192"/>
            <a:ext cx="434340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branches</a:t>
            </a:r>
            <a:endParaRPr lang="en-US" sz="1100" dirty="0"/>
          </a:p>
        </p:txBody>
      </p:sp>
      <p:sp>
        <p:nvSpPr>
          <p:cNvPr id="21" name="Text 19"/>
          <p:cNvSpPr txBox="1"/>
          <p:nvPr/>
        </p:nvSpPr>
        <p:spPr>
          <a:xfrm>
            <a:off x="6400800" y="1883664"/>
            <a:ext cx="4892040" cy="2551176"/>
          </a:xfrm>
          <a:prstGeom prst="rect">
            <a:avLst/>
          </a:prstGeom>
          <a:noFill/>
          <a:ln/>
        </p:spPr>
        <p:txBody>
          <a:bodyPr wrap="square" lIns="0" tIns="0" rIns="0" bIns="0" rtlCol="0" anchor="t"/>
          <a:lstStyle/>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branch</a:t>
            </a:r>
            <a:r>
              <a:rPr lang="en-US" sz="1300" dirty="0">
                <a:solidFill>
                  <a:srgbClr val="7D8BA6"/>
                </a:solidFill>
                <a:latin typeface="Consolas" pitchFamily="34" charset="0"/>
                <a:ea typeface="Consolas" pitchFamily="34" charset="-122"/>
                <a:cs typeface="Consolas" pitchFamily="34" charset="-120"/>
              </a:rPr>
              <a:t>  # list (* = current)</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switch -c feature/login</a:t>
            </a:r>
            <a:r>
              <a:rPr lang="en-US" sz="1300" dirty="0">
                <a:solidFill>
                  <a:srgbClr val="7D8BA6"/>
                </a:solidFill>
                <a:latin typeface="Consolas" pitchFamily="34" charset="0"/>
                <a:ea typeface="Consolas" pitchFamily="34" charset="-122"/>
                <a:cs typeface="Consolas" pitchFamily="34" charset="-120"/>
              </a:rPr>
              <a:t>  # create + move</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switch main</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merge feature/login</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push -u origin feature/login</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branch -d feature/login</a:t>
            </a:r>
            <a:endParaRPr lang="en-US" sz="1300" dirty="0"/>
          </a:p>
        </p:txBody>
      </p:sp>
      <p:sp>
        <p:nvSpPr>
          <p:cNvPr id="22" name="Text 20"/>
          <p:cNvSpPr txBox="1"/>
          <p:nvPr/>
        </p:nvSpPr>
        <p:spPr>
          <a:xfrm>
            <a:off x="731520" y="4663440"/>
            <a:ext cx="4572000" cy="320040"/>
          </a:xfrm>
          <a:prstGeom prst="rect">
            <a:avLst/>
          </a:prstGeom>
          <a:noFill/>
          <a:ln/>
        </p:spPr>
        <p:txBody>
          <a:bodyPr wrap="square" lIns="0" tIns="0" rIns="0" bIns="0" rtlCol="0" anchor="t"/>
          <a:lstStyle/>
          <a:p>
            <a:pPr marL="0" indent="0">
              <a:buNone/>
            </a:pPr>
            <a:r>
              <a:rPr lang="en-US" sz="1600" b="1" dirty="0">
                <a:solidFill>
                  <a:schemeClr val="accent3"/>
                </a:solidFill>
              </a:rPr>
              <a:t>Undo mistakes</a:t>
            </a:r>
            <a:endParaRPr lang="en-US" sz="1600" dirty="0"/>
          </a:p>
        </p:txBody>
      </p:sp>
      <p:sp>
        <p:nvSpPr>
          <p:cNvPr id="23" name="Shape 21"/>
          <p:cNvSpPr/>
          <p:nvPr/>
        </p:nvSpPr>
        <p:spPr>
          <a:xfrm>
            <a:off x="731520" y="4983480"/>
            <a:ext cx="10698480" cy="1280160"/>
          </a:xfrm>
          <a:prstGeom prst="roundRect">
            <a:avLst>
              <a:gd name="adj" fmla="val 5714"/>
            </a:avLst>
          </a:prstGeom>
          <a:solidFill>
            <a:srgbClr val="070D1A"/>
          </a:solidFill>
          <a:ln w="12700">
            <a:solidFill>
              <a:srgbClr val="23314F"/>
            </a:solidFill>
            <a:prstDash val="solid"/>
          </a:ln>
        </p:spPr>
      </p:sp>
      <p:sp>
        <p:nvSpPr>
          <p:cNvPr id="24" name="Shape 22"/>
          <p:cNvSpPr/>
          <p:nvPr/>
        </p:nvSpPr>
        <p:spPr>
          <a:xfrm>
            <a:off x="914400" y="5129784"/>
            <a:ext cx="100584" cy="100584"/>
          </a:xfrm>
          <a:prstGeom prst="ellipse">
            <a:avLst/>
          </a:prstGeom>
          <a:solidFill>
            <a:srgbClr val="FF5F57"/>
          </a:solidFill>
          <a:ln w="12700">
            <a:solidFill>
              <a:srgbClr val="FF5F57"/>
            </a:solidFill>
            <a:prstDash val="solid"/>
          </a:ln>
        </p:spPr>
      </p:sp>
      <p:sp>
        <p:nvSpPr>
          <p:cNvPr id="25" name="Shape 23"/>
          <p:cNvSpPr/>
          <p:nvPr/>
        </p:nvSpPr>
        <p:spPr>
          <a:xfrm>
            <a:off x="1097280" y="5129784"/>
            <a:ext cx="100584" cy="100584"/>
          </a:xfrm>
          <a:prstGeom prst="ellipse">
            <a:avLst/>
          </a:prstGeom>
          <a:solidFill>
            <a:srgbClr val="FEBC2E"/>
          </a:solidFill>
          <a:ln w="12700">
            <a:solidFill>
              <a:srgbClr val="FEBC2E"/>
            </a:solidFill>
            <a:prstDash val="solid"/>
          </a:ln>
        </p:spPr>
      </p:sp>
      <p:sp>
        <p:nvSpPr>
          <p:cNvPr id="26" name="Shape 24"/>
          <p:cNvSpPr/>
          <p:nvPr/>
        </p:nvSpPr>
        <p:spPr>
          <a:xfrm>
            <a:off x="1280160" y="5129784"/>
            <a:ext cx="100584" cy="100584"/>
          </a:xfrm>
          <a:prstGeom prst="ellipse">
            <a:avLst/>
          </a:prstGeom>
          <a:solidFill>
            <a:srgbClr val="28C840"/>
          </a:solidFill>
          <a:ln w="12700">
            <a:solidFill>
              <a:srgbClr val="28C840"/>
            </a:solidFill>
            <a:prstDash val="solid"/>
          </a:ln>
        </p:spPr>
      </p:sp>
      <p:sp>
        <p:nvSpPr>
          <p:cNvPr id="27" name="Text 25"/>
          <p:cNvSpPr txBox="1"/>
          <p:nvPr/>
        </p:nvSpPr>
        <p:spPr>
          <a:xfrm>
            <a:off x="960120" y="5404104"/>
            <a:ext cx="10332720" cy="768096"/>
          </a:xfrm>
          <a:prstGeom prst="rect">
            <a:avLst/>
          </a:prstGeom>
          <a:noFill/>
          <a:ln/>
        </p:spPr>
        <p:txBody>
          <a:bodyPr wrap="square" lIns="0" tIns="0" rIns="0" bIns="0" rtlCol="0" anchor="t"/>
          <a:lstStyle/>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restore app.py</a:t>
            </a:r>
            <a:r>
              <a:rPr lang="en-US" sz="1300" dirty="0">
                <a:solidFill>
                  <a:srgbClr val="7D8BA6"/>
                </a:solidFill>
                <a:latin typeface="Consolas" pitchFamily="34" charset="0"/>
                <a:ea typeface="Consolas" pitchFamily="34" charset="-122"/>
                <a:cs typeface="Consolas" pitchFamily="34" charset="-120"/>
              </a:rPr>
              <a:t>  # discard unsaved edits in a file</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restore --staged app.py</a:t>
            </a:r>
            <a:r>
              <a:rPr lang="en-US" sz="1300" dirty="0">
                <a:solidFill>
                  <a:srgbClr val="7D8BA6"/>
                </a:solidFill>
                <a:latin typeface="Consolas" pitchFamily="34" charset="0"/>
                <a:ea typeface="Consolas" pitchFamily="34" charset="-122"/>
                <a:cs typeface="Consolas" pitchFamily="34" charset="-120"/>
              </a:rPr>
              <a:t>  # unstage, but keep the edits</a:t>
            </a:r>
            <a:endParaRPr lang="en-US" sz="1300" dirty="0"/>
          </a:p>
          <a:p>
            <a:pPr marL="0" indent="0">
              <a:lnSpc>
                <a:spcPct val="112000"/>
              </a:lnSpc>
              <a:buNone/>
            </a:pPr>
            <a:r>
              <a:rPr lang="en-US" sz="1300" dirty="0">
                <a:solidFill>
                  <a:srgbClr val="14C8B0"/>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git commit --amend -m "Better message"</a:t>
            </a:r>
            <a:r>
              <a:rPr lang="en-US" sz="1300" dirty="0">
                <a:solidFill>
                  <a:srgbClr val="7D8BA6"/>
                </a:solidFill>
                <a:latin typeface="Consolas" pitchFamily="34" charset="0"/>
                <a:ea typeface="Consolas" pitchFamily="34" charset="-122"/>
                <a:cs typeface="Consolas" pitchFamily="34" charset="-120"/>
              </a:rPr>
              <a:t>  # fix the last commit, only before pushing</a:t>
            </a:r>
            <a:endParaRPr lang="en-US" sz="1300" dirty="0"/>
          </a:p>
        </p:txBody>
      </p:sp>
      <p:sp>
        <p:nvSpPr>
          <p:cNvPr id="28"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GIT + DOCKER</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Where Git fits in a Docker workflow</a:t>
            </a:r>
            <a:endParaRPr lang="en-US" sz="3000" dirty="0"/>
          </a:p>
        </p:txBody>
      </p:sp>
      <p:sp>
        <p:nvSpPr>
          <p:cNvPr id="4" name="Shape 2"/>
          <p:cNvSpPr/>
          <p:nvPr/>
        </p:nvSpPr>
        <p:spPr>
          <a:xfrm>
            <a:off x="731520" y="1828800"/>
            <a:ext cx="1417320" cy="1417320"/>
          </a:xfrm>
          <a:prstGeom prst="roundRect">
            <a:avLst>
              <a:gd name="adj" fmla="val 6452"/>
            </a:avLst>
          </a:prstGeom>
          <a:solidFill>
            <a:schemeClr val="tx2"/>
          </a:solidFill>
          <a:ln w="12700">
            <a:solidFill>
              <a:schemeClr val="accent6"/>
            </a:solidFill>
            <a:prstDash val="solid"/>
          </a:ln>
        </p:spPr>
      </p:sp>
      <p:sp>
        <p:nvSpPr>
          <p:cNvPr id="5" name="Text 3"/>
          <p:cNvSpPr txBox="1"/>
          <p:nvPr/>
        </p:nvSpPr>
        <p:spPr>
          <a:xfrm>
            <a:off x="804672" y="1828800"/>
            <a:ext cx="1271016" cy="141732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Edit</a:t>
            </a:r>
            <a:endParaRPr lang="en-US" sz="1400" dirty="0"/>
          </a:p>
          <a:p>
            <a:pPr marL="0" indent="0" algn="ctr">
              <a:spcAft>
                <a:spcPts val="200"/>
              </a:spcAft>
              <a:buNone/>
            </a:pPr>
            <a:r>
              <a:rPr lang="en-US" sz="1200" dirty="0">
                <a:solidFill>
                  <a:schemeClr val="bg2"/>
                </a:solidFill>
              </a:rPr>
              <a:t>app code + Dockerfile</a:t>
            </a:r>
            <a:endParaRPr lang="en-US" sz="1400" dirty="0"/>
          </a:p>
        </p:txBody>
      </p:sp>
      <p:sp>
        <p:nvSpPr>
          <p:cNvPr id="6" name="Shape 4"/>
          <p:cNvSpPr/>
          <p:nvPr/>
        </p:nvSpPr>
        <p:spPr>
          <a:xfrm>
            <a:off x="2157984" y="2542032"/>
            <a:ext cx="137160" cy="0"/>
          </a:xfrm>
          <a:prstGeom prst="line">
            <a:avLst/>
          </a:prstGeom>
          <a:noFill/>
          <a:ln w="15875">
            <a:solidFill>
              <a:schemeClr val="bg2"/>
            </a:solidFill>
            <a:prstDash val="solid"/>
            <a:tailEnd type="triangle"/>
          </a:ln>
        </p:spPr>
      </p:sp>
      <p:sp>
        <p:nvSpPr>
          <p:cNvPr id="7" name="Shape 5"/>
          <p:cNvSpPr/>
          <p:nvPr/>
        </p:nvSpPr>
        <p:spPr>
          <a:xfrm>
            <a:off x="2304288" y="1828800"/>
            <a:ext cx="1417320" cy="1417320"/>
          </a:xfrm>
          <a:prstGeom prst="roundRect">
            <a:avLst>
              <a:gd name="adj" fmla="val 6452"/>
            </a:avLst>
          </a:prstGeom>
          <a:solidFill>
            <a:schemeClr val="tx2"/>
          </a:solidFill>
          <a:ln w="12700">
            <a:solidFill>
              <a:schemeClr val="accent6"/>
            </a:solidFill>
            <a:prstDash val="solid"/>
          </a:ln>
        </p:spPr>
      </p:sp>
      <p:sp>
        <p:nvSpPr>
          <p:cNvPr id="8" name="Text 6"/>
          <p:cNvSpPr txBox="1"/>
          <p:nvPr/>
        </p:nvSpPr>
        <p:spPr>
          <a:xfrm>
            <a:off x="2377440" y="1828800"/>
            <a:ext cx="1271016" cy="141732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Commit &amp; push</a:t>
            </a:r>
            <a:endParaRPr lang="en-US" sz="1400" dirty="0"/>
          </a:p>
          <a:p>
            <a:pPr marL="0" indent="0" algn="ctr">
              <a:spcAft>
                <a:spcPts val="200"/>
              </a:spcAft>
              <a:buNone/>
            </a:pPr>
            <a:r>
              <a:rPr lang="en-US" sz="1200" dirty="0">
                <a:solidFill>
                  <a:schemeClr val="bg2"/>
                </a:solidFill>
              </a:rPr>
              <a:t>to a feature branch</a:t>
            </a:r>
            <a:endParaRPr lang="en-US" sz="1400" dirty="0"/>
          </a:p>
        </p:txBody>
      </p:sp>
      <p:sp>
        <p:nvSpPr>
          <p:cNvPr id="9" name="Shape 7"/>
          <p:cNvSpPr/>
          <p:nvPr/>
        </p:nvSpPr>
        <p:spPr>
          <a:xfrm>
            <a:off x="3730752" y="2542032"/>
            <a:ext cx="137160" cy="0"/>
          </a:xfrm>
          <a:prstGeom prst="line">
            <a:avLst/>
          </a:prstGeom>
          <a:noFill/>
          <a:ln w="15875">
            <a:solidFill>
              <a:schemeClr val="bg2"/>
            </a:solidFill>
            <a:prstDash val="solid"/>
            <a:tailEnd type="triangle"/>
          </a:ln>
        </p:spPr>
      </p:sp>
      <p:sp>
        <p:nvSpPr>
          <p:cNvPr id="10" name="Shape 8"/>
          <p:cNvSpPr/>
          <p:nvPr/>
        </p:nvSpPr>
        <p:spPr>
          <a:xfrm>
            <a:off x="3877056" y="1828800"/>
            <a:ext cx="1417320" cy="1417320"/>
          </a:xfrm>
          <a:prstGeom prst="roundRect">
            <a:avLst>
              <a:gd name="adj" fmla="val 6452"/>
            </a:avLst>
          </a:prstGeom>
          <a:solidFill>
            <a:srgbClr val="2E2410"/>
          </a:solidFill>
          <a:ln w="12700">
            <a:solidFill>
              <a:schemeClr val="accent3"/>
            </a:solidFill>
            <a:prstDash val="solid"/>
          </a:ln>
        </p:spPr>
      </p:sp>
      <p:sp>
        <p:nvSpPr>
          <p:cNvPr id="11" name="Text 9"/>
          <p:cNvSpPr txBox="1"/>
          <p:nvPr/>
        </p:nvSpPr>
        <p:spPr>
          <a:xfrm>
            <a:off x="3950208" y="1828800"/>
            <a:ext cx="1271016" cy="141732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Pull request</a:t>
            </a:r>
            <a:endParaRPr lang="en-US" sz="1400" dirty="0"/>
          </a:p>
          <a:p>
            <a:pPr marL="0" indent="0" algn="ctr">
              <a:spcAft>
                <a:spcPts val="200"/>
              </a:spcAft>
              <a:buNone/>
            </a:pPr>
            <a:r>
              <a:rPr lang="en-US" sz="1200" dirty="0">
                <a:solidFill>
                  <a:schemeClr val="bg2"/>
                </a:solidFill>
              </a:rPr>
              <a:t>team reviews the change</a:t>
            </a:r>
            <a:endParaRPr lang="en-US" sz="1400" dirty="0"/>
          </a:p>
        </p:txBody>
      </p:sp>
      <p:sp>
        <p:nvSpPr>
          <p:cNvPr id="12" name="Shape 10"/>
          <p:cNvSpPr/>
          <p:nvPr/>
        </p:nvSpPr>
        <p:spPr>
          <a:xfrm>
            <a:off x="5303520" y="2542032"/>
            <a:ext cx="137160" cy="0"/>
          </a:xfrm>
          <a:prstGeom prst="line">
            <a:avLst/>
          </a:prstGeom>
          <a:noFill/>
          <a:ln w="15875">
            <a:solidFill>
              <a:schemeClr val="bg2"/>
            </a:solidFill>
            <a:prstDash val="solid"/>
            <a:tailEnd type="triangle"/>
          </a:ln>
        </p:spPr>
      </p:sp>
      <p:sp>
        <p:nvSpPr>
          <p:cNvPr id="13" name="Shape 11"/>
          <p:cNvSpPr/>
          <p:nvPr/>
        </p:nvSpPr>
        <p:spPr>
          <a:xfrm>
            <a:off x="5449824" y="1828800"/>
            <a:ext cx="1417320" cy="1417320"/>
          </a:xfrm>
          <a:prstGeom prst="roundRect">
            <a:avLst>
              <a:gd name="adj" fmla="val 6452"/>
            </a:avLst>
          </a:prstGeom>
          <a:solidFill>
            <a:schemeClr val="tx2"/>
          </a:solidFill>
          <a:ln w="12700">
            <a:solidFill>
              <a:schemeClr val="accent6"/>
            </a:solidFill>
            <a:prstDash val="solid"/>
          </a:ln>
        </p:spPr>
      </p:sp>
      <p:sp>
        <p:nvSpPr>
          <p:cNvPr id="14" name="Text 12"/>
          <p:cNvSpPr txBox="1"/>
          <p:nvPr/>
        </p:nvSpPr>
        <p:spPr>
          <a:xfrm>
            <a:off x="5522976" y="1828800"/>
            <a:ext cx="1271016" cy="141732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Merge to main</a:t>
            </a:r>
            <a:endParaRPr lang="en-US" sz="1400" dirty="0"/>
          </a:p>
          <a:p>
            <a:pPr marL="0" indent="0" algn="ctr">
              <a:spcAft>
                <a:spcPts val="200"/>
              </a:spcAft>
              <a:buNone/>
            </a:pPr>
            <a:r>
              <a:rPr lang="en-US" sz="1200" dirty="0">
                <a:solidFill>
                  <a:schemeClr val="bg2"/>
                </a:solidFill>
              </a:rPr>
              <a:t>only reviewed code</a:t>
            </a:r>
            <a:endParaRPr lang="en-US" sz="1400" dirty="0"/>
          </a:p>
        </p:txBody>
      </p:sp>
      <p:sp>
        <p:nvSpPr>
          <p:cNvPr id="15" name="Shape 13"/>
          <p:cNvSpPr/>
          <p:nvPr/>
        </p:nvSpPr>
        <p:spPr>
          <a:xfrm>
            <a:off x="6876288" y="2542032"/>
            <a:ext cx="137160" cy="0"/>
          </a:xfrm>
          <a:prstGeom prst="line">
            <a:avLst/>
          </a:prstGeom>
          <a:noFill/>
          <a:ln w="15875">
            <a:solidFill>
              <a:schemeClr val="bg2"/>
            </a:solidFill>
            <a:prstDash val="solid"/>
            <a:tailEnd type="triangle"/>
          </a:ln>
        </p:spPr>
      </p:sp>
      <p:sp>
        <p:nvSpPr>
          <p:cNvPr id="16" name="Shape 14"/>
          <p:cNvSpPr/>
          <p:nvPr/>
        </p:nvSpPr>
        <p:spPr>
          <a:xfrm>
            <a:off x="7022592" y="1828800"/>
            <a:ext cx="1417320" cy="1417320"/>
          </a:xfrm>
          <a:prstGeom prst="roundRect">
            <a:avLst>
              <a:gd name="adj" fmla="val 6452"/>
            </a:avLst>
          </a:prstGeom>
          <a:solidFill>
            <a:srgbClr val="0F3A66"/>
          </a:solidFill>
          <a:ln w="12700">
            <a:solidFill>
              <a:schemeClr val="accent1"/>
            </a:solidFill>
            <a:prstDash val="solid"/>
          </a:ln>
        </p:spPr>
      </p:sp>
      <p:sp>
        <p:nvSpPr>
          <p:cNvPr id="17" name="Text 15"/>
          <p:cNvSpPr txBox="1"/>
          <p:nvPr/>
        </p:nvSpPr>
        <p:spPr>
          <a:xfrm>
            <a:off x="7095744" y="1828800"/>
            <a:ext cx="1271016" cy="141732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CI builds image</a:t>
            </a:r>
            <a:endParaRPr lang="en-US" sz="1400" dirty="0"/>
          </a:p>
          <a:p>
            <a:pPr marL="0" indent="0" algn="ctr">
              <a:spcAft>
                <a:spcPts val="200"/>
              </a:spcAft>
              <a:buNone/>
            </a:pPr>
            <a:r>
              <a:rPr lang="en-US" sz="1200" dirty="0">
                <a:solidFill>
                  <a:schemeClr val="bg2"/>
                </a:solidFill>
              </a:rPr>
              <a:t>docker build on every merge</a:t>
            </a:r>
            <a:endParaRPr lang="en-US" sz="1400" dirty="0"/>
          </a:p>
        </p:txBody>
      </p:sp>
      <p:sp>
        <p:nvSpPr>
          <p:cNvPr id="18" name="Shape 16"/>
          <p:cNvSpPr/>
          <p:nvPr/>
        </p:nvSpPr>
        <p:spPr>
          <a:xfrm>
            <a:off x="8449056" y="2542032"/>
            <a:ext cx="137160" cy="0"/>
          </a:xfrm>
          <a:prstGeom prst="line">
            <a:avLst/>
          </a:prstGeom>
          <a:noFill/>
          <a:ln w="15875">
            <a:solidFill>
              <a:schemeClr val="bg2"/>
            </a:solidFill>
            <a:prstDash val="solid"/>
            <a:tailEnd type="triangle"/>
          </a:ln>
        </p:spPr>
      </p:sp>
      <p:sp>
        <p:nvSpPr>
          <p:cNvPr id="19" name="Shape 17"/>
          <p:cNvSpPr/>
          <p:nvPr/>
        </p:nvSpPr>
        <p:spPr>
          <a:xfrm>
            <a:off x="8595360" y="1828800"/>
            <a:ext cx="1417320" cy="1417320"/>
          </a:xfrm>
          <a:prstGeom prst="roundRect">
            <a:avLst>
              <a:gd name="adj" fmla="val 6452"/>
            </a:avLst>
          </a:prstGeom>
          <a:solidFill>
            <a:srgbClr val="0F3A66"/>
          </a:solidFill>
          <a:ln w="12700">
            <a:solidFill>
              <a:schemeClr val="accent1"/>
            </a:solidFill>
            <a:prstDash val="solid"/>
          </a:ln>
        </p:spPr>
      </p:sp>
      <p:sp>
        <p:nvSpPr>
          <p:cNvPr id="20" name="Text 18"/>
          <p:cNvSpPr txBox="1"/>
          <p:nvPr/>
        </p:nvSpPr>
        <p:spPr>
          <a:xfrm>
            <a:off x="8668512" y="1828800"/>
            <a:ext cx="1271016" cy="141732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Push to registry</a:t>
            </a:r>
            <a:endParaRPr lang="en-US" sz="1400" dirty="0"/>
          </a:p>
          <a:p>
            <a:pPr marL="0" indent="0" algn="ctr">
              <a:spcAft>
                <a:spcPts val="200"/>
              </a:spcAft>
              <a:buNone/>
            </a:pPr>
            <a:r>
              <a:rPr lang="en-US" sz="1200" dirty="0">
                <a:solidFill>
                  <a:schemeClr val="bg2"/>
                </a:solidFill>
              </a:rPr>
              <a:t>tagged 1.4.0 + commit ID</a:t>
            </a:r>
            <a:endParaRPr lang="en-US" sz="1400" dirty="0"/>
          </a:p>
        </p:txBody>
      </p:sp>
      <p:sp>
        <p:nvSpPr>
          <p:cNvPr id="21" name="Shape 19"/>
          <p:cNvSpPr/>
          <p:nvPr/>
        </p:nvSpPr>
        <p:spPr>
          <a:xfrm>
            <a:off x="10021824" y="2542032"/>
            <a:ext cx="137160" cy="0"/>
          </a:xfrm>
          <a:prstGeom prst="line">
            <a:avLst/>
          </a:prstGeom>
          <a:noFill/>
          <a:ln w="15875">
            <a:solidFill>
              <a:schemeClr val="bg2"/>
            </a:solidFill>
            <a:prstDash val="solid"/>
            <a:tailEnd type="triangle"/>
          </a:ln>
        </p:spPr>
      </p:sp>
      <p:sp>
        <p:nvSpPr>
          <p:cNvPr id="22" name="Shape 20"/>
          <p:cNvSpPr/>
          <p:nvPr/>
        </p:nvSpPr>
        <p:spPr>
          <a:xfrm>
            <a:off x="10168128" y="1828800"/>
            <a:ext cx="1417320" cy="1417320"/>
          </a:xfrm>
          <a:prstGeom prst="roundRect">
            <a:avLst>
              <a:gd name="adj" fmla="val 6452"/>
            </a:avLst>
          </a:prstGeom>
          <a:solidFill>
            <a:srgbClr val="0F3B3A"/>
          </a:solidFill>
          <a:ln w="12700">
            <a:solidFill>
              <a:schemeClr val="accent2"/>
            </a:solidFill>
            <a:prstDash val="solid"/>
          </a:ln>
        </p:spPr>
      </p:sp>
      <p:sp>
        <p:nvSpPr>
          <p:cNvPr id="23" name="Text 21"/>
          <p:cNvSpPr txBox="1"/>
          <p:nvPr/>
        </p:nvSpPr>
        <p:spPr>
          <a:xfrm>
            <a:off x="10241280" y="1828800"/>
            <a:ext cx="1271016" cy="141732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Deploy</a:t>
            </a:r>
            <a:endParaRPr lang="en-US" sz="1400" dirty="0"/>
          </a:p>
          <a:p>
            <a:pPr marL="0" indent="0" algn="ctr">
              <a:spcAft>
                <a:spcPts val="200"/>
              </a:spcAft>
              <a:buNone/>
            </a:pPr>
            <a:r>
              <a:rPr lang="en-US" sz="1200" dirty="0">
                <a:solidFill>
                  <a:schemeClr val="bg2"/>
                </a:solidFill>
              </a:rPr>
              <a:t>servers pull and run it</a:t>
            </a:r>
            <a:endParaRPr lang="en-US" sz="1400" dirty="0"/>
          </a:p>
        </p:txBody>
      </p:sp>
      <p:sp>
        <p:nvSpPr>
          <p:cNvPr id="24" name="Text 22"/>
          <p:cNvSpPr txBox="1"/>
          <p:nvPr/>
        </p:nvSpPr>
        <p:spPr>
          <a:xfrm>
            <a:off x="731520" y="3429000"/>
            <a:ext cx="6126480" cy="320040"/>
          </a:xfrm>
          <a:prstGeom prst="rect">
            <a:avLst/>
          </a:prstGeom>
          <a:noFill/>
          <a:ln/>
        </p:spPr>
        <p:txBody>
          <a:bodyPr wrap="square" lIns="0" tIns="0" rIns="0" bIns="0" rtlCol="0" anchor="t"/>
          <a:lstStyle/>
          <a:p>
            <a:pPr marL="0" indent="0" algn="ctr">
              <a:buNone/>
            </a:pPr>
            <a:r>
              <a:rPr lang="en-US" sz="1400" b="1" dirty="0">
                <a:solidFill>
                  <a:schemeClr val="accent2"/>
                </a:solidFill>
              </a:rPr>
              <a:t>Git</a:t>
            </a:r>
            <a:endParaRPr lang="en-US" sz="1400" dirty="0"/>
          </a:p>
        </p:txBody>
      </p:sp>
      <p:sp>
        <p:nvSpPr>
          <p:cNvPr id="25" name="Shape 23"/>
          <p:cNvSpPr/>
          <p:nvPr/>
        </p:nvSpPr>
        <p:spPr>
          <a:xfrm>
            <a:off x="731520" y="3401568"/>
            <a:ext cx="6217920" cy="0"/>
          </a:xfrm>
          <a:prstGeom prst="line">
            <a:avLst/>
          </a:prstGeom>
          <a:noFill/>
          <a:ln w="12700">
            <a:solidFill>
              <a:schemeClr val="accent2"/>
            </a:solidFill>
            <a:prstDash val="solid"/>
          </a:ln>
        </p:spPr>
      </p:sp>
      <p:sp>
        <p:nvSpPr>
          <p:cNvPr id="26" name="Text 24"/>
          <p:cNvSpPr txBox="1"/>
          <p:nvPr/>
        </p:nvSpPr>
        <p:spPr>
          <a:xfrm>
            <a:off x="6995160" y="3429000"/>
            <a:ext cx="4434840" cy="320040"/>
          </a:xfrm>
          <a:prstGeom prst="rect">
            <a:avLst/>
          </a:prstGeom>
          <a:noFill/>
          <a:ln/>
        </p:spPr>
        <p:txBody>
          <a:bodyPr wrap="square" lIns="0" tIns="0" rIns="0" bIns="0" rtlCol="0" anchor="t"/>
          <a:lstStyle/>
          <a:p>
            <a:pPr marL="0" indent="0" algn="ctr">
              <a:buNone/>
            </a:pPr>
            <a:r>
              <a:rPr lang="en-US" sz="1400" b="1" dirty="0">
                <a:solidFill>
                  <a:schemeClr val="accent1"/>
                </a:solidFill>
              </a:rPr>
              <a:t>Docker</a:t>
            </a:r>
            <a:endParaRPr lang="en-US" sz="1400" dirty="0"/>
          </a:p>
        </p:txBody>
      </p:sp>
      <p:sp>
        <p:nvSpPr>
          <p:cNvPr id="27" name="Shape 25"/>
          <p:cNvSpPr/>
          <p:nvPr/>
        </p:nvSpPr>
        <p:spPr>
          <a:xfrm>
            <a:off x="6995160" y="3401568"/>
            <a:ext cx="4434840" cy="0"/>
          </a:xfrm>
          <a:prstGeom prst="line">
            <a:avLst/>
          </a:prstGeom>
          <a:noFill/>
          <a:ln w="12700">
            <a:solidFill>
              <a:schemeClr val="accent1"/>
            </a:solidFill>
            <a:prstDash val="solid"/>
          </a:ln>
        </p:spPr>
      </p:sp>
      <p:sp>
        <p:nvSpPr>
          <p:cNvPr id="28" name="Text 26"/>
          <p:cNvSpPr txBox="1"/>
          <p:nvPr/>
        </p:nvSpPr>
        <p:spPr>
          <a:xfrm>
            <a:off x="731520" y="4069080"/>
            <a:ext cx="3429000" cy="685800"/>
          </a:xfrm>
          <a:prstGeom prst="rect">
            <a:avLst/>
          </a:prstGeom>
          <a:noFill/>
          <a:ln/>
        </p:spPr>
        <p:txBody>
          <a:bodyPr wrap="square" lIns="0" tIns="0" rIns="0" bIns="0" rtlCol="0" anchor="t"/>
          <a:lstStyle/>
          <a:p>
            <a:pPr marL="0" indent="0">
              <a:buNone/>
            </a:pPr>
            <a:r>
              <a:rPr lang="en-US" sz="1700" b="1" dirty="0">
                <a:solidFill>
                  <a:schemeClr val="bg1"/>
                </a:solidFill>
              </a:rPr>
              <a:t>Dockerfile lives next to the code</a:t>
            </a:r>
            <a:endParaRPr lang="en-US" sz="1700" dirty="0"/>
          </a:p>
        </p:txBody>
      </p:sp>
      <p:sp>
        <p:nvSpPr>
          <p:cNvPr id="29" name="Text 27"/>
          <p:cNvSpPr txBox="1"/>
          <p:nvPr/>
        </p:nvSpPr>
        <p:spPr>
          <a:xfrm>
            <a:off x="731520" y="4846320"/>
            <a:ext cx="3429000" cy="822960"/>
          </a:xfrm>
          <a:prstGeom prst="rect">
            <a:avLst/>
          </a:prstGeom>
          <a:noFill/>
          <a:ln/>
        </p:spPr>
        <p:txBody>
          <a:bodyPr wrap="square" lIns="0" tIns="0" rIns="0" bIns="0" rtlCol="0" anchor="t"/>
          <a:lstStyle/>
          <a:p>
            <a:pPr marL="0" indent="0">
              <a:buNone/>
            </a:pPr>
            <a:r>
              <a:rPr lang="en-US" sz="1500" dirty="0">
                <a:solidFill>
                  <a:schemeClr val="bg2"/>
                </a:solidFill>
              </a:rPr>
              <a:t>Same repo, same review, same history.</a:t>
            </a:r>
            <a:endParaRPr lang="en-US" sz="1500" dirty="0"/>
          </a:p>
        </p:txBody>
      </p:sp>
      <p:sp>
        <p:nvSpPr>
          <p:cNvPr id="30" name="Text 28"/>
          <p:cNvSpPr txBox="1"/>
          <p:nvPr/>
        </p:nvSpPr>
        <p:spPr>
          <a:xfrm>
            <a:off x="4361688" y="4069080"/>
            <a:ext cx="3429000" cy="685800"/>
          </a:xfrm>
          <a:prstGeom prst="rect">
            <a:avLst/>
          </a:prstGeom>
          <a:noFill/>
          <a:ln/>
        </p:spPr>
        <p:txBody>
          <a:bodyPr wrap="square" lIns="0" tIns="0" rIns="0" bIns="0" rtlCol="0" anchor="t"/>
          <a:lstStyle/>
          <a:p>
            <a:pPr marL="0" indent="0">
              <a:buNone/>
            </a:pPr>
            <a:r>
              <a:rPr lang="en-US" sz="1700" b="1" dirty="0">
                <a:solidFill>
                  <a:schemeClr val="bg1"/>
                </a:solidFill>
              </a:rPr>
              <a:t>Every image traces back to a commit</a:t>
            </a:r>
            <a:endParaRPr lang="en-US" sz="1700" dirty="0"/>
          </a:p>
        </p:txBody>
      </p:sp>
      <p:sp>
        <p:nvSpPr>
          <p:cNvPr id="31" name="Text 29"/>
          <p:cNvSpPr txBox="1"/>
          <p:nvPr/>
        </p:nvSpPr>
        <p:spPr>
          <a:xfrm>
            <a:off x="4361688" y="4846320"/>
            <a:ext cx="3429000" cy="822960"/>
          </a:xfrm>
          <a:prstGeom prst="rect">
            <a:avLst/>
          </a:prstGeom>
          <a:noFill/>
          <a:ln/>
        </p:spPr>
        <p:txBody>
          <a:bodyPr wrap="square" lIns="0" tIns="0" rIns="0" bIns="0" rtlCol="0" anchor="t"/>
          <a:lstStyle/>
          <a:p>
            <a:pPr marL="0" indent="0">
              <a:buNone/>
            </a:pPr>
            <a:r>
              <a:rPr lang="en-US" sz="1500" dirty="0">
                <a:solidFill>
                  <a:schemeClr val="bg2"/>
                </a:solidFill>
              </a:rPr>
              <a:t>Tag images with the commit ID, e.g. myapp:4a7b3d2.</a:t>
            </a:r>
            <a:endParaRPr lang="en-US" sz="1500" dirty="0"/>
          </a:p>
        </p:txBody>
      </p:sp>
      <p:sp>
        <p:nvSpPr>
          <p:cNvPr id="32" name="Text 30"/>
          <p:cNvSpPr txBox="1"/>
          <p:nvPr/>
        </p:nvSpPr>
        <p:spPr>
          <a:xfrm>
            <a:off x="7991856" y="4069080"/>
            <a:ext cx="3429000" cy="685800"/>
          </a:xfrm>
          <a:prstGeom prst="rect">
            <a:avLst/>
          </a:prstGeom>
          <a:noFill/>
          <a:ln/>
        </p:spPr>
        <p:txBody>
          <a:bodyPr wrap="square" lIns="0" tIns="0" rIns="0" bIns="0" rtlCol="0" anchor="t"/>
          <a:lstStyle/>
          <a:p>
            <a:pPr marL="0" indent="0">
              <a:buNone/>
            </a:pPr>
            <a:r>
              <a:rPr lang="en-US" sz="1700" b="1" dirty="0">
                <a:solidFill>
                  <a:schemeClr val="bg1"/>
                </a:solidFill>
              </a:rPr>
              <a:t>Rollback is one command</a:t>
            </a:r>
            <a:endParaRPr lang="en-US" sz="1700" dirty="0"/>
          </a:p>
        </p:txBody>
      </p:sp>
      <p:sp>
        <p:nvSpPr>
          <p:cNvPr id="33" name="Text 31"/>
          <p:cNvSpPr txBox="1"/>
          <p:nvPr/>
        </p:nvSpPr>
        <p:spPr>
          <a:xfrm>
            <a:off x="7991856" y="4846320"/>
            <a:ext cx="3429000" cy="822960"/>
          </a:xfrm>
          <a:prstGeom prst="rect">
            <a:avLst/>
          </a:prstGeom>
          <a:noFill/>
          <a:ln/>
        </p:spPr>
        <p:txBody>
          <a:bodyPr wrap="square" lIns="0" tIns="0" rIns="0" bIns="0" rtlCol="0" anchor="t"/>
          <a:lstStyle/>
          <a:p>
            <a:pPr marL="0" indent="0">
              <a:buNone/>
            </a:pPr>
            <a:r>
              <a:rPr lang="en-US" sz="1500" dirty="0">
                <a:solidFill>
                  <a:schemeClr val="bg2"/>
                </a:solidFill>
              </a:rPr>
              <a:t>Redeploy the previous tag; Git shows exactly what changed.</a:t>
            </a:r>
            <a:endParaRPr lang="en-US" sz="1500" dirty="0"/>
          </a:p>
        </p:txBody>
      </p:sp>
      <p:sp>
        <p:nvSpPr>
          <p:cNvPr id="34"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7863840" y="1280160"/>
            <a:ext cx="3840480" cy="3291840"/>
          </a:xfrm>
          <a:prstGeom prst="rect">
            <a:avLst/>
          </a:prstGeom>
          <a:noFill/>
          <a:ln/>
        </p:spPr>
        <p:txBody>
          <a:bodyPr wrap="square" lIns="0" tIns="0" rIns="0" bIns="0" rtlCol="0" anchor="ctr"/>
          <a:lstStyle/>
          <a:p>
            <a:pPr marL="0" indent="0" algn="r">
              <a:buNone/>
            </a:pPr>
            <a:r>
              <a:rPr lang="en-US" sz="22000" b="1" dirty="0">
                <a:solidFill>
                  <a:schemeClr val="accent5"/>
                </a:solidFill>
              </a:rPr>
              <a:t>08</a:t>
            </a:r>
            <a:endParaRPr lang="en-US" sz="22000" dirty="0"/>
          </a:p>
        </p:txBody>
      </p:sp>
      <p:sp>
        <p:nvSpPr>
          <p:cNvPr id="3" name="Text 0"/>
          <p:cNvSpPr>
            <a:spLocks noGrp="1"/>
          </p:cNvSpPr>
          <p:nvPr>
            <p:ph type="body" idx="100" hasCustomPrompt="1"/>
          </p:nvPr>
        </p:nvSpPr>
        <p:spPr>
          <a:xfrm>
            <a:off x="731520" y="2148840"/>
            <a:ext cx="7315200" cy="365760"/>
          </a:xfrm>
          <a:prstGeom prst="rect">
            <a:avLst/>
          </a:prstGeom>
          <a:noFill/>
          <a:ln/>
        </p:spPr>
        <p:txBody>
          <a:bodyPr wrap="square" lIns="0" tIns="0" rIns="0" bIns="0" rtlCol="0"/>
          <a:lstStyle/>
          <a:p>
            <a:pPr marL="0" indent="0">
              <a:buNone/>
            </a:pPr>
            <a:r>
              <a:rPr lang="en-US" sz="1400" b="1" kern="0" spc="400" dirty="0">
                <a:solidFill>
                  <a:schemeClr val="accent2"/>
                </a:solidFill>
              </a:rPr>
              <a:t>SECTION 08</a:t>
            </a:r>
            <a:endParaRPr lang="en-US" sz="1400" dirty="0"/>
          </a:p>
        </p:txBody>
      </p:sp>
      <p:sp>
        <p:nvSpPr>
          <p:cNvPr id="4" name="Text 0"/>
          <p:cNvSpPr>
            <a:spLocks noGrp="1"/>
          </p:cNvSpPr>
          <p:nvPr>
            <p:ph type="title" idx="101" hasCustomPrompt="1"/>
          </p:nvPr>
        </p:nvSpPr>
        <p:spPr>
          <a:xfrm>
            <a:off x="731520" y="2560320"/>
            <a:ext cx="6766560" cy="1371600"/>
          </a:xfrm>
          <a:prstGeom prst="rect">
            <a:avLst/>
          </a:prstGeom>
          <a:noFill/>
          <a:ln/>
        </p:spPr>
        <p:txBody>
          <a:bodyPr wrap="square" lIns="0" tIns="0" rIns="0" bIns="0" rtlCol="0" anchor="t"/>
          <a:lstStyle/>
          <a:p>
            <a:pPr marL="0" indent="0" algn="l">
              <a:buNone/>
            </a:pPr>
            <a:r>
              <a:rPr lang="en-US" sz="4000" b="1" dirty="0">
                <a:solidFill>
                  <a:schemeClr val="bg1"/>
                </a:solidFill>
              </a:rPr>
              <a:t>Image optimization</a:t>
            </a:r>
            <a:endParaRPr lang="en-US" sz="4000" dirty="0"/>
          </a:p>
        </p:txBody>
      </p:sp>
      <p:sp>
        <p:nvSpPr>
          <p:cNvPr id="5" name="Text 0"/>
          <p:cNvSpPr>
            <a:spLocks noGrp="1"/>
          </p:cNvSpPr>
          <p:nvPr>
            <p:ph type="body" idx="102" hasCustomPrompt="1"/>
          </p:nvPr>
        </p:nvSpPr>
        <p:spPr>
          <a:xfrm>
            <a:off x="731520" y="4069080"/>
            <a:ext cx="6583680" cy="1280160"/>
          </a:xfrm>
          <a:prstGeom prst="rect">
            <a:avLst/>
          </a:prstGeom>
          <a:noFill/>
          <a:ln/>
        </p:spPr>
        <p:txBody>
          <a:bodyPr wrap="square" lIns="0" tIns="0" rIns="0" bIns="0" rtlCol="0" anchor="t"/>
          <a:lstStyle/>
          <a:p>
            <a:pPr marL="0" indent="0" algn="l">
              <a:buNone/>
            </a:pPr>
            <a:r>
              <a:rPr lang="en-US" sz="2200" i="1" dirty="0">
                <a:solidFill>
                  <a:schemeClr val="bg2"/>
                </a:solidFill>
              </a:rPr>
              <a:t>Why ship a 1 GB image when 150 MB does the same job?</a:t>
            </a:r>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WHY IT MATTERS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Same app, smaller box, fewer problems</a:t>
            </a:r>
            <a:endParaRPr lang="en-US" sz="3000" dirty="0"/>
          </a:p>
        </p:txBody>
      </p:sp>
      <p:graphicFrame>
        <p:nvGraphicFramePr>
          <p:cNvPr id="4" name="Chart 0"/>
          <p:cNvGraphicFramePr/>
          <p:nvPr/>
        </p:nvGraphicFramePr>
        <p:xfrm>
          <a:off x="731520" y="1508760"/>
          <a:ext cx="51206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1520" y="4617720"/>
            <a:ext cx="1627632" cy="457200"/>
          </a:xfrm>
          <a:prstGeom prst="roundRect">
            <a:avLst>
              <a:gd name="adj" fmla="val 50000"/>
            </a:avLst>
          </a:prstGeom>
          <a:solidFill>
            <a:schemeClr val="accent5"/>
          </a:solidFill>
          <a:ln w="12700">
            <a:solidFill>
              <a:schemeClr val="accent5"/>
            </a:solidFill>
            <a:prstDash val="solid"/>
          </a:ln>
        </p:spPr>
      </p:sp>
      <p:sp>
        <p:nvSpPr>
          <p:cNvPr id="6" name="Text 3"/>
          <p:cNvSpPr txBox="1"/>
          <p:nvPr/>
        </p:nvSpPr>
        <p:spPr>
          <a:xfrm>
            <a:off x="731520" y="4617720"/>
            <a:ext cx="1627632" cy="457200"/>
          </a:xfrm>
          <a:prstGeom prst="rect">
            <a:avLst/>
          </a:prstGeom>
          <a:noFill/>
          <a:ln/>
        </p:spPr>
        <p:txBody>
          <a:bodyPr wrap="square" lIns="0" tIns="0" rIns="0" bIns="0" rtlCol="0" anchor="ctr"/>
          <a:lstStyle/>
          <a:p>
            <a:pPr marL="0" indent="0" algn="ctr">
              <a:buNone/>
            </a:pPr>
            <a:r>
              <a:rPr lang="en-US" sz="1400" b="1" dirty="0">
                <a:solidFill>
                  <a:schemeClr val="bg1"/>
                </a:solidFill>
              </a:rPr>
              <a:t>Faster pulls</a:t>
            </a:r>
            <a:endParaRPr lang="en-US" sz="1400" dirty="0"/>
          </a:p>
        </p:txBody>
      </p:sp>
      <p:sp>
        <p:nvSpPr>
          <p:cNvPr id="7" name="Shape 4"/>
          <p:cNvSpPr/>
          <p:nvPr/>
        </p:nvSpPr>
        <p:spPr>
          <a:xfrm>
            <a:off x="2468880" y="4617720"/>
            <a:ext cx="1627632" cy="457200"/>
          </a:xfrm>
          <a:prstGeom prst="roundRect">
            <a:avLst>
              <a:gd name="adj" fmla="val 50000"/>
            </a:avLst>
          </a:prstGeom>
          <a:solidFill>
            <a:schemeClr val="accent5"/>
          </a:solidFill>
          <a:ln w="12700">
            <a:solidFill>
              <a:schemeClr val="accent5"/>
            </a:solidFill>
            <a:prstDash val="solid"/>
          </a:ln>
        </p:spPr>
      </p:sp>
      <p:sp>
        <p:nvSpPr>
          <p:cNvPr id="8" name="Text 5"/>
          <p:cNvSpPr txBox="1"/>
          <p:nvPr/>
        </p:nvSpPr>
        <p:spPr>
          <a:xfrm>
            <a:off x="2468880" y="4617720"/>
            <a:ext cx="1627632" cy="457200"/>
          </a:xfrm>
          <a:prstGeom prst="rect">
            <a:avLst/>
          </a:prstGeom>
          <a:noFill/>
          <a:ln/>
        </p:spPr>
        <p:txBody>
          <a:bodyPr wrap="square" lIns="0" tIns="0" rIns="0" bIns="0" rtlCol="0" anchor="ctr"/>
          <a:lstStyle/>
          <a:p>
            <a:pPr marL="0" indent="0" algn="ctr">
              <a:buNone/>
            </a:pPr>
            <a:r>
              <a:rPr lang="en-US" sz="1400" b="1" dirty="0">
                <a:solidFill>
                  <a:schemeClr val="bg1"/>
                </a:solidFill>
              </a:rPr>
              <a:t>Less disk</a:t>
            </a:r>
            <a:endParaRPr lang="en-US" sz="1400" dirty="0"/>
          </a:p>
        </p:txBody>
      </p:sp>
      <p:sp>
        <p:nvSpPr>
          <p:cNvPr id="9" name="Shape 6"/>
          <p:cNvSpPr/>
          <p:nvPr/>
        </p:nvSpPr>
        <p:spPr>
          <a:xfrm>
            <a:off x="4206240" y="4617720"/>
            <a:ext cx="1627632" cy="457200"/>
          </a:xfrm>
          <a:prstGeom prst="roundRect">
            <a:avLst>
              <a:gd name="adj" fmla="val 50000"/>
            </a:avLst>
          </a:prstGeom>
          <a:solidFill>
            <a:schemeClr val="accent5"/>
          </a:solidFill>
          <a:ln w="12700">
            <a:solidFill>
              <a:schemeClr val="accent5"/>
            </a:solidFill>
            <a:prstDash val="solid"/>
          </a:ln>
        </p:spPr>
      </p:sp>
      <p:sp>
        <p:nvSpPr>
          <p:cNvPr id="10" name="Text 7"/>
          <p:cNvSpPr txBox="1"/>
          <p:nvPr/>
        </p:nvSpPr>
        <p:spPr>
          <a:xfrm>
            <a:off x="4206240" y="4617720"/>
            <a:ext cx="1627632" cy="457200"/>
          </a:xfrm>
          <a:prstGeom prst="rect">
            <a:avLst/>
          </a:prstGeom>
          <a:noFill/>
          <a:ln/>
        </p:spPr>
        <p:txBody>
          <a:bodyPr wrap="square" lIns="0" tIns="0" rIns="0" bIns="0" rtlCol="0" anchor="ctr"/>
          <a:lstStyle/>
          <a:p>
            <a:pPr marL="0" indent="0" algn="ctr">
              <a:buNone/>
            </a:pPr>
            <a:r>
              <a:rPr lang="en-US" sz="1400" b="1" dirty="0">
                <a:solidFill>
                  <a:schemeClr val="bg1"/>
                </a:solidFill>
              </a:rPr>
              <a:t>More secure</a:t>
            </a:r>
            <a:endParaRPr lang="en-US" sz="1400" dirty="0"/>
          </a:p>
        </p:txBody>
      </p:sp>
      <p:sp>
        <p:nvSpPr>
          <p:cNvPr id="11" name="Text 8"/>
          <p:cNvSpPr txBox="1"/>
          <p:nvPr/>
        </p:nvSpPr>
        <p:spPr>
          <a:xfrm>
            <a:off x="731520" y="5257800"/>
            <a:ext cx="5120640" cy="320040"/>
          </a:xfrm>
          <a:prstGeom prst="rect">
            <a:avLst/>
          </a:prstGeom>
          <a:noFill/>
          <a:ln/>
        </p:spPr>
        <p:txBody>
          <a:bodyPr wrap="square" lIns="0" tIns="0" rIns="0" bIns="0" rtlCol="0" anchor="t"/>
          <a:lstStyle/>
          <a:p>
            <a:pPr marL="0" indent="0">
              <a:buNone/>
            </a:pPr>
            <a:r>
              <a:rPr lang="en-US" sz="1200" dirty="0">
                <a:solidFill>
                  <a:schemeClr val="bg2"/>
                </a:solidFill>
              </a:rPr>
              <a:t>Sizes are approximate and change with each release.</a:t>
            </a:r>
            <a:endParaRPr lang="en-US" sz="1200" dirty="0"/>
          </a:p>
        </p:txBody>
      </p:sp>
      <p:sp>
        <p:nvSpPr>
          <p:cNvPr id="12" name="Shape 9"/>
          <p:cNvSpPr/>
          <p:nvPr/>
        </p:nvSpPr>
        <p:spPr>
          <a:xfrm>
            <a:off x="6355080" y="1581912"/>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6355080" y="158191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14" name="Text 11"/>
          <p:cNvSpPr txBox="1"/>
          <p:nvPr/>
        </p:nvSpPr>
        <p:spPr>
          <a:xfrm>
            <a:off x="6995160" y="1554480"/>
            <a:ext cx="4434840" cy="365760"/>
          </a:xfrm>
          <a:prstGeom prst="rect">
            <a:avLst/>
          </a:prstGeom>
          <a:noFill/>
          <a:ln/>
        </p:spPr>
        <p:txBody>
          <a:bodyPr wrap="square" lIns="0" tIns="0" rIns="0" bIns="0" rtlCol="0" anchor="t"/>
          <a:lstStyle/>
          <a:p>
            <a:pPr marL="0" indent="0">
              <a:buNone/>
            </a:pPr>
            <a:r>
              <a:rPr lang="en-US" sz="1800" b="1" dirty="0">
                <a:solidFill>
                  <a:schemeClr val="bg1"/>
                </a:solidFill>
              </a:rPr>
              <a:t>Smaller base image</a:t>
            </a:r>
            <a:endParaRPr lang="en-US" sz="1800" dirty="0"/>
          </a:p>
        </p:txBody>
      </p:sp>
      <p:sp>
        <p:nvSpPr>
          <p:cNvPr id="15" name="Text 12"/>
          <p:cNvSpPr txBox="1"/>
          <p:nvPr/>
        </p:nvSpPr>
        <p:spPr>
          <a:xfrm>
            <a:off x="6995160" y="1938528"/>
            <a:ext cx="4434840" cy="594360"/>
          </a:xfrm>
          <a:prstGeom prst="rect">
            <a:avLst/>
          </a:prstGeom>
          <a:noFill/>
          <a:ln/>
        </p:spPr>
        <p:txBody>
          <a:bodyPr wrap="square" lIns="0" tIns="0" rIns="0" bIns="0" rtlCol="0" anchor="t"/>
          <a:lstStyle/>
          <a:p>
            <a:pPr marL="0" indent="0">
              <a:buNone/>
            </a:pPr>
            <a:r>
              <a:rPr lang="en-US" sz="1400" dirty="0">
                <a:solidFill>
                  <a:schemeClr val="bg2"/>
                </a:solidFill>
              </a:rPr>
              <a:t>python:3.12-slim or -alpine instead of the full image</a:t>
            </a:r>
            <a:endParaRPr lang="en-US" sz="1400" dirty="0"/>
          </a:p>
        </p:txBody>
      </p:sp>
      <p:sp>
        <p:nvSpPr>
          <p:cNvPr id="16" name="Shape 13"/>
          <p:cNvSpPr/>
          <p:nvPr/>
        </p:nvSpPr>
        <p:spPr>
          <a:xfrm>
            <a:off x="6355080" y="2660904"/>
            <a:ext cx="457200" cy="457200"/>
          </a:xfrm>
          <a:prstGeom prst="ellipse">
            <a:avLst/>
          </a:prstGeom>
          <a:solidFill>
            <a:schemeClr val="accent2"/>
          </a:solidFill>
          <a:ln w="12700">
            <a:solidFill>
              <a:schemeClr val="accent2"/>
            </a:solidFill>
            <a:prstDash val="solid"/>
          </a:ln>
        </p:spPr>
      </p:sp>
      <p:sp>
        <p:nvSpPr>
          <p:cNvPr id="17" name="Text 14"/>
          <p:cNvSpPr txBox="1"/>
          <p:nvPr/>
        </p:nvSpPr>
        <p:spPr>
          <a:xfrm>
            <a:off x="6355080" y="2660904"/>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8" name="Text 15"/>
          <p:cNvSpPr txBox="1"/>
          <p:nvPr/>
        </p:nvSpPr>
        <p:spPr>
          <a:xfrm>
            <a:off x="6995160" y="2633472"/>
            <a:ext cx="4434840" cy="365760"/>
          </a:xfrm>
          <a:prstGeom prst="rect">
            <a:avLst/>
          </a:prstGeom>
          <a:noFill/>
          <a:ln/>
        </p:spPr>
        <p:txBody>
          <a:bodyPr wrap="square" lIns="0" tIns="0" rIns="0" bIns="0" rtlCol="0" anchor="t"/>
          <a:lstStyle/>
          <a:p>
            <a:pPr marL="0" indent="0">
              <a:buNone/>
            </a:pPr>
            <a:r>
              <a:rPr lang="en-US" sz="1800" b="1" dirty="0">
                <a:solidFill>
                  <a:schemeClr val="bg1"/>
                </a:solidFill>
              </a:rPr>
              <a:t>Layer optimization</a:t>
            </a:r>
            <a:endParaRPr lang="en-US" sz="1800" dirty="0"/>
          </a:p>
        </p:txBody>
      </p:sp>
      <p:sp>
        <p:nvSpPr>
          <p:cNvPr id="19" name="Text 16"/>
          <p:cNvSpPr txBox="1"/>
          <p:nvPr/>
        </p:nvSpPr>
        <p:spPr>
          <a:xfrm>
            <a:off x="6995160" y="3017520"/>
            <a:ext cx="4434840" cy="594360"/>
          </a:xfrm>
          <a:prstGeom prst="rect">
            <a:avLst/>
          </a:prstGeom>
          <a:noFill/>
          <a:ln/>
        </p:spPr>
        <p:txBody>
          <a:bodyPr wrap="square" lIns="0" tIns="0" rIns="0" bIns="0" rtlCol="0" anchor="t"/>
          <a:lstStyle/>
          <a:p>
            <a:pPr marL="0" indent="0">
              <a:buNone/>
            </a:pPr>
            <a:r>
              <a:rPr lang="en-US" sz="1400" dirty="0">
                <a:solidFill>
                  <a:schemeClr val="bg2"/>
                </a:solidFill>
              </a:rPr>
              <a:t>Order steps from least to most often changed, so the cache works</a:t>
            </a:r>
            <a:endParaRPr lang="en-US" sz="1400" dirty="0"/>
          </a:p>
        </p:txBody>
      </p:sp>
      <p:sp>
        <p:nvSpPr>
          <p:cNvPr id="20" name="Shape 17"/>
          <p:cNvSpPr/>
          <p:nvPr/>
        </p:nvSpPr>
        <p:spPr>
          <a:xfrm>
            <a:off x="6355080" y="3739896"/>
            <a:ext cx="457200" cy="457200"/>
          </a:xfrm>
          <a:prstGeom prst="ellipse">
            <a:avLst/>
          </a:prstGeom>
          <a:solidFill>
            <a:schemeClr val="accent2"/>
          </a:solidFill>
          <a:ln w="12700">
            <a:solidFill>
              <a:schemeClr val="accent2"/>
            </a:solidFill>
            <a:prstDash val="solid"/>
          </a:ln>
        </p:spPr>
      </p:sp>
      <p:sp>
        <p:nvSpPr>
          <p:cNvPr id="21" name="Text 18"/>
          <p:cNvSpPr txBox="1"/>
          <p:nvPr/>
        </p:nvSpPr>
        <p:spPr>
          <a:xfrm>
            <a:off x="6355080" y="3739896"/>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2" name="Text 19"/>
          <p:cNvSpPr txBox="1"/>
          <p:nvPr/>
        </p:nvSpPr>
        <p:spPr>
          <a:xfrm>
            <a:off x="6995160" y="3712464"/>
            <a:ext cx="4434840" cy="365760"/>
          </a:xfrm>
          <a:prstGeom prst="rect">
            <a:avLst/>
          </a:prstGeom>
          <a:noFill/>
          <a:ln/>
        </p:spPr>
        <p:txBody>
          <a:bodyPr wrap="square" lIns="0" tIns="0" rIns="0" bIns="0" rtlCol="0" anchor="t"/>
          <a:lstStyle/>
          <a:p>
            <a:pPr marL="0" indent="0">
              <a:buNone/>
            </a:pPr>
            <a:r>
              <a:rPr lang="en-US" sz="1800" b="1" dirty="0">
                <a:solidFill>
                  <a:schemeClr val="bg1"/>
                </a:solidFill>
              </a:rPr>
              <a:t>Dependency optimization</a:t>
            </a:r>
            <a:endParaRPr lang="en-US" sz="1800" dirty="0"/>
          </a:p>
        </p:txBody>
      </p:sp>
      <p:sp>
        <p:nvSpPr>
          <p:cNvPr id="23" name="Text 20"/>
          <p:cNvSpPr txBox="1"/>
          <p:nvPr/>
        </p:nvSpPr>
        <p:spPr>
          <a:xfrm>
            <a:off x="6995160" y="4096512"/>
            <a:ext cx="4434840" cy="594360"/>
          </a:xfrm>
          <a:prstGeom prst="rect">
            <a:avLst/>
          </a:prstGeom>
          <a:noFill/>
          <a:ln/>
        </p:spPr>
        <p:txBody>
          <a:bodyPr wrap="square" lIns="0" tIns="0" rIns="0" bIns="0" rtlCol="0" anchor="t"/>
          <a:lstStyle/>
          <a:p>
            <a:pPr marL="0" indent="0">
              <a:buNone/>
            </a:pPr>
            <a:r>
              <a:rPr lang="en-US" sz="1400" dirty="0">
                <a:solidFill>
                  <a:schemeClr val="bg2"/>
                </a:solidFill>
              </a:rPr>
              <a:t>Install only what you need: --no-cache-dir, --no-install-recommends, .dockerignore</a:t>
            </a:r>
            <a:endParaRPr lang="en-US" sz="1400" dirty="0"/>
          </a:p>
        </p:txBody>
      </p:sp>
      <p:sp>
        <p:nvSpPr>
          <p:cNvPr id="24" name="Shape 21"/>
          <p:cNvSpPr/>
          <p:nvPr/>
        </p:nvSpPr>
        <p:spPr>
          <a:xfrm>
            <a:off x="6355080" y="4818888"/>
            <a:ext cx="457200" cy="457200"/>
          </a:xfrm>
          <a:prstGeom prst="ellipse">
            <a:avLst/>
          </a:prstGeom>
          <a:solidFill>
            <a:schemeClr val="accent2"/>
          </a:solidFill>
          <a:ln w="12700">
            <a:solidFill>
              <a:schemeClr val="accent2"/>
            </a:solidFill>
            <a:prstDash val="solid"/>
          </a:ln>
        </p:spPr>
      </p:sp>
      <p:sp>
        <p:nvSpPr>
          <p:cNvPr id="25" name="Text 22"/>
          <p:cNvSpPr txBox="1"/>
          <p:nvPr/>
        </p:nvSpPr>
        <p:spPr>
          <a:xfrm>
            <a:off x="6355080" y="481888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6" name="Text 23"/>
          <p:cNvSpPr txBox="1"/>
          <p:nvPr/>
        </p:nvSpPr>
        <p:spPr>
          <a:xfrm>
            <a:off x="6995160" y="4791456"/>
            <a:ext cx="4434840" cy="365760"/>
          </a:xfrm>
          <a:prstGeom prst="rect">
            <a:avLst/>
          </a:prstGeom>
          <a:noFill/>
          <a:ln/>
        </p:spPr>
        <p:txBody>
          <a:bodyPr wrap="square" lIns="0" tIns="0" rIns="0" bIns="0" rtlCol="0" anchor="t"/>
          <a:lstStyle/>
          <a:p>
            <a:pPr marL="0" indent="0">
              <a:buNone/>
            </a:pPr>
            <a:r>
              <a:rPr lang="en-US" sz="1800" b="1" dirty="0">
                <a:solidFill>
                  <a:schemeClr val="bg1"/>
                </a:solidFill>
              </a:rPr>
              <a:t>Multi-stage builds</a:t>
            </a:r>
            <a:endParaRPr lang="en-US" sz="1800" dirty="0"/>
          </a:p>
        </p:txBody>
      </p:sp>
      <p:sp>
        <p:nvSpPr>
          <p:cNvPr id="27" name="Text 24"/>
          <p:cNvSpPr txBox="1"/>
          <p:nvPr/>
        </p:nvSpPr>
        <p:spPr>
          <a:xfrm>
            <a:off x="6995160" y="5175504"/>
            <a:ext cx="4434840" cy="594360"/>
          </a:xfrm>
          <a:prstGeom prst="rect">
            <a:avLst/>
          </a:prstGeom>
          <a:noFill/>
          <a:ln/>
        </p:spPr>
        <p:txBody>
          <a:bodyPr wrap="square" lIns="0" tIns="0" rIns="0" bIns="0" rtlCol="0" anchor="t"/>
          <a:lstStyle/>
          <a:p>
            <a:pPr marL="0" indent="0">
              <a:buNone/>
            </a:pPr>
            <a:r>
              <a:rPr lang="en-US" sz="1400" dirty="0">
                <a:solidFill>
                  <a:schemeClr val="bg2"/>
                </a:solidFill>
              </a:rPr>
              <a:t>Build tools stay in a build stage; only the result ships</a:t>
            </a:r>
            <a:endParaRPr lang="en-US" sz="1400" dirty="0"/>
          </a:p>
        </p:txBody>
      </p:sp>
      <p:sp>
        <p:nvSpPr>
          <p:cNvPr id="28"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BEFORE AND AFTER</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Change the Dockerfile, not the app</a:t>
            </a:r>
            <a:endParaRPr lang="en-US" sz="3000" dirty="0"/>
          </a:p>
        </p:txBody>
      </p:sp>
      <p:sp>
        <p:nvSpPr>
          <p:cNvPr id="4" name="Text 2"/>
          <p:cNvSpPr txBox="1"/>
          <p:nvPr/>
        </p:nvSpPr>
        <p:spPr>
          <a:xfrm>
            <a:off x="731520" y="1463040"/>
            <a:ext cx="2743200" cy="365760"/>
          </a:xfrm>
          <a:prstGeom prst="rect">
            <a:avLst/>
          </a:prstGeom>
          <a:noFill/>
          <a:ln/>
        </p:spPr>
        <p:txBody>
          <a:bodyPr wrap="square" lIns="0" tIns="0" rIns="0" bIns="0" rtlCol="0" anchor="t"/>
          <a:lstStyle/>
          <a:p>
            <a:pPr marL="0" indent="0">
              <a:buNone/>
            </a:pPr>
            <a:r>
              <a:rPr lang="en-US" sz="1800" b="1" dirty="0">
                <a:solidFill>
                  <a:schemeClr val="accent4"/>
                </a:solidFill>
              </a:rPr>
              <a:t>Before</a:t>
            </a:r>
            <a:endParaRPr lang="en-US" sz="1800" dirty="0"/>
          </a:p>
        </p:txBody>
      </p:sp>
      <p:sp>
        <p:nvSpPr>
          <p:cNvPr id="5" name="Shape 3"/>
          <p:cNvSpPr/>
          <p:nvPr/>
        </p:nvSpPr>
        <p:spPr>
          <a:xfrm>
            <a:off x="4389120" y="1463040"/>
            <a:ext cx="1234440" cy="365760"/>
          </a:xfrm>
          <a:prstGeom prst="roundRect">
            <a:avLst>
              <a:gd name="adj" fmla="val 50000"/>
            </a:avLst>
          </a:prstGeom>
          <a:solidFill>
            <a:srgbClr val="3A2430"/>
          </a:solidFill>
          <a:ln w="12700">
            <a:solidFill>
              <a:schemeClr val="accent4"/>
            </a:solidFill>
            <a:prstDash val="solid"/>
          </a:ln>
        </p:spPr>
      </p:sp>
      <p:sp>
        <p:nvSpPr>
          <p:cNvPr id="6" name="Text 4"/>
          <p:cNvSpPr txBox="1"/>
          <p:nvPr/>
        </p:nvSpPr>
        <p:spPr>
          <a:xfrm>
            <a:off x="4389120" y="1463040"/>
            <a:ext cx="1234440" cy="365760"/>
          </a:xfrm>
          <a:prstGeom prst="rect">
            <a:avLst/>
          </a:prstGeom>
          <a:noFill/>
          <a:ln/>
        </p:spPr>
        <p:txBody>
          <a:bodyPr wrap="square" lIns="0" tIns="0" rIns="0" bIns="0" rtlCol="0" anchor="ctr"/>
          <a:lstStyle/>
          <a:p>
            <a:pPr marL="0" indent="0" algn="ctr">
              <a:buNone/>
            </a:pPr>
            <a:r>
              <a:rPr lang="en-US" sz="1300" b="1" dirty="0">
                <a:solidFill>
                  <a:schemeClr val="accent4"/>
                </a:solidFill>
              </a:rPr>
              <a:t>≈ 1 GB</a:t>
            </a:r>
            <a:endParaRPr lang="en-US" sz="1300" dirty="0"/>
          </a:p>
        </p:txBody>
      </p:sp>
      <p:sp>
        <p:nvSpPr>
          <p:cNvPr id="7" name="Shape 5"/>
          <p:cNvSpPr/>
          <p:nvPr/>
        </p:nvSpPr>
        <p:spPr>
          <a:xfrm>
            <a:off x="731520" y="1920240"/>
            <a:ext cx="4892040" cy="2606040"/>
          </a:xfrm>
          <a:prstGeom prst="roundRect">
            <a:avLst>
              <a:gd name="adj" fmla="val 2807"/>
            </a:avLst>
          </a:prstGeom>
          <a:solidFill>
            <a:srgbClr val="070D1A"/>
          </a:solidFill>
          <a:ln w="12700">
            <a:solidFill>
              <a:srgbClr val="23314F"/>
            </a:solidFill>
            <a:prstDash val="solid"/>
          </a:ln>
        </p:spPr>
      </p:sp>
      <p:sp>
        <p:nvSpPr>
          <p:cNvPr id="8" name="Shape 6"/>
          <p:cNvSpPr/>
          <p:nvPr/>
        </p:nvSpPr>
        <p:spPr>
          <a:xfrm>
            <a:off x="914400" y="2066544"/>
            <a:ext cx="100584" cy="100584"/>
          </a:xfrm>
          <a:prstGeom prst="ellipse">
            <a:avLst/>
          </a:prstGeom>
          <a:solidFill>
            <a:srgbClr val="FF5F57"/>
          </a:solidFill>
          <a:ln w="12700">
            <a:solidFill>
              <a:srgbClr val="FF5F57"/>
            </a:solidFill>
            <a:prstDash val="solid"/>
          </a:ln>
        </p:spPr>
      </p:sp>
      <p:sp>
        <p:nvSpPr>
          <p:cNvPr id="9" name="Shape 7"/>
          <p:cNvSpPr/>
          <p:nvPr/>
        </p:nvSpPr>
        <p:spPr>
          <a:xfrm>
            <a:off x="1097280" y="2066544"/>
            <a:ext cx="100584" cy="100584"/>
          </a:xfrm>
          <a:prstGeom prst="ellipse">
            <a:avLst/>
          </a:prstGeom>
          <a:solidFill>
            <a:srgbClr val="FEBC2E"/>
          </a:solidFill>
          <a:ln w="12700">
            <a:solidFill>
              <a:srgbClr val="FEBC2E"/>
            </a:solidFill>
            <a:prstDash val="solid"/>
          </a:ln>
        </p:spPr>
      </p:sp>
      <p:sp>
        <p:nvSpPr>
          <p:cNvPr id="10" name="Shape 8"/>
          <p:cNvSpPr/>
          <p:nvPr/>
        </p:nvSpPr>
        <p:spPr>
          <a:xfrm>
            <a:off x="1280160" y="2066544"/>
            <a:ext cx="100584" cy="100584"/>
          </a:xfrm>
          <a:prstGeom prst="ellipse">
            <a:avLst/>
          </a:prstGeom>
          <a:solidFill>
            <a:srgbClr val="28C840"/>
          </a:solidFill>
          <a:ln w="12700">
            <a:solidFill>
              <a:srgbClr val="28C840"/>
            </a:solidFill>
            <a:prstDash val="solid"/>
          </a:ln>
        </p:spPr>
      </p:sp>
      <p:sp>
        <p:nvSpPr>
          <p:cNvPr id="11" name="Text 9"/>
          <p:cNvSpPr txBox="1"/>
          <p:nvPr/>
        </p:nvSpPr>
        <p:spPr>
          <a:xfrm>
            <a:off x="1508760" y="1993392"/>
            <a:ext cx="397764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Dockerfile.fat</a:t>
            </a:r>
            <a:endParaRPr lang="en-US" sz="1100" dirty="0"/>
          </a:p>
        </p:txBody>
      </p:sp>
      <p:sp>
        <p:nvSpPr>
          <p:cNvPr id="12" name="Text 10"/>
          <p:cNvSpPr txBox="1"/>
          <p:nvPr/>
        </p:nvSpPr>
        <p:spPr>
          <a:xfrm>
            <a:off x="960120" y="2340864"/>
            <a:ext cx="4526280" cy="2093976"/>
          </a:xfrm>
          <a:prstGeom prst="rect">
            <a:avLst/>
          </a:prstGeom>
          <a:noFill/>
          <a:ln/>
        </p:spPr>
        <p:txBody>
          <a:bodyPr wrap="square" lIns="0" tIns="0" rIns="0" bIns="0" rtlCol="0" anchor="t"/>
          <a:lstStyle/>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FROM</a:t>
            </a:r>
            <a:r>
              <a:rPr lang="en-US" sz="1300" dirty="0">
                <a:solidFill>
                  <a:srgbClr val="E6EDF3"/>
                </a:solidFill>
                <a:latin typeface="Consolas" pitchFamily="34" charset="0"/>
                <a:ea typeface="Consolas" pitchFamily="34" charset="-122"/>
                <a:cs typeface="Consolas" pitchFamily="34" charset="-120"/>
              </a:rPr>
              <a:t> python:3.12</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WORKDIR</a:t>
            </a:r>
            <a:r>
              <a:rPr lang="en-US" sz="1300" dirty="0">
                <a:solidFill>
                  <a:srgbClr val="E6EDF3"/>
                </a:solidFill>
                <a:latin typeface="Consolas" pitchFamily="34" charset="0"/>
                <a:ea typeface="Consolas" pitchFamily="34" charset="-122"/>
                <a:cs typeface="Consolas" pitchFamily="34" charset="-120"/>
              </a:rPr>
              <a:t> /app</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COPY</a:t>
            </a:r>
            <a:r>
              <a:rPr lang="en-US" sz="1300" dirty="0">
                <a:solidFill>
                  <a:srgbClr val="E6EDF3"/>
                </a:solidFill>
                <a:latin typeface="Consolas" pitchFamily="34" charset="0"/>
                <a:ea typeface="Consolas" pitchFamily="34" charset="-122"/>
                <a:cs typeface="Consolas" pitchFamily="34" charset="-120"/>
              </a:rPr>
              <a:t> . .</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RUN</a:t>
            </a:r>
            <a:r>
              <a:rPr lang="en-US" sz="1300" dirty="0">
                <a:solidFill>
                  <a:srgbClr val="E6EDF3"/>
                </a:solidFill>
                <a:latin typeface="Consolas" pitchFamily="34" charset="0"/>
                <a:ea typeface="Consolas" pitchFamily="34" charset="-122"/>
                <a:cs typeface="Consolas" pitchFamily="34" charset="-120"/>
              </a:rPr>
              <a:t> pip install -r requirements.txt</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CMD</a:t>
            </a:r>
            <a:r>
              <a:rPr lang="en-US" sz="1300" dirty="0">
                <a:solidFill>
                  <a:srgbClr val="E6EDF3"/>
                </a:solidFill>
                <a:latin typeface="Consolas" pitchFamily="34" charset="0"/>
                <a:ea typeface="Consolas" pitchFamily="34" charset="-122"/>
                <a:cs typeface="Consolas" pitchFamily="34" charset="-120"/>
              </a:rPr>
              <a:t> ["python", "app.py"]</a:t>
            </a:r>
            <a:endParaRPr lang="en-US" sz="1300" dirty="0"/>
          </a:p>
        </p:txBody>
      </p:sp>
      <p:sp>
        <p:nvSpPr>
          <p:cNvPr id="13" name="Text 11"/>
          <p:cNvSpPr txBox="1"/>
          <p:nvPr/>
        </p:nvSpPr>
        <p:spPr>
          <a:xfrm>
            <a:off x="5897880" y="1463040"/>
            <a:ext cx="2743200" cy="365760"/>
          </a:xfrm>
          <a:prstGeom prst="rect">
            <a:avLst/>
          </a:prstGeom>
          <a:noFill/>
          <a:ln/>
        </p:spPr>
        <p:txBody>
          <a:bodyPr wrap="square" lIns="0" tIns="0" rIns="0" bIns="0" rtlCol="0" anchor="t"/>
          <a:lstStyle/>
          <a:p>
            <a:pPr marL="0" indent="0">
              <a:buNone/>
            </a:pPr>
            <a:r>
              <a:rPr lang="en-US" sz="1800" b="1" dirty="0">
                <a:solidFill>
                  <a:schemeClr val="accent2"/>
                </a:solidFill>
              </a:rPr>
              <a:t>After</a:t>
            </a:r>
            <a:endParaRPr lang="en-US" sz="1800" dirty="0"/>
          </a:p>
        </p:txBody>
      </p:sp>
      <p:sp>
        <p:nvSpPr>
          <p:cNvPr id="14" name="Shape 12"/>
          <p:cNvSpPr/>
          <p:nvPr/>
        </p:nvSpPr>
        <p:spPr>
          <a:xfrm>
            <a:off x="9555480" y="1463040"/>
            <a:ext cx="1463040" cy="365760"/>
          </a:xfrm>
          <a:prstGeom prst="roundRect">
            <a:avLst>
              <a:gd name="adj" fmla="val 50000"/>
            </a:avLst>
          </a:prstGeom>
          <a:solidFill>
            <a:srgbClr val="0F3B3A"/>
          </a:solidFill>
          <a:ln w="12700">
            <a:solidFill>
              <a:schemeClr val="accent2"/>
            </a:solidFill>
            <a:prstDash val="solid"/>
          </a:ln>
        </p:spPr>
      </p:sp>
      <p:sp>
        <p:nvSpPr>
          <p:cNvPr id="15" name="Text 13"/>
          <p:cNvSpPr txBox="1"/>
          <p:nvPr/>
        </p:nvSpPr>
        <p:spPr>
          <a:xfrm>
            <a:off x="9555480" y="1463040"/>
            <a:ext cx="1463040" cy="365760"/>
          </a:xfrm>
          <a:prstGeom prst="rect">
            <a:avLst/>
          </a:prstGeom>
          <a:noFill/>
          <a:ln/>
        </p:spPr>
        <p:txBody>
          <a:bodyPr wrap="square" lIns="0" tIns="0" rIns="0" bIns="0" rtlCol="0" anchor="ctr"/>
          <a:lstStyle/>
          <a:p>
            <a:pPr marL="0" indent="0" algn="ctr">
              <a:buNone/>
            </a:pPr>
            <a:r>
              <a:rPr lang="en-US" sz="1300" b="1" dirty="0">
                <a:solidFill>
                  <a:schemeClr val="accent2"/>
                </a:solidFill>
              </a:rPr>
              <a:t>≈ 150 MB</a:t>
            </a:r>
            <a:endParaRPr lang="en-US" sz="1300" dirty="0"/>
          </a:p>
        </p:txBody>
      </p:sp>
      <p:sp>
        <p:nvSpPr>
          <p:cNvPr id="16" name="Shape 14"/>
          <p:cNvSpPr/>
          <p:nvPr/>
        </p:nvSpPr>
        <p:spPr>
          <a:xfrm>
            <a:off x="5897880" y="1920240"/>
            <a:ext cx="5120640" cy="2606040"/>
          </a:xfrm>
          <a:prstGeom prst="roundRect">
            <a:avLst>
              <a:gd name="adj" fmla="val 2807"/>
            </a:avLst>
          </a:prstGeom>
          <a:solidFill>
            <a:srgbClr val="070D1A"/>
          </a:solidFill>
          <a:ln w="12700">
            <a:solidFill>
              <a:srgbClr val="23314F"/>
            </a:solidFill>
            <a:prstDash val="solid"/>
          </a:ln>
        </p:spPr>
      </p:sp>
      <p:sp>
        <p:nvSpPr>
          <p:cNvPr id="17" name="Shape 15"/>
          <p:cNvSpPr/>
          <p:nvPr/>
        </p:nvSpPr>
        <p:spPr>
          <a:xfrm>
            <a:off x="6080760" y="2066544"/>
            <a:ext cx="100584" cy="100584"/>
          </a:xfrm>
          <a:prstGeom prst="ellipse">
            <a:avLst/>
          </a:prstGeom>
          <a:solidFill>
            <a:srgbClr val="FF5F57"/>
          </a:solidFill>
          <a:ln w="12700">
            <a:solidFill>
              <a:srgbClr val="FF5F57"/>
            </a:solidFill>
            <a:prstDash val="solid"/>
          </a:ln>
        </p:spPr>
      </p:sp>
      <p:sp>
        <p:nvSpPr>
          <p:cNvPr id="18" name="Shape 16"/>
          <p:cNvSpPr/>
          <p:nvPr/>
        </p:nvSpPr>
        <p:spPr>
          <a:xfrm>
            <a:off x="6263640" y="2066544"/>
            <a:ext cx="100584" cy="100584"/>
          </a:xfrm>
          <a:prstGeom prst="ellipse">
            <a:avLst/>
          </a:prstGeom>
          <a:solidFill>
            <a:srgbClr val="FEBC2E"/>
          </a:solidFill>
          <a:ln w="12700">
            <a:solidFill>
              <a:srgbClr val="FEBC2E"/>
            </a:solidFill>
            <a:prstDash val="solid"/>
          </a:ln>
        </p:spPr>
      </p:sp>
      <p:sp>
        <p:nvSpPr>
          <p:cNvPr id="19" name="Shape 17"/>
          <p:cNvSpPr/>
          <p:nvPr/>
        </p:nvSpPr>
        <p:spPr>
          <a:xfrm>
            <a:off x="6446520" y="2066544"/>
            <a:ext cx="100584" cy="100584"/>
          </a:xfrm>
          <a:prstGeom prst="ellipse">
            <a:avLst/>
          </a:prstGeom>
          <a:solidFill>
            <a:srgbClr val="28C840"/>
          </a:solidFill>
          <a:ln w="12700">
            <a:solidFill>
              <a:srgbClr val="28C840"/>
            </a:solidFill>
            <a:prstDash val="solid"/>
          </a:ln>
        </p:spPr>
      </p:sp>
      <p:sp>
        <p:nvSpPr>
          <p:cNvPr id="20" name="Text 18"/>
          <p:cNvSpPr txBox="1"/>
          <p:nvPr/>
        </p:nvSpPr>
        <p:spPr>
          <a:xfrm>
            <a:off x="6675120" y="1993392"/>
            <a:ext cx="420624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Dockerfile.slim</a:t>
            </a:r>
            <a:endParaRPr lang="en-US" sz="1100" dirty="0"/>
          </a:p>
        </p:txBody>
      </p:sp>
      <p:sp>
        <p:nvSpPr>
          <p:cNvPr id="21" name="Text 19"/>
          <p:cNvSpPr txBox="1"/>
          <p:nvPr/>
        </p:nvSpPr>
        <p:spPr>
          <a:xfrm>
            <a:off x="6126480" y="2340864"/>
            <a:ext cx="4754880" cy="2093976"/>
          </a:xfrm>
          <a:prstGeom prst="rect">
            <a:avLst/>
          </a:prstGeom>
          <a:noFill/>
          <a:ln/>
        </p:spPr>
        <p:txBody>
          <a:bodyPr wrap="square" lIns="0" tIns="0" rIns="0" bIns="0" rtlCol="0" anchor="t"/>
          <a:lstStyle/>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FROM</a:t>
            </a:r>
            <a:r>
              <a:rPr lang="en-US" sz="1300" dirty="0">
                <a:solidFill>
                  <a:srgbClr val="E6EDF3"/>
                </a:solidFill>
                <a:latin typeface="Consolas" pitchFamily="34" charset="0"/>
                <a:ea typeface="Consolas" pitchFamily="34" charset="-122"/>
                <a:cs typeface="Consolas" pitchFamily="34" charset="-120"/>
              </a:rPr>
              <a:t> python:3.12-slim</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WORKDIR</a:t>
            </a:r>
            <a:r>
              <a:rPr lang="en-US" sz="1300" dirty="0">
                <a:solidFill>
                  <a:srgbClr val="E6EDF3"/>
                </a:solidFill>
                <a:latin typeface="Consolas" pitchFamily="34" charset="0"/>
                <a:ea typeface="Consolas" pitchFamily="34" charset="-122"/>
                <a:cs typeface="Consolas" pitchFamily="34" charset="-120"/>
              </a:rPr>
              <a:t> /app</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COPY</a:t>
            </a:r>
            <a:r>
              <a:rPr lang="en-US" sz="1300" dirty="0">
                <a:solidFill>
                  <a:srgbClr val="E6EDF3"/>
                </a:solidFill>
                <a:latin typeface="Consolas" pitchFamily="34" charset="0"/>
                <a:ea typeface="Consolas" pitchFamily="34" charset="-122"/>
                <a:cs typeface="Consolas" pitchFamily="34" charset="-120"/>
              </a:rPr>
              <a:t> requirements.txt .</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RUN</a:t>
            </a:r>
            <a:r>
              <a:rPr lang="en-US" sz="1300" dirty="0">
                <a:solidFill>
                  <a:srgbClr val="E6EDF3"/>
                </a:solidFill>
                <a:latin typeface="Consolas" pitchFamily="34" charset="0"/>
                <a:ea typeface="Consolas" pitchFamily="34" charset="-122"/>
                <a:cs typeface="Consolas" pitchFamily="34" charset="-120"/>
              </a:rPr>
              <a:t> pip install --no-cache-dir \</a:t>
            </a:r>
            <a:endParaRPr lang="en-US" sz="1300" dirty="0"/>
          </a:p>
          <a:p>
            <a:pPr marL="0" indent="0">
              <a:lnSpc>
                <a:spcPct val="112000"/>
              </a:lnSpc>
              <a:buNone/>
            </a:pPr>
            <a:r>
              <a:rPr lang="en-US" sz="1300" dirty="0">
                <a:solidFill>
                  <a:srgbClr val="E6EDF3"/>
                </a:solidFill>
                <a:latin typeface="Consolas" pitchFamily="34" charset="0"/>
                <a:ea typeface="Consolas" pitchFamily="34" charset="-122"/>
                <a:cs typeface="Consolas" pitchFamily="34" charset="-120"/>
              </a:rPr>
              <a:t>    -r requirements.txt</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COPY</a:t>
            </a:r>
            <a:r>
              <a:rPr lang="en-US" sz="1300" dirty="0">
                <a:solidFill>
                  <a:srgbClr val="E6EDF3"/>
                </a:solidFill>
                <a:latin typeface="Consolas" pitchFamily="34" charset="0"/>
                <a:ea typeface="Consolas" pitchFamily="34" charset="-122"/>
                <a:cs typeface="Consolas" pitchFamily="34" charset="-120"/>
              </a:rPr>
              <a:t> app.py .</a:t>
            </a:r>
            <a:endParaRPr lang="en-US" sz="1300" dirty="0"/>
          </a:p>
          <a:p>
            <a:pPr marL="0" indent="0">
              <a:lnSpc>
                <a:spcPct val="112000"/>
              </a:lnSpc>
              <a:buNone/>
            </a:pPr>
            <a:r>
              <a:rPr lang="en-US" sz="1300" b="1" dirty="0">
                <a:solidFill>
                  <a:srgbClr val="79C0FF"/>
                </a:solidFill>
                <a:latin typeface="Consolas" pitchFamily="34" charset="0"/>
                <a:ea typeface="Consolas" pitchFamily="34" charset="-122"/>
                <a:cs typeface="Consolas" pitchFamily="34" charset="-120"/>
              </a:rPr>
              <a:t>CMD</a:t>
            </a:r>
            <a:r>
              <a:rPr lang="en-US" sz="1300" dirty="0">
                <a:solidFill>
                  <a:srgbClr val="E6EDF3"/>
                </a:solidFill>
                <a:latin typeface="Consolas" pitchFamily="34" charset="0"/>
                <a:ea typeface="Consolas" pitchFamily="34" charset="-122"/>
                <a:cs typeface="Consolas" pitchFamily="34" charset="-120"/>
              </a:rPr>
              <a:t> ["python", "app.py"]</a:t>
            </a:r>
            <a:endParaRPr lang="en-US" sz="1300" dirty="0"/>
          </a:p>
        </p:txBody>
      </p:sp>
      <p:sp>
        <p:nvSpPr>
          <p:cNvPr id="22" name="Shape 20"/>
          <p:cNvSpPr/>
          <p:nvPr/>
        </p:nvSpPr>
        <p:spPr>
          <a:xfrm>
            <a:off x="11137392" y="2350008"/>
            <a:ext cx="182880" cy="182880"/>
          </a:xfrm>
          <a:prstGeom prst="ellipse">
            <a:avLst/>
          </a:prstGeom>
          <a:solidFill>
            <a:schemeClr val="accent2"/>
          </a:solidFill>
          <a:ln w="12700">
            <a:solidFill>
              <a:schemeClr val="accent2"/>
            </a:solidFill>
            <a:prstDash val="solid"/>
          </a:ln>
        </p:spPr>
      </p:sp>
      <p:sp>
        <p:nvSpPr>
          <p:cNvPr id="23" name="Text 21"/>
          <p:cNvSpPr txBox="1"/>
          <p:nvPr/>
        </p:nvSpPr>
        <p:spPr>
          <a:xfrm>
            <a:off x="11137392" y="2350008"/>
            <a:ext cx="182880" cy="182880"/>
          </a:xfrm>
          <a:prstGeom prst="rect">
            <a:avLst/>
          </a:prstGeom>
          <a:noFill/>
          <a:ln/>
        </p:spPr>
        <p:txBody>
          <a:bodyPr wrap="square" lIns="0" tIns="0" rIns="0" bIns="0" rtlCol="0" anchor="ctr"/>
          <a:lstStyle/>
          <a:p>
            <a:pPr marL="0" indent="0" algn="ctr">
              <a:buNone/>
            </a:pPr>
            <a:r>
              <a:rPr lang="en-US" sz="900" b="1" dirty="0">
                <a:solidFill>
                  <a:schemeClr val="tx1"/>
                </a:solidFill>
              </a:rPr>
              <a:t>1</a:t>
            </a:r>
            <a:endParaRPr lang="en-US" sz="900" dirty="0"/>
          </a:p>
        </p:txBody>
      </p:sp>
      <p:sp>
        <p:nvSpPr>
          <p:cNvPr id="24" name="Shape 22"/>
          <p:cNvSpPr/>
          <p:nvPr/>
        </p:nvSpPr>
        <p:spPr>
          <a:xfrm>
            <a:off x="11137392" y="2825496"/>
            <a:ext cx="182880" cy="182880"/>
          </a:xfrm>
          <a:prstGeom prst="ellipse">
            <a:avLst/>
          </a:prstGeom>
          <a:solidFill>
            <a:schemeClr val="accent2"/>
          </a:solidFill>
          <a:ln w="12700">
            <a:solidFill>
              <a:schemeClr val="accent2"/>
            </a:solidFill>
            <a:prstDash val="solid"/>
          </a:ln>
        </p:spPr>
      </p:sp>
      <p:sp>
        <p:nvSpPr>
          <p:cNvPr id="25" name="Text 23"/>
          <p:cNvSpPr txBox="1"/>
          <p:nvPr/>
        </p:nvSpPr>
        <p:spPr>
          <a:xfrm>
            <a:off x="11137392" y="2825496"/>
            <a:ext cx="182880" cy="182880"/>
          </a:xfrm>
          <a:prstGeom prst="rect">
            <a:avLst/>
          </a:prstGeom>
          <a:noFill/>
          <a:ln/>
        </p:spPr>
        <p:txBody>
          <a:bodyPr wrap="square" lIns="0" tIns="0" rIns="0" bIns="0" rtlCol="0" anchor="ctr"/>
          <a:lstStyle/>
          <a:p>
            <a:pPr marL="0" indent="0" algn="ctr">
              <a:buNone/>
            </a:pPr>
            <a:r>
              <a:rPr lang="en-US" sz="900" b="1" dirty="0">
                <a:solidFill>
                  <a:schemeClr val="tx1"/>
                </a:solidFill>
              </a:rPr>
              <a:t>2</a:t>
            </a:r>
            <a:endParaRPr lang="en-US" sz="900" dirty="0"/>
          </a:p>
        </p:txBody>
      </p:sp>
      <p:sp>
        <p:nvSpPr>
          <p:cNvPr id="26" name="Shape 24"/>
          <p:cNvSpPr/>
          <p:nvPr/>
        </p:nvSpPr>
        <p:spPr>
          <a:xfrm>
            <a:off x="11137392" y="3026664"/>
            <a:ext cx="182880" cy="182880"/>
          </a:xfrm>
          <a:prstGeom prst="ellipse">
            <a:avLst/>
          </a:prstGeom>
          <a:solidFill>
            <a:schemeClr val="accent2"/>
          </a:solidFill>
          <a:ln w="12700">
            <a:solidFill>
              <a:schemeClr val="accent2"/>
            </a:solidFill>
            <a:prstDash val="solid"/>
          </a:ln>
        </p:spPr>
      </p:sp>
      <p:sp>
        <p:nvSpPr>
          <p:cNvPr id="27" name="Text 25"/>
          <p:cNvSpPr txBox="1"/>
          <p:nvPr/>
        </p:nvSpPr>
        <p:spPr>
          <a:xfrm>
            <a:off x="11137392" y="3026664"/>
            <a:ext cx="182880" cy="182880"/>
          </a:xfrm>
          <a:prstGeom prst="rect">
            <a:avLst/>
          </a:prstGeom>
          <a:noFill/>
          <a:ln/>
        </p:spPr>
        <p:txBody>
          <a:bodyPr wrap="square" lIns="0" tIns="0" rIns="0" bIns="0" rtlCol="0" anchor="ctr"/>
          <a:lstStyle/>
          <a:p>
            <a:pPr marL="0" indent="0" algn="ctr">
              <a:buNone/>
            </a:pPr>
            <a:r>
              <a:rPr lang="en-US" sz="900" b="1" dirty="0">
                <a:solidFill>
                  <a:schemeClr val="tx1"/>
                </a:solidFill>
              </a:rPr>
              <a:t>3</a:t>
            </a:r>
            <a:endParaRPr lang="en-US" sz="900" dirty="0"/>
          </a:p>
        </p:txBody>
      </p:sp>
      <p:sp>
        <p:nvSpPr>
          <p:cNvPr id="28" name="Shape 26"/>
          <p:cNvSpPr/>
          <p:nvPr/>
        </p:nvSpPr>
        <p:spPr>
          <a:xfrm>
            <a:off x="731520" y="4846320"/>
            <a:ext cx="384048" cy="384048"/>
          </a:xfrm>
          <a:prstGeom prst="ellipse">
            <a:avLst/>
          </a:prstGeom>
          <a:solidFill>
            <a:schemeClr val="accent2"/>
          </a:solidFill>
          <a:ln w="12700">
            <a:solidFill>
              <a:schemeClr val="accent2"/>
            </a:solidFill>
            <a:prstDash val="solid"/>
          </a:ln>
        </p:spPr>
      </p:sp>
      <p:sp>
        <p:nvSpPr>
          <p:cNvPr id="29" name="Text 27"/>
          <p:cNvSpPr txBox="1"/>
          <p:nvPr/>
        </p:nvSpPr>
        <p:spPr>
          <a:xfrm>
            <a:off x="731520" y="4846320"/>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30" name="Text 28"/>
          <p:cNvSpPr txBox="1"/>
          <p:nvPr/>
        </p:nvSpPr>
        <p:spPr>
          <a:xfrm>
            <a:off x="1280160" y="4800600"/>
            <a:ext cx="2926080" cy="365760"/>
          </a:xfrm>
          <a:prstGeom prst="rect">
            <a:avLst/>
          </a:prstGeom>
          <a:noFill/>
          <a:ln/>
        </p:spPr>
        <p:txBody>
          <a:bodyPr wrap="square" lIns="0" tIns="0" rIns="0" bIns="0" rtlCol="0" anchor="t"/>
          <a:lstStyle/>
          <a:p>
            <a:pPr marL="0" indent="0">
              <a:buNone/>
            </a:pPr>
            <a:r>
              <a:rPr lang="en-US" sz="1600" b="1" dirty="0">
                <a:solidFill>
                  <a:schemeClr val="bg1"/>
                </a:solidFill>
              </a:rPr>
              <a:t>Small base image</a:t>
            </a:r>
            <a:endParaRPr lang="en-US" sz="1600" dirty="0"/>
          </a:p>
        </p:txBody>
      </p:sp>
      <p:sp>
        <p:nvSpPr>
          <p:cNvPr id="31" name="Text 29"/>
          <p:cNvSpPr txBox="1"/>
          <p:nvPr/>
        </p:nvSpPr>
        <p:spPr>
          <a:xfrm>
            <a:off x="1280160" y="5166360"/>
            <a:ext cx="2926080" cy="822960"/>
          </a:xfrm>
          <a:prstGeom prst="rect">
            <a:avLst/>
          </a:prstGeom>
          <a:noFill/>
          <a:ln/>
        </p:spPr>
        <p:txBody>
          <a:bodyPr wrap="square" lIns="0" tIns="0" rIns="0" bIns="0" rtlCol="0" anchor="t"/>
          <a:lstStyle/>
          <a:p>
            <a:pPr marL="0" indent="0">
              <a:buNone/>
            </a:pPr>
            <a:r>
              <a:rPr lang="en-US" sz="1400" dirty="0">
                <a:solidFill>
                  <a:schemeClr val="bg2"/>
                </a:solidFill>
              </a:rPr>
              <a:t>only what Python needs to run; no compilers or extra tools</a:t>
            </a:r>
            <a:endParaRPr lang="en-US" sz="1400" dirty="0"/>
          </a:p>
        </p:txBody>
      </p:sp>
      <p:sp>
        <p:nvSpPr>
          <p:cNvPr id="32" name="Shape 30"/>
          <p:cNvSpPr/>
          <p:nvPr/>
        </p:nvSpPr>
        <p:spPr>
          <a:xfrm>
            <a:off x="4361688" y="4846320"/>
            <a:ext cx="384048" cy="384048"/>
          </a:xfrm>
          <a:prstGeom prst="ellipse">
            <a:avLst/>
          </a:prstGeom>
          <a:solidFill>
            <a:schemeClr val="accent2"/>
          </a:solidFill>
          <a:ln w="12700">
            <a:solidFill>
              <a:schemeClr val="accent2"/>
            </a:solidFill>
            <a:prstDash val="solid"/>
          </a:ln>
        </p:spPr>
      </p:sp>
      <p:sp>
        <p:nvSpPr>
          <p:cNvPr id="33" name="Text 31"/>
          <p:cNvSpPr txBox="1"/>
          <p:nvPr/>
        </p:nvSpPr>
        <p:spPr>
          <a:xfrm>
            <a:off x="4361688" y="4846320"/>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34" name="Text 32"/>
          <p:cNvSpPr txBox="1"/>
          <p:nvPr/>
        </p:nvSpPr>
        <p:spPr>
          <a:xfrm>
            <a:off x="4910328" y="4800600"/>
            <a:ext cx="2926080" cy="365760"/>
          </a:xfrm>
          <a:prstGeom prst="rect">
            <a:avLst/>
          </a:prstGeom>
          <a:noFill/>
          <a:ln/>
        </p:spPr>
        <p:txBody>
          <a:bodyPr wrap="square" lIns="0" tIns="0" rIns="0" bIns="0" rtlCol="0" anchor="t"/>
          <a:lstStyle/>
          <a:p>
            <a:pPr marL="0" indent="0">
              <a:buNone/>
            </a:pPr>
            <a:r>
              <a:rPr lang="en-US" sz="1600" b="1" dirty="0">
                <a:solidFill>
                  <a:schemeClr val="bg1"/>
                </a:solidFill>
              </a:rPr>
              <a:t>Copy requirements first</a:t>
            </a:r>
            <a:endParaRPr lang="en-US" sz="1600" dirty="0"/>
          </a:p>
        </p:txBody>
      </p:sp>
      <p:sp>
        <p:nvSpPr>
          <p:cNvPr id="35" name="Text 33"/>
          <p:cNvSpPr txBox="1"/>
          <p:nvPr/>
        </p:nvSpPr>
        <p:spPr>
          <a:xfrm>
            <a:off x="4910328" y="5166360"/>
            <a:ext cx="2926080" cy="822960"/>
          </a:xfrm>
          <a:prstGeom prst="rect">
            <a:avLst/>
          </a:prstGeom>
          <a:noFill/>
          <a:ln/>
        </p:spPr>
        <p:txBody>
          <a:bodyPr wrap="square" lIns="0" tIns="0" rIns="0" bIns="0" rtlCol="0" anchor="t"/>
          <a:lstStyle/>
          <a:p>
            <a:pPr marL="0" indent="0">
              <a:buNone/>
            </a:pPr>
            <a:r>
              <a:rPr lang="en-US" sz="1400" dirty="0">
                <a:solidFill>
                  <a:schemeClr val="bg2"/>
                </a:solidFill>
              </a:rPr>
              <a:t>editing your code no longer re-installs every dependency</a:t>
            </a:r>
            <a:endParaRPr lang="en-US" sz="1400" dirty="0"/>
          </a:p>
        </p:txBody>
      </p:sp>
      <p:sp>
        <p:nvSpPr>
          <p:cNvPr id="36" name="Shape 34"/>
          <p:cNvSpPr/>
          <p:nvPr/>
        </p:nvSpPr>
        <p:spPr>
          <a:xfrm>
            <a:off x="7991856" y="4846320"/>
            <a:ext cx="384048" cy="384048"/>
          </a:xfrm>
          <a:prstGeom prst="ellipse">
            <a:avLst/>
          </a:prstGeom>
          <a:solidFill>
            <a:schemeClr val="accent2"/>
          </a:solidFill>
          <a:ln w="12700">
            <a:solidFill>
              <a:schemeClr val="accent2"/>
            </a:solidFill>
            <a:prstDash val="solid"/>
          </a:ln>
        </p:spPr>
      </p:sp>
      <p:sp>
        <p:nvSpPr>
          <p:cNvPr id="37" name="Text 35"/>
          <p:cNvSpPr txBox="1"/>
          <p:nvPr/>
        </p:nvSpPr>
        <p:spPr>
          <a:xfrm>
            <a:off x="7991856" y="4846320"/>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38" name="Text 36"/>
          <p:cNvSpPr txBox="1"/>
          <p:nvPr/>
        </p:nvSpPr>
        <p:spPr>
          <a:xfrm>
            <a:off x="8540496" y="4800600"/>
            <a:ext cx="2926080" cy="365760"/>
          </a:xfrm>
          <a:prstGeom prst="rect">
            <a:avLst/>
          </a:prstGeom>
          <a:noFill/>
          <a:ln/>
        </p:spPr>
        <p:txBody>
          <a:bodyPr wrap="square" lIns="0" tIns="0" rIns="0" bIns="0" rtlCol="0" anchor="t"/>
          <a:lstStyle/>
          <a:p>
            <a:pPr marL="0" indent="0">
              <a:buNone/>
            </a:pPr>
            <a:r>
              <a:rPr lang="en-US" sz="1600" b="1" dirty="0">
                <a:solidFill>
                  <a:schemeClr val="bg1"/>
                </a:solidFill>
              </a:rPr>
              <a:t>--no-cache-dir</a:t>
            </a:r>
            <a:endParaRPr lang="en-US" sz="1600" dirty="0"/>
          </a:p>
        </p:txBody>
      </p:sp>
      <p:sp>
        <p:nvSpPr>
          <p:cNvPr id="39" name="Text 37"/>
          <p:cNvSpPr txBox="1"/>
          <p:nvPr/>
        </p:nvSpPr>
        <p:spPr>
          <a:xfrm>
            <a:off x="8540496" y="5166360"/>
            <a:ext cx="2926080" cy="822960"/>
          </a:xfrm>
          <a:prstGeom prst="rect">
            <a:avLst/>
          </a:prstGeom>
          <a:noFill/>
          <a:ln/>
        </p:spPr>
        <p:txBody>
          <a:bodyPr wrap="square" lIns="0" tIns="0" rIns="0" bIns="0" rtlCol="0" anchor="t"/>
          <a:lstStyle/>
          <a:p>
            <a:pPr marL="0" indent="0">
              <a:buNone/>
            </a:pPr>
            <a:r>
              <a:rPr lang="en-US" sz="1400" dirty="0">
                <a:solidFill>
                  <a:schemeClr val="bg2"/>
                </a:solidFill>
              </a:rPr>
              <a:t>no leftover download files inside the image</a:t>
            </a:r>
            <a:endParaRPr lang="en-US" sz="1400" dirty="0"/>
          </a:p>
        </p:txBody>
      </p:sp>
      <p:sp>
        <p:nvSpPr>
          <p:cNvPr id="40"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MULTI-STAGE BUILDS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Build in one stage, ship only the result</a:t>
            </a:r>
            <a:endParaRPr lang="en-US" sz="3000" dirty="0"/>
          </a:p>
        </p:txBody>
      </p:sp>
      <p:sp>
        <p:nvSpPr>
          <p:cNvPr id="4" name="Shape 2"/>
          <p:cNvSpPr/>
          <p:nvPr/>
        </p:nvSpPr>
        <p:spPr>
          <a:xfrm>
            <a:off x="731520" y="1508760"/>
            <a:ext cx="4114800" cy="3657600"/>
          </a:xfrm>
          <a:prstGeom prst="roundRect">
            <a:avLst>
              <a:gd name="adj" fmla="val 2500"/>
            </a:avLst>
          </a:prstGeom>
          <a:solidFill>
            <a:srgbClr val="0B1426"/>
          </a:solidFill>
          <a:ln w="12700">
            <a:solidFill>
              <a:schemeClr val="bg2"/>
            </a:solidFill>
            <a:prstDash val="dash"/>
          </a:ln>
        </p:spPr>
      </p:sp>
      <p:sp>
        <p:nvSpPr>
          <p:cNvPr id="5" name="Text 3"/>
          <p:cNvSpPr txBox="1"/>
          <p:nvPr/>
        </p:nvSpPr>
        <p:spPr>
          <a:xfrm>
            <a:off x="731520" y="1645920"/>
            <a:ext cx="4114800" cy="365760"/>
          </a:xfrm>
          <a:prstGeom prst="rect">
            <a:avLst/>
          </a:prstGeom>
          <a:noFill/>
          <a:ln/>
        </p:spPr>
        <p:txBody>
          <a:bodyPr wrap="square" lIns="0" tIns="0" rIns="0" bIns="0" rtlCol="0" anchor="t"/>
          <a:lstStyle/>
          <a:p>
            <a:pPr marL="0" indent="0" algn="ctr">
              <a:buNone/>
            </a:pPr>
            <a:r>
              <a:rPr lang="en-US" sz="1800" b="1" dirty="0">
                <a:solidFill>
                  <a:schemeClr val="bg1"/>
                </a:solidFill>
              </a:rPr>
              <a:t>Stage 1 · builder</a:t>
            </a:r>
            <a:endParaRPr lang="en-US" sz="1800" dirty="0"/>
          </a:p>
        </p:txBody>
      </p:sp>
      <p:sp>
        <p:nvSpPr>
          <p:cNvPr id="6" name="Text 4"/>
          <p:cNvSpPr txBox="1"/>
          <p:nvPr/>
        </p:nvSpPr>
        <p:spPr>
          <a:xfrm>
            <a:off x="731520" y="2011680"/>
            <a:ext cx="4114800" cy="274320"/>
          </a:xfrm>
          <a:prstGeom prst="rect">
            <a:avLst/>
          </a:prstGeom>
          <a:noFill/>
          <a:ln/>
        </p:spPr>
        <p:txBody>
          <a:bodyPr wrap="square" lIns="0" tIns="0" rIns="0" bIns="0" rtlCol="0" anchor="t"/>
          <a:lstStyle/>
          <a:p>
            <a:pPr marL="0" indent="0" algn="ctr">
              <a:buNone/>
            </a:pPr>
            <a:r>
              <a:rPr lang="en-US" sz="1300" dirty="0">
                <a:solidFill>
                  <a:schemeClr val="bg2"/>
                </a:solidFill>
                <a:latin typeface="Consolas" pitchFamily="34" charset="0"/>
                <a:ea typeface="Consolas" pitchFamily="34" charset="-122"/>
                <a:cs typeface="Consolas" pitchFamily="34" charset="-120"/>
              </a:rPr>
              <a:t>FROM golang AS builder</a:t>
            </a:r>
            <a:endParaRPr lang="en-US" sz="1300" dirty="0"/>
          </a:p>
        </p:txBody>
      </p:sp>
      <p:sp>
        <p:nvSpPr>
          <p:cNvPr id="7" name="Shape 5"/>
          <p:cNvSpPr/>
          <p:nvPr/>
        </p:nvSpPr>
        <p:spPr>
          <a:xfrm>
            <a:off x="1005840" y="2468880"/>
            <a:ext cx="3566160" cy="457200"/>
          </a:xfrm>
          <a:prstGeom prst="roundRect">
            <a:avLst>
              <a:gd name="adj" fmla="val 20000"/>
            </a:avLst>
          </a:prstGeom>
          <a:solidFill>
            <a:srgbClr val="2B3346"/>
          </a:solidFill>
          <a:ln w="12700">
            <a:solidFill>
              <a:srgbClr val="2B3346"/>
            </a:solidFill>
            <a:prstDash val="solid"/>
          </a:ln>
        </p:spPr>
      </p:sp>
      <p:sp>
        <p:nvSpPr>
          <p:cNvPr id="8" name="Text 6"/>
          <p:cNvSpPr txBox="1"/>
          <p:nvPr/>
        </p:nvSpPr>
        <p:spPr>
          <a:xfrm>
            <a:off x="1078992" y="2468880"/>
            <a:ext cx="3419856" cy="45720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Source code</a:t>
            </a:r>
            <a:endParaRPr lang="en-US" sz="1400" dirty="0"/>
          </a:p>
        </p:txBody>
      </p:sp>
      <p:sp>
        <p:nvSpPr>
          <p:cNvPr id="9" name="Shape 7"/>
          <p:cNvSpPr/>
          <p:nvPr/>
        </p:nvSpPr>
        <p:spPr>
          <a:xfrm>
            <a:off x="1005840" y="3017520"/>
            <a:ext cx="3566160" cy="457200"/>
          </a:xfrm>
          <a:prstGeom prst="roundRect">
            <a:avLst>
              <a:gd name="adj" fmla="val 20000"/>
            </a:avLst>
          </a:prstGeom>
          <a:solidFill>
            <a:srgbClr val="2B3346"/>
          </a:solidFill>
          <a:ln w="12700">
            <a:solidFill>
              <a:srgbClr val="2B3346"/>
            </a:solidFill>
            <a:prstDash val="solid"/>
          </a:ln>
        </p:spPr>
      </p:sp>
      <p:sp>
        <p:nvSpPr>
          <p:cNvPr id="10" name="Text 8"/>
          <p:cNvSpPr txBox="1"/>
          <p:nvPr/>
        </p:nvSpPr>
        <p:spPr>
          <a:xfrm>
            <a:off x="1078992" y="3017520"/>
            <a:ext cx="3419856" cy="45720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Go compiler</a:t>
            </a:r>
            <a:endParaRPr lang="en-US" sz="1400" dirty="0"/>
          </a:p>
        </p:txBody>
      </p:sp>
      <p:sp>
        <p:nvSpPr>
          <p:cNvPr id="11" name="Shape 9"/>
          <p:cNvSpPr/>
          <p:nvPr/>
        </p:nvSpPr>
        <p:spPr>
          <a:xfrm>
            <a:off x="1005840" y="3566160"/>
            <a:ext cx="3566160" cy="457200"/>
          </a:xfrm>
          <a:prstGeom prst="roundRect">
            <a:avLst>
              <a:gd name="adj" fmla="val 20000"/>
            </a:avLst>
          </a:prstGeom>
          <a:solidFill>
            <a:srgbClr val="2B3346"/>
          </a:solidFill>
          <a:ln w="12700">
            <a:solidFill>
              <a:srgbClr val="2B3346"/>
            </a:solidFill>
            <a:prstDash val="solid"/>
          </a:ln>
        </p:spPr>
      </p:sp>
      <p:sp>
        <p:nvSpPr>
          <p:cNvPr id="12" name="Text 10"/>
          <p:cNvSpPr txBox="1"/>
          <p:nvPr/>
        </p:nvSpPr>
        <p:spPr>
          <a:xfrm>
            <a:off x="1078992" y="3566160"/>
            <a:ext cx="3419856" cy="45720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Build tools and cache</a:t>
            </a:r>
            <a:endParaRPr lang="en-US" sz="1400" dirty="0"/>
          </a:p>
        </p:txBody>
      </p:sp>
      <p:sp>
        <p:nvSpPr>
          <p:cNvPr id="13" name="Shape 11"/>
          <p:cNvSpPr/>
          <p:nvPr/>
        </p:nvSpPr>
        <p:spPr>
          <a:xfrm>
            <a:off x="2788920" y="4114800"/>
            <a:ext cx="0" cy="228600"/>
          </a:xfrm>
          <a:prstGeom prst="line">
            <a:avLst/>
          </a:prstGeom>
          <a:noFill/>
          <a:ln w="22225">
            <a:solidFill>
              <a:schemeClr val="bg2"/>
            </a:solidFill>
            <a:prstDash val="solid"/>
            <a:tailEnd type="triangle"/>
          </a:ln>
        </p:spPr>
      </p:sp>
      <p:sp>
        <p:nvSpPr>
          <p:cNvPr id="14" name="Shape 12"/>
          <p:cNvSpPr/>
          <p:nvPr/>
        </p:nvSpPr>
        <p:spPr>
          <a:xfrm>
            <a:off x="1005840" y="4389120"/>
            <a:ext cx="3566160" cy="548640"/>
          </a:xfrm>
          <a:prstGeom prst="roundRect">
            <a:avLst>
              <a:gd name="adj" fmla="val 16667"/>
            </a:avLst>
          </a:prstGeom>
          <a:solidFill>
            <a:srgbClr val="0F3B3A"/>
          </a:solidFill>
          <a:ln w="12700">
            <a:solidFill>
              <a:schemeClr val="accent2"/>
            </a:solidFill>
            <a:prstDash val="solid"/>
          </a:ln>
        </p:spPr>
      </p:sp>
      <p:sp>
        <p:nvSpPr>
          <p:cNvPr id="15" name="Text 13"/>
          <p:cNvSpPr txBox="1"/>
          <p:nvPr/>
        </p:nvSpPr>
        <p:spPr>
          <a:xfrm>
            <a:off x="1078992" y="4389120"/>
            <a:ext cx="3419856" cy="548640"/>
          </a:xfrm>
          <a:prstGeom prst="rect">
            <a:avLst/>
          </a:prstGeom>
          <a:noFill/>
          <a:ln/>
        </p:spPr>
        <p:txBody>
          <a:bodyPr wrap="square" lIns="0" tIns="0" rIns="0" bIns="0" rtlCol="0" anchor="ctr"/>
          <a:lstStyle/>
          <a:p>
            <a:pPr marL="0" indent="0" algn="ctr">
              <a:spcAft>
                <a:spcPts val="200"/>
              </a:spcAft>
              <a:buNone/>
            </a:pPr>
            <a:r>
              <a:rPr lang="en-US" sz="1500" b="1" dirty="0">
                <a:solidFill>
                  <a:schemeClr val="accent2"/>
                </a:solidFill>
              </a:rPr>
              <a:t>app (finished program)</a:t>
            </a:r>
            <a:endParaRPr lang="en-US" sz="1500" dirty="0"/>
          </a:p>
        </p:txBody>
      </p:sp>
      <p:sp>
        <p:nvSpPr>
          <p:cNvPr id="16" name="Shape 14"/>
          <p:cNvSpPr/>
          <p:nvPr/>
        </p:nvSpPr>
        <p:spPr>
          <a:xfrm>
            <a:off x="7315200" y="2606040"/>
            <a:ext cx="4114800" cy="2560320"/>
          </a:xfrm>
          <a:prstGeom prst="roundRect">
            <a:avLst>
              <a:gd name="adj" fmla="val 3571"/>
            </a:avLst>
          </a:prstGeom>
          <a:solidFill>
            <a:schemeClr val="tx2"/>
          </a:solidFill>
          <a:ln w="19050">
            <a:solidFill>
              <a:schemeClr val="accent2"/>
            </a:solidFill>
            <a:prstDash val="solid"/>
          </a:ln>
        </p:spPr>
      </p:sp>
      <p:sp>
        <p:nvSpPr>
          <p:cNvPr id="17" name="Text 15"/>
          <p:cNvSpPr txBox="1"/>
          <p:nvPr/>
        </p:nvSpPr>
        <p:spPr>
          <a:xfrm>
            <a:off x="7315200" y="2743200"/>
            <a:ext cx="4114800" cy="365760"/>
          </a:xfrm>
          <a:prstGeom prst="rect">
            <a:avLst/>
          </a:prstGeom>
          <a:noFill/>
          <a:ln/>
        </p:spPr>
        <p:txBody>
          <a:bodyPr wrap="square" lIns="0" tIns="0" rIns="0" bIns="0" rtlCol="0" anchor="t"/>
          <a:lstStyle/>
          <a:p>
            <a:pPr marL="0" indent="0" algn="ctr">
              <a:buNone/>
            </a:pPr>
            <a:r>
              <a:rPr lang="en-US" sz="1800" b="1" dirty="0">
                <a:solidFill>
                  <a:schemeClr val="bg1"/>
                </a:solidFill>
              </a:rPr>
              <a:t>Stage 2 · final image</a:t>
            </a:r>
            <a:endParaRPr lang="en-US" sz="1800" dirty="0"/>
          </a:p>
        </p:txBody>
      </p:sp>
      <p:sp>
        <p:nvSpPr>
          <p:cNvPr id="18" name="Text 16"/>
          <p:cNvSpPr txBox="1"/>
          <p:nvPr/>
        </p:nvSpPr>
        <p:spPr>
          <a:xfrm>
            <a:off x="7315200" y="3108960"/>
            <a:ext cx="4114800" cy="274320"/>
          </a:xfrm>
          <a:prstGeom prst="rect">
            <a:avLst/>
          </a:prstGeom>
          <a:noFill/>
          <a:ln/>
        </p:spPr>
        <p:txBody>
          <a:bodyPr wrap="square" lIns="0" tIns="0" rIns="0" bIns="0" rtlCol="0" anchor="t"/>
          <a:lstStyle/>
          <a:p>
            <a:pPr marL="0" indent="0" algn="ctr">
              <a:buNone/>
            </a:pPr>
            <a:r>
              <a:rPr lang="en-US" sz="1300" dirty="0">
                <a:solidFill>
                  <a:schemeClr val="bg2"/>
                </a:solidFill>
                <a:latin typeface="Consolas" pitchFamily="34" charset="0"/>
                <a:ea typeface="Consolas" pitchFamily="34" charset="-122"/>
                <a:cs typeface="Consolas" pitchFamily="34" charset="-120"/>
              </a:rPr>
              <a:t>FROM alpine</a:t>
            </a:r>
            <a:endParaRPr lang="en-US" sz="1300" dirty="0"/>
          </a:p>
        </p:txBody>
      </p:sp>
      <p:sp>
        <p:nvSpPr>
          <p:cNvPr id="19" name="Shape 17"/>
          <p:cNvSpPr/>
          <p:nvPr/>
        </p:nvSpPr>
        <p:spPr>
          <a:xfrm>
            <a:off x="7589520" y="3749040"/>
            <a:ext cx="3566160" cy="457200"/>
          </a:xfrm>
          <a:prstGeom prst="roundRect">
            <a:avLst>
              <a:gd name="adj" fmla="val 20000"/>
            </a:avLst>
          </a:prstGeom>
          <a:solidFill>
            <a:srgbClr val="2B3346"/>
          </a:solidFill>
          <a:ln w="12700">
            <a:solidFill>
              <a:srgbClr val="2B3346"/>
            </a:solidFill>
            <a:prstDash val="solid"/>
          </a:ln>
        </p:spPr>
      </p:sp>
      <p:sp>
        <p:nvSpPr>
          <p:cNvPr id="20" name="Text 18"/>
          <p:cNvSpPr txBox="1"/>
          <p:nvPr/>
        </p:nvSpPr>
        <p:spPr>
          <a:xfrm>
            <a:off x="7662672" y="3749040"/>
            <a:ext cx="3419856" cy="457200"/>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Tiny base OS</a:t>
            </a:r>
            <a:endParaRPr lang="en-US" sz="1400" dirty="0"/>
          </a:p>
        </p:txBody>
      </p:sp>
      <p:sp>
        <p:nvSpPr>
          <p:cNvPr id="21" name="Shape 19"/>
          <p:cNvSpPr/>
          <p:nvPr/>
        </p:nvSpPr>
        <p:spPr>
          <a:xfrm>
            <a:off x="7589520" y="4389120"/>
            <a:ext cx="3566160" cy="548640"/>
          </a:xfrm>
          <a:prstGeom prst="roundRect">
            <a:avLst>
              <a:gd name="adj" fmla="val 16667"/>
            </a:avLst>
          </a:prstGeom>
          <a:solidFill>
            <a:srgbClr val="0F3B3A"/>
          </a:solidFill>
          <a:ln w="12700">
            <a:solidFill>
              <a:schemeClr val="accent2"/>
            </a:solidFill>
            <a:prstDash val="solid"/>
          </a:ln>
        </p:spPr>
      </p:sp>
      <p:sp>
        <p:nvSpPr>
          <p:cNvPr id="22" name="Text 20"/>
          <p:cNvSpPr txBox="1"/>
          <p:nvPr/>
        </p:nvSpPr>
        <p:spPr>
          <a:xfrm>
            <a:off x="7662672" y="4389120"/>
            <a:ext cx="3419856" cy="548640"/>
          </a:xfrm>
          <a:prstGeom prst="rect">
            <a:avLst/>
          </a:prstGeom>
          <a:noFill/>
          <a:ln/>
        </p:spPr>
        <p:txBody>
          <a:bodyPr wrap="square" lIns="0" tIns="0" rIns="0" bIns="0" rtlCol="0" anchor="ctr"/>
          <a:lstStyle/>
          <a:p>
            <a:pPr marL="0" indent="0" algn="ctr">
              <a:spcAft>
                <a:spcPts val="200"/>
              </a:spcAft>
              <a:buNone/>
            </a:pPr>
            <a:r>
              <a:rPr lang="en-US" sz="1500" b="1" dirty="0">
                <a:solidFill>
                  <a:schemeClr val="accent2"/>
                </a:solidFill>
              </a:rPr>
              <a:t>app (finished program)</a:t>
            </a:r>
            <a:endParaRPr lang="en-US" sz="1500" dirty="0"/>
          </a:p>
        </p:txBody>
      </p:sp>
      <p:sp>
        <p:nvSpPr>
          <p:cNvPr id="23" name="Shape 21"/>
          <p:cNvSpPr/>
          <p:nvPr/>
        </p:nvSpPr>
        <p:spPr>
          <a:xfrm>
            <a:off x="4617720" y="4663440"/>
            <a:ext cx="2926080" cy="0"/>
          </a:xfrm>
          <a:prstGeom prst="line">
            <a:avLst/>
          </a:prstGeom>
          <a:noFill/>
          <a:ln w="25400">
            <a:solidFill>
              <a:schemeClr val="accent2"/>
            </a:solidFill>
            <a:prstDash val="solid"/>
            <a:tailEnd type="triangle"/>
          </a:ln>
        </p:spPr>
      </p:sp>
      <p:sp>
        <p:nvSpPr>
          <p:cNvPr id="24" name="Text 22"/>
          <p:cNvSpPr txBox="1"/>
          <p:nvPr/>
        </p:nvSpPr>
        <p:spPr>
          <a:xfrm>
            <a:off x="4937760" y="4206240"/>
            <a:ext cx="2286000" cy="320040"/>
          </a:xfrm>
          <a:prstGeom prst="rect">
            <a:avLst/>
          </a:prstGeom>
          <a:noFill/>
          <a:ln/>
        </p:spPr>
        <p:txBody>
          <a:bodyPr wrap="square" lIns="0" tIns="0" rIns="0" bIns="0" rtlCol="0" anchor="t"/>
          <a:lstStyle/>
          <a:p>
            <a:pPr marL="0" indent="0" algn="ctr">
              <a:buNone/>
            </a:pPr>
            <a:r>
              <a:rPr lang="en-US" sz="1300" dirty="0">
                <a:solidFill>
                  <a:schemeClr val="accent2"/>
                </a:solidFill>
                <a:latin typeface="Consolas" pitchFamily="34" charset="0"/>
                <a:ea typeface="Consolas" pitchFamily="34" charset="-122"/>
                <a:cs typeface="Consolas" pitchFamily="34" charset="-120"/>
              </a:rPr>
              <a:t>COPY --from=builder</a:t>
            </a:r>
            <a:endParaRPr lang="en-US" sz="1300" dirty="0"/>
          </a:p>
        </p:txBody>
      </p:sp>
      <p:sp>
        <p:nvSpPr>
          <p:cNvPr id="25" name="Text 23"/>
          <p:cNvSpPr txBox="1"/>
          <p:nvPr/>
        </p:nvSpPr>
        <p:spPr>
          <a:xfrm>
            <a:off x="731520" y="5257800"/>
            <a:ext cx="4114800" cy="640080"/>
          </a:xfrm>
          <a:prstGeom prst="rect">
            <a:avLst/>
          </a:prstGeom>
          <a:noFill/>
          <a:ln/>
        </p:spPr>
        <p:txBody>
          <a:bodyPr wrap="square" lIns="0" tIns="0" rIns="0" bIns="0" rtlCol="0" anchor="t"/>
          <a:lstStyle/>
          <a:p>
            <a:pPr marL="0" indent="0" algn="ctr">
              <a:buNone/>
            </a:pPr>
            <a:r>
              <a:rPr lang="en-US" sz="1500" b="1" dirty="0">
                <a:solidFill>
                  <a:schemeClr val="bg1"/>
                </a:solidFill>
              </a:rPr>
              <a:t>≈ 300 MB</a:t>
            </a:r>
            <a:endParaRPr lang="en-US" sz="1500" dirty="0"/>
          </a:p>
          <a:p>
            <a:pPr marL="0" indent="0" algn="ctr">
              <a:buNone/>
            </a:pPr>
            <a:r>
              <a:rPr lang="en-US" sz="1500" dirty="0">
                <a:solidFill>
                  <a:schemeClr val="bg2"/>
                </a:solidFill>
              </a:rPr>
              <a:t>thrown away after the build</a:t>
            </a:r>
            <a:endParaRPr lang="en-US" sz="1500" dirty="0"/>
          </a:p>
        </p:txBody>
      </p:sp>
      <p:sp>
        <p:nvSpPr>
          <p:cNvPr id="26" name="Text 24"/>
          <p:cNvSpPr txBox="1"/>
          <p:nvPr/>
        </p:nvSpPr>
        <p:spPr>
          <a:xfrm>
            <a:off x="7315200" y="5257800"/>
            <a:ext cx="4114800" cy="640080"/>
          </a:xfrm>
          <a:prstGeom prst="rect">
            <a:avLst/>
          </a:prstGeom>
          <a:noFill/>
          <a:ln/>
        </p:spPr>
        <p:txBody>
          <a:bodyPr wrap="square" lIns="0" tIns="0" rIns="0" bIns="0" rtlCol="0" anchor="t"/>
          <a:lstStyle/>
          <a:p>
            <a:pPr marL="0" indent="0" algn="ctr">
              <a:buNone/>
            </a:pPr>
            <a:r>
              <a:rPr lang="en-US" sz="1500" b="1" dirty="0">
                <a:solidFill>
                  <a:schemeClr val="accent2"/>
                </a:solidFill>
              </a:rPr>
              <a:t>≈ 15 MB</a:t>
            </a:r>
            <a:endParaRPr lang="en-US" sz="1500" dirty="0"/>
          </a:p>
          <a:p>
            <a:pPr marL="0" indent="0" algn="ctr">
              <a:buNone/>
            </a:pPr>
            <a:r>
              <a:rPr lang="en-US" sz="1500" dirty="0">
                <a:solidFill>
                  <a:schemeClr val="bg2"/>
                </a:solidFill>
              </a:rPr>
              <a:t>this is what ships</a:t>
            </a:r>
            <a:endParaRPr lang="en-US" sz="1500" dirty="0"/>
          </a:p>
        </p:txBody>
      </p:sp>
      <p:sp>
        <p:nvSpPr>
          <p:cNvPr id="27" name="Text 25"/>
          <p:cNvSpPr txBox="1"/>
          <p:nvPr/>
        </p:nvSpPr>
        <p:spPr>
          <a:xfrm>
            <a:off x="5852160" y="1691640"/>
            <a:ext cx="5577840" cy="685800"/>
          </a:xfrm>
          <a:prstGeom prst="rect">
            <a:avLst/>
          </a:prstGeom>
          <a:noFill/>
          <a:ln/>
        </p:spPr>
        <p:txBody>
          <a:bodyPr wrap="square" lIns="0" tIns="0" rIns="0" bIns="0" rtlCol="0" anchor="t"/>
          <a:lstStyle/>
          <a:p>
            <a:pPr marL="0" indent="0">
              <a:buNone/>
            </a:pPr>
            <a:r>
              <a:rPr lang="en-US" sz="1600" i="1" dirty="0">
                <a:solidFill>
                  <a:schemeClr val="bg2"/>
                </a:solidFill>
              </a:rPr>
              <a:t>Like a bakery: ovens and flour stay in the kitchen; only the cake goes in the box.</a:t>
            </a:r>
            <a:endParaRPr lang="en-US" sz="1600" dirty="0"/>
          </a:p>
        </p:txBody>
      </p:sp>
      <p:sp>
        <p:nvSpPr>
          <p:cNvPr id="28"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MULTI-STAGE BUILDS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The Dockerfile behind the picture</a:t>
            </a:r>
            <a:endParaRPr lang="en-US" sz="3000" dirty="0"/>
          </a:p>
        </p:txBody>
      </p:sp>
      <p:sp>
        <p:nvSpPr>
          <p:cNvPr id="4" name="Shape 2"/>
          <p:cNvSpPr/>
          <p:nvPr/>
        </p:nvSpPr>
        <p:spPr>
          <a:xfrm>
            <a:off x="731520" y="1463040"/>
            <a:ext cx="6309360" cy="3657600"/>
          </a:xfrm>
          <a:prstGeom prst="roundRect">
            <a:avLst>
              <a:gd name="adj" fmla="val 2000"/>
            </a:avLst>
          </a:prstGeom>
          <a:solidFill>
            <a:srgbClr val="070D1A"/>
          </a:solidFill>
          <a:ln w="12700">
            <a:solidFill>
              <a:srgbClr val="23314F"/>
            </a:solidFill>
            <a:prstDash val="solid"/>
          </a:ln>
        </p:spPr>
      </p:sp>
      <p:sp>
        <p:nvSpPr>
          <p:cNvPr id="5" name="Shape 3"/>
          <p:cNvSpPr/>
          <p:nvPr/>
        </p:nvSpPr>
        <p:spPr>
          <a:xfrm>
            <a:off x="914400" y="1609344"/>
            <a:ext cx="100584" cy="100584"/>
          </a:xfrm>
          <a:prstGeom prst="ellipse">
            <a:avLst/>
          </a:prstGeom>
          <a:solidFill>
            <a:srgbClr val="FF5F57"/>
          </a:solidFill>
          <a:ln w="12700">
            <a:solidFill>
              <a:srgbClr val="FF5F57"/>
            </a:solidFill>
            <a:prstDash val="solid"/>
          </a:ln>
        </p:spPr>
      </p:sp>
      <p:sp>
        <p:nvSpPr>
          <p:cNvPr id="6" name="Shape 4"/>
          <p:cNvSpPr/>
          <p:nvPr/>
        </p:nvSpPr>
        <p:spPr>
          <a:xfrm>
            <a:off x="1097280" y="1609344"/>
            <a:ext cx="100584" cy="100584"/>
          </a:xfrm>
          <a:prstGeom prst="ellipse">
            <a:avLst/>
          </a:prstGeom>
          <a:solidFill>
            <a:srgbClr val="FEBC2E"/>
          </a:solidFill>
          <a:ln w="12700">
            <a:solidFill>
              <a:srgbClr val="FEBC2E"/>
            </a:solidFill>
            <a:prstDash val="solid"/>
          </a:ln>
        </p:spPr>
      </p:sp>
      <p:sp>
        <p:nvSpPr>
          <p:cNvPr id="7" name="Shape 5"/>
          <p:cNvSpPr/>
          <p:nvPr/>
        </p:nvSpPr>
        <p:spPr>
          <a:xfrm>
            <a:off x="1280160" y="1609344"/>
            <a:ext cx="100584" cy="100584"/>
          </a:xfrm>
          <a:prstGeom prst="ellipse">
            <a:avLst/>
          </a:prstGeom>
          <a:solidFill>
            <a:srgbClr val="28C840"/>
          </a:solidFill>
          <a:ln w="12700">
            <a:solidFill>
              <a:srgbClr val="28C840"/>
            </a:solidFill>
            <a:prstDash val="solid"/>
          </a:ln>
        </p:spPr>
      </p:sp>
      <p:sp>
        <p:nvSpPr>
          <p:cNvPr id="8" name="Text 6"/>
          <p:cNvSpPr txBox="1"/>
          <p:nvPr/>
        </p:nvSpPr>
        <p:spPr>
          <a:xfrm>
            <a:off x="1508760" y="1536192"/>
            <a:ext cx="5394960" cy="256032"/>
          </a:xfrm>
          <a:prstGeom prst="rect">
            <a:avLst/>
          </a:prstGeom>
          <a:noFill/>
          <a:ln/>
        </p:spPr>
        <p:txBody>
          <a:bodyPr wrap="square" lIns="0" tIns="0" rIns="0" bIns="0" rtlCol="0" anchor="ctr"/>
          <a:lstStyle/>
          <a:p>
            <a:pPr marL="0" indent="0">
              <a:buNone/>
            </a:pPr>
            <a:r>
              <a:rPr lang="en-US" sz="1100" dirty="0">
                <a:solidFill>
                  <a:srgbClr val="7D8BA6"/>
                </a:solidFill>
                <a:latin typeface="Consolas" pitchFamily="34" charset="0"/>
                <a:ea typeface="Consolas" pitchFamily="34" charset="-122"/>
                <a:cs typeface="Consolas" pitchFamily="34" charset="-120"/>
              </a:rPr>
              <a:t>Dockerfile</a:t>
            </a:r>
            <a:endParaRPr lang="en-US" sz="1100" dirty="0"/>
          </a:p>
        </p:txBody>
      </p:sp>
      <p:sp>
        <p:nvSpPr>
          <p:cNvPr id="9" name="Text 7"/>
          <p:cNvSpPr txBox="1"/>
          <p:nvPr/>
        </p:nvSpPr>
        <p:spPr>
          <a:xfrm>
            <a:off x="960120" y="1883664"/>
            <a:ext cx="5943600" cy="3145536"/>
          </a:xfrm>
          <a:prstGeom prst="rect">
            <a:avLst/>
          </a:prstGeom>
          <a:noFill/>
          <a:ln/>
        </p:spPr>
        <p:txBody>
          <a:bodyPr wrap="square" lIns="0" tIns="0" rIns="0" bIns="0" rtlCol="0" anchor="t"/>
          <a:lstStyle/>
          <a:p>
            <a:pPr marL="0" indent="0">
              <a:lnSpc>
                <a:spcPct val="112000"/>
              </a:lnSpc>
              <a:buNone/>
            </a:pPr>
            <a:r>
              <a:rPr lang="en-US" sz="1400" dirty="0">
                <a:solidFill>
                  <a:srgbClr val="7D8BA6"/>
                </a:solidFill>
                <a:latin typeface="Consolas" pitchFamily="34" charset="0"/>
                <a:ea typeface="Consolas" pitchFamily="34" charset="-122"/>
                <a:cs typeface="Consolas" pitchFamily="34" charset="-120"/>
              </a:rPr>
              <a:t># Stage 1: builder (has the compiler)</a:t>
            </a:r>
            <a:endParaRPr lang="en-US" sz="1400" dirty="0"/>
          </a:p>
          <a:p>
            <a:pPr marL="0" indent="0">
              <a:lnSpc>
                <a:spcPct val="112000"/>
              </a:lnSpc>
              <a:buNone/>
            </a:pPr>
            <a:r>
              <a:rPr lang="en-US" sz="1400" b="1" dirty="0">
                <a:solidFill>
                  <a:srgbClr val="79C0FF"/>
                </a:solidFill>
                <a:latin typeface="Consolas" pitchFamily="34" charset="0"/>
                <a:ea typeface="Consolas" pitchFamily="34" charset="-122"/>
                <a:cs typeface="Consolas" pitchFamily="34" charset="-120"/>
              </a:rPr>
              <a:t>FROM</a:t>
            </a:r>
            <a:r>
              <a:rPr lang="en-US" sz="1400" dirty="0">
                <a:solidFill>
                  <a:srgbClr val="E6EDF3"/>
                </a:solidFill>
                <a:latin typeface="Consolas" pitchFamily="34" charset="0"/>
                <a:ea typeface="Consolas" pitchFamily="34" charset="-122"/>
                <a:cs typeface="Consolas" pitchFamily="34" charset="-120"/>
              </a:rPr>
              <a:t> golang:1.23-alpine AS builder</a:t>
            </a:r>
            <a:endParaRPr lang="en-US" sz="1400" dirty="0"/>
          </a:p>
          <a:p>
            <a:pPr marL="0" indent="0">
              <a:lnSpc>
                <a:spcPct val="112000"/>
              </a:lnSpc>
              <a:buNone/>
            </a:pPr>
            <a:r>
              <a:rPr lang="en-US" sz="1400" b="1" dirty="0">
                <a:solidFill>
                  <a:srgbClr val="79C0FF"/>
                </a:solidFill>
                <a:latin typeface="Consolas" pitchFamily="34" charset="0"/>
                <a:ea typeface="Consolas" pitchFamily="34" charset="-122"/>
                <a:cs typeface="Consolas" pitchFamily="34" charset="-120"/>
              </a:rPr>
              <a:t>WORKDIR</a:t>
            </a:r>
            <a:r>
              <a:rPr lang="en-US" sz="1400" dirty="0">
                <a:solidFill>
                  <a:srgbClr val="E6EDF3"/>
                </a:solidFill>
                <a:latin typeface="Consolas" pitchFamily="34" charset="0"/>
                <a:ea typeface="Consolas" pitchFamily="34" charset="-122"/>
                <a:cs typeface="Consolas" pitchFamily="34" charset="-120"/>
              </a:rPr>
              <a:t> /src</a:t>
            </a:r>
            <a:endParaRPr lang="en-US" sz="1400" dirty="0"/>
          </a:p>
          <a:p>
            <a:pPr marL="0" indent="0">
              <a:lnSpc>
                <a:spcPct val="112000"/>
              </a:lnSpc>
              <a:buNone/>
            </a:pPr>
            <a:r>
              <a:rPr lang="en-US" sz="1400" b="1" dirty="0">
                <a:solidFill>
                  <a:srgbClr val="79C0FF"/>
                </a:solidFill>
                <a:latin typeface="Consolas" pitchFamily="34" charset="0"/>
                <a:ea typeface="Consolas" pitchFamily="34" charset="-122"/>
                <a:cs typeface="Consolas" pitchFamily="34" charset="-120"/>
              </a:rPr>
              <a:t>COPY</a:t>
            </a:r>
            <a:r>
              <a:rPr lang="en-US" sz="1400" dirty="0">
                <a:solidFill>
                  <a:srgbClr val="E6EDF3"/>
                </a:solidFill>
                <a:latin typeface="Consolas" pitchFamily="34" charset="0"/>
                <a:ea typeface="Consolas" pitchFamily="34" charset="-122"/>
                <a:cs typeface="Consolas" pitchFamily="34" charset="-120"/>
              </a:rPr>
              <a:t> . .</a:t>
            </a:r>
            <a:endParaRPr lang="en-US" sz="1400" dirty="0"/>
          </a:p>
          <a:p>
            <a:pPr marL="0" indent="0">
              <a:lnSpc>
                <a:spcPct val="112000"/>
              </a:lnSpc>
              <a:buNone/>
            </a:pPr>
            <a:r>
              <a:rPr lang="en-US" sz="1400" b="1" dirty="0">
                <a:solidFill>
                  <a:srgbClr val="79C0FF"/>
                </a:solidFill>
                <a:latin typeface="Consolas" pitchFamily="34" charset="0"/>
                <a:ea typeface="Consolas" pitchFamily="34" charset="-122"/>
                <a:cs typeface="Consolas" pitchFamily="34" charset="-120"/>
              </a:rPr>
              <a:t>RUN</a:t>
            </a:r>
            <a:r>
              <a:rPr lang="en-US" sz="1400" dirty="0">
                <a:solidFill>
                  <a:srgbClr val="E6EDF3"/>
                </a:solidFill>
                <a:latin typeface="Consolas" pitchFamily="34" charset="0"/>
                <a:ea typeface="Consolas" pitchFamily="34" charset="-122"/>
                <a:cs typeface="Consolas" pitchFamily="34" charset="-120"/>
              </a:rPr>
              <a:t> go build -o /out/server .</a:t>
            </a:r>
            <a:endParaRPr lang="en-US" sz="1400" dirty="0"/>
          </a:p>
          <a:p>
            <a:pPr marL="0" indent="0">
              <a:lnSpc>
                <a:spcPct val="112000"/>
              </a:lnSpc>
              <a:buNone/>
            </a:pPr>
            <a:r>
              <a:rPr lang="en-US" sz="1400" dirty="0">
                <a:solidFill>
                  <a:srgbClr val="000000"/>
                </a:solidFill>
                <a:latin typeface="Consolas" pitchFamily="34" charset="0"/>
                <a:ea typeface="Consolas" pitchFamily="34" charset="-122"/>
                <a:cs typeface="Consolas" pitchFamily="34" charset="-120"/>
              </a:rPr>
              <a:t> </a:t>
            </a:r>
            <a:endParaRPr lang="en-US" sz="1400" dirty="0"/>
          </a:p>
          <a:p>
            <a:pPr marL="0" indent="0">
              <a:lnSpc>
                <a:spcPct val="112000"/>
              </a:lnSpc>
              <a:buNone/>
            </a:pPr>
            <a:r>
              <a:rPr lang="en-US" sz="1400" dirty="0">
                <a:solidFill>
                  <a:srgbClr val="7D8BA6"/>
                </a:solidFill>
                <a:latin typeface="Consolas" pitchFamily="34" charset="0"/>
                <a:ea typeface="Consolas" pitchFamily="34" charset="-122"/>
                <a:cs typeface="Consolas" pitchFamily="34" charset="-120"/>
              </a:rPr>
              <a:t># Stage 2: final image (only the result)</a:t>
            </a:r>
            <a:endParaRPr lang="en-US" sz="1400" dirty="0"/>
          </a:p>
          <a:p>
            <a:pPr marL="0" indent="0">
              <a:lnSpc>
                <a:spcPct val="112000"/>
              </a:lnSpc>
              <a:buNone/>
            </a:pPr>
            <a:r>
              <a:rPr lang="en-US" sz="1400" b="1" dirty="0">
                <a:solidFill>
                  <a:srgbClr val="79C0FF"/>
                </a:solidFill>
                <a:latin typeface="Consolas" pitchFamily="34" charset="0"/>
                <a:ea typeface="Consolas" pitchFamily="34" charset="-122"/>
                <a:cs typeface="Consolas" pitchFamily="34" charset="-120"/>
              </a:rPr>
              <a:t>FROM</a:t>
            </a:r>
            <a:r>
              <a:rPr lang="en-US" sz="1400" dirty="0">
                <a:solidFill>
                  <a:srgbClr val="E6EDF3"/>
                </a:solidFill>
                <a:latin typeface="Consolas" pitchFamily="34" charset="0"/>
                <a:ea typeface="Consolas" pitchFamily="34" charset="-122"/>
                <a:cs typeface="Consolas" pitchFamily="34" charset="-120"/>
              </a:rPr>
              <a:t> alpine:3.20</a:t>
            </a:r>
            <a:endParaRPr lang="en-US" sz="1400" dirty="0"/>
          </a:p>
          <a:p>
            <a:pPr marL="0" indent="0">
              <a:lnSpc>
                <a:spcPct val="112000"/>
              </a:lnSpc>
              <a:buNone/>
            </a:pPr>
            <a:r>
              <a:rPr lang="en-US" sz="1400" b="1" dirty="0">
                <a:solidFill>
                  <a:srgbClr val="79C0FF"/>
                </a:solidFill>
                <a:latin typeface="Consolas" pitchFamily="34" charset="0"/>
                <a:ea typeface="Consolas" pitchFamily="34" charset="-122"/>
                <a:cs typeface="Consolas" pitchFamily="34" charset="-120"/>
              </a:rPr>
              <a:t>COPY</a:t>
            </a:r>
            <a:r>
              <a:rPr lang="en-US" sz="1400" dirty="0">
                <a:solidFill>
                  <a:srgbClr val="E6EDF3"/>
                </a:solidFill>
                <a:latin typeface="Consolas" pitchFamily="34" charset="0"/>
                <a:ea typeface="Consolas" pitchFamily="34" charset="-122"/>
                <a:cs typeface="Consolas" pitchFamily="34" charset="-120"/>
              </a:rPr>
              <a:t> --from=builder /out/server /app/server</a:t>
            </a:r>
            <a:endParaRPr lang="en-US" sz="1400" dirty="0"/>
          </a:p>
          <a:p>
            <a:pPr marL="0" indent="0">
              <a:lnSpc>
                <a:spcPct val="112000"/>
              </a:lnSpc>
              <a:buNone/>
            </a:pPr>
            <a:r>
              <a:rPr lang="en-US" sz="1400" b="1" dirty="0">
                <a:solidFill>
                  <a:srgbClr val="79C0FF"/>
                </a:solidFill>
                <a:latin typeface="Consolas" pitchFamily="34" charset="0"/>
                <a:ea typeface="Consolas" pitchFamily="34" charset="-122"/>
                <a:cs typeface="Consolas" pitchFamily="34" charset="-120"/>
              </a:rPr>
              <a:t>CMD</a:t>
            </a:r>
            <a:r>
              <a:rPr lang="en-US" sz="1400" dirty="0">
                <a:solidFill>
                  <a:srgbClr val="E6EDF3"/>
                </a:solidFill>
                <a:latin typeface="Consolas" pitchFamily="34" charset="0"/>
                <a:ea typeface="Consolas" pitchFamily="34" charset="-122"/>
                <a:cs typeface="Consolas" pitchFamily="34" charset="-120"/>
              </a:rPr>
              <a:t> ["/app/server"]</a:t>
            </a:r>
            <a:endParaRPr lang="en-US" sz="1400" dirty="0"/>
          </a:p>
        </p:txBody>
      </p:sp>
      <p:sp>
        <p:nvSpPr>
          <p:cNvPr id="10" name="Shape 8"/>
          <p:cNvSpPr/>
          <p:nvPr/>
        </p:nvSpPr>
        <p:spPr>
          <a:xfrm>
            <a:off x="731520" y="5303520"/>
            <a:ext cx="6309360" cy="868680"/>
          </a:xfrm>
          <a:prstGeom prst="roundRect">
            <a:avLst>
              <a:gd name="adj" fmla="val 8421"/>
            </a:avLst>
          </a:prstGeom>
          <a:solidFill>
            <a:srgbClr val="070D1A"/>
          </a:solidFill>
          <a:ln w="12700">
            <a:solidFill>
              <a:srgbClr val="23314F"/>
            </a:solidFill>
            <a:prstDash val="solid"/>
          </a:ln>
        </p:spPr>
      </p:sp>
      <p:sp>
        <p:nvSpPr>
          <p:cNvPr id="11" name="Shape 9"/>
          <p:cNvSpPr/>
          <p:nvPr/>
        </p:nvSpPr>
        <p:spPr>
          <a:xfrm>
            <a:off x="914400" y="5449824"/>
            <a:ext cx="100584" cy="100584"/>
          </a:xfrm>
          <a:prstGeom prst="ellipse">
            <a:avLst/>
          </a:prstGeom>
          <a:solidFill>
            <a:srgbClr val="FF5F57"/>
          </a:solidFill>
          <a:ln w="12700">
            <a:solidFill>
              <a:srgbClr val="FF5F57"/>
            </a:solidFill>
            <a:prstDash val="solid"/>
          </a:ln>
        </p:spPr>
      </p:sp>
      <p:sp>
        <p:nvSpPr>
          <p:cNvPr id="12" name="Shape 10"/>
          <p:cNvSpPr/>
          <p:nvPr/>
        </p:nvSpPr>
        <p:spPr>
          <a:xfrm>
            <a:off x="1097280" y="5449824"/>
            <a:ext cx="100584" cy="100584"/>
          </a:xfrm>
          <a:prstGeom prst="ellipse">
            <a:avLst/>
          </a:prstGeom>
          <a:solidFill>
            <a:srgbClr val="FEBC2E"/>
          </a:solidFill>
          <a:ln w="12700">
            <a:solidFill>
              <a:srgbClr val="FEBC2E"/>
            </a:solidFill>
            <a:prstDash val="solid"/>
          </a:ln>
        </p:spPr>
      </p:sp>
      <p:sp>
        <p:nvSpPr>
          <p:cNvPr id="13" name="Shape 11"/>
          <p:cNvSpPr/>
          <p:nvPr/>
        </p:nvSpPr>
        <p:spPr>
          <a:xfrm>
            <a:off x="1280160" y="5449824"/>
            <a:ext cx="100584" cy="100584"/>
          </a:xfrm>
          <a:prstGeom prst="ellipse">
            <a:avLst/>
          </a:prstGeom>
          <a:solidFill>
            <a:srgbClr val="28C840"/>
          </a:solidFill>
          <a:ln w="12700">
            <a:solidFill>
              <a:srgbClr val="28C840"/>
            </a:solidFill>
            <a:prstDash val="solid"/>
          </a:ln>
        </p:spPr>
      </p:sp>
      <p:sp>
        <p:nvSpPr>
          <p:cNvPr id="14" name="Text 12"/>
          <p:cNvSpPr txBox="1"/>
          <p:nvPr/>
        </p:nvSpPr>
        <p:spPr>
          <a:xfrm>
            <a:off x="960120" y="5724144"/>
            <a:ext cx="5943600" cy="356616"/>
          </a:xfrm>
          <a:prstGeom prst="rect">
            <a:avLst/>
          </a:prstGeom>
          <a:noFill/>
          <a:ln/>
        </p:spPr>
        <p:txBody>
          <a:bodyPr wrap="square" lIns="0" tIns="0" rIns="0" bIns="0" rtlCol="0" anchor="t"/>
          <a:lstStyle/>
          <a:p>
            <a:pPr marL="0" indent="0">
              <a:lnSpc>
                <a:spcPct val="112000"/>
              </a:lnSpc>
              <a:buNone/>
            </a:pPr>
            <a:r>
              <a:rPr lang="en-US" sz="1400" dirty="0">
                <a:solidFill>
                  <a:srgbClr val="14C8B0"/>
                </a:solidFill>
                <a:latin typeface="Consolas" pitchFamily="34" charset="0"/>
                <a:ea typeface="Consolas" pitchFamily="34" charset="-122"/>
                <a:cs typeface="Consolas" pitchFamily="34" charset="-120"/>
              </a:rPr>
              <a:t>$ </a:t>
            </a:r>
            <a:r>
              <a:rPr lang="en-US" sz="1400" dirty="0">
                <a:solidFill>
                  <a:srgbClr val="E6EDF3"/>
                </a:solidFill>
                <a:latin typeface="Consolas" pitchFamily="34" charset="0"/>
                <a:ea typeface="Consolas" pitchFamily="34" charset="-122"/>
                <a:cs typeface="Consolas" pitchFamily="34" charset="-120"/>
              </a:rPr>
              <a:t>docker build -t go-api .</a:t>
            </a:r>
            <a:r>
              <a:rPr lang="en-US" sz="1400" dirty="0">
                <a:solidFill>
                  <a:srgbClr val="7D8BA6"/>
                </a:solidFill>
                <a:latin typeface="Consolas" pitchFamily="34" charset="0"/>
                <a:ea typeface="Consolas" pitchFamily="34" charset="-122"/>
                <a:cs typeface="Consolas" pitchFamily="34" charset="-120"/>
              </a:rPr>
              <a:t>  </a:t>
            </a:r>
            <a:endParaRPr lang="en-US" sz="1400" dirty="0"/>
          </a:p>
        </p:txBody>
      </p:sp>
      <p:sp>
        <p:nvSpPr>
          <p:cNvPr id="15" name="Text 13"/>
          <p:cNvSpPr txBox="1"/>
          <p:nvPr/>
        </p:nvSpPr>
        <p:spPr>
          <a:xfrm>
            <a:off x="7406640" y="1508760"/>
            <a:ext cx="406908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AS BUILDER</a:t>
            </a:r>
            <a:endParaRPr lang="en-US" sz="1100" dirty="0"/>
          </a:p>
        </p:txBody>
      </p:sp>
      <p:sp>
        <p:nvSpPr>
          <p:cNvPr id="16" name="Text 14"/>
          <p:cNvSpPr txBox="1"/>
          <p:nvPr/>
        </p:nvSpPr>
        <p:spPr>
          <a:xfrm>
            <a:off x="7406640" y="1764792"/>
            <a:ext cx="4069080" cy="539496"/>
          </a:xfrm>
          <a:prstGeom prst="rect">
            <a:avLst/>
          </a:prstGeom>
          <a:noFill/>
          <a:ln/>
        </p:spPr>
        <p:txBody>
          <a:bodyPr wrap="square" lIns="0" tIns="0" rIns="0" bIns="0" rtlCol="0" anchor="t"/>
          <a:lstStyle/>
          <a:p>
            <a:pPr marL="0" indent="0">
              <a:buNone/>
            </a:pPr>
            <a:r>
              <a:rPr lang="en-US" sz="1400" dirty="0">
                <a:solidFill>
                  <a:schemeClr val="bg1"/>
                </a:solidFill>
              </a:rPr>
              <a:t>Gives the first stage a name you can refer to later.</a:t>
            </a:r>
            <a:endParaRPr lang="en-US" sz="1400" dirty="0"/>
          </a:p>
        </p:txBody>
      </p:sp>
      <p:sp>
        <p:nvSpPr>
          <p:cNvPr id="17" name="Text 15"/>
          <p:cNvSpPr txBox="1"/>
          <p:nvPr/>
        </p:nvSpPr>
        <p:spPr>
          <a:xfrm>
            <a:off x="7406640" y="2468880"/>
            <a:ext cx="406908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COPY --FROM=BUILDER</a:t>
            </a:r>
            <a:endParaRPr lang="en-US" sz="1100" dirty="0"/>
          </a:p>
        </p:txBody>
      </p:sp>
      <p:sp>
        <p:nvSpPr>
          <p:cNvPr id="18" name="Text 16"/>
          <p:cNvSpPr txBox="1"/>
          <p:nvPr/>
        </p:nvSpPr>
        <p:spPr>
          <a:xfrm>
            <a:off x="7406640" y="2724912"/>
            <a:ext cx="4069080" cy="539496"/>
          </a:xfrm>
          <a:prstGeom prst="rect">
            <a:avLst/>
          </a:prstGeom>
          <a:noFill/>
          <a:ln/>
        </p:spPr>
        <p:txBody>
          <a:bodyPr wrap="square" lIns="0" tIns="0" rIns="0" bIns="0" rtlCol="0" anchor="t"/>
          <a:lstStyle/>
          <a:p>
            <a:pPr marL="0" indent="0">
              <a:buNone/>
            </a:pPr>
            <a:r>
              <a:rPr lang="en-US" sz="1400" dirty="0">
                <a:solidFill>
                  <a:schemeClr val="bg1"/>
                </a:solidFill>
              </a:rPr>
              <a:t>Reaches into that stage and copies only the file you name.</a:t>
            </a:r>
            <a:endParaRPr lang="en-US" sz="1400" dirty="0"/>
          </a:p>
        </p:txBody>
      </p:sp>
      <p:sp>
        <p:nvSpPr>
          <p:cNvPr id="19" name="Text 17"/>
          <p:cNvSpPr txBox="1"/>
          <p:nvPr/>
        </p:nvSpPr>
        <p:spPr>
          <a:xfrm>
            <a:off x="7406640" y="3429000"/>
            <a:ext cx="406908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OBSERVE</a:t>
            </a:r>
            <a:endParaRPr lang="en-US" sz="1100" dirty="0"/>
          </a:p>
        </p:txBody>
      </p:sp>
      <p:sp>
        <p:nvSpPr>
          <p:cNvPr id="20" name="Text 18"/>
          <p:cNvSpPr txBox="1"/>
          <p:nvPr/>
        </p:nvSpPr>
        <p:spPr>
          <a:xfrm>
            <a:off x="7406640" y="3685032"/>
            <a:ext cx="4069080" cy="539496"/>
          </a:xfrm>
          <a:prstGeom prst="rect">
            <a:avLst/>
          </a:prstGeom>
          <a:noFill/>
          <a:ln/>
        </p:spPr>
        <p:txBody>
          <a:bodyPr wrap="square" lIns="0" tIns="0" rIns="0" bIns="0" rtlCol="0" anchor="t"/>
          <a:lstStyle/>
          <a:p>
            <a:pPr marL="0" indent="0">
              <a:buNone/>
            </a:pPr>
            <a:r>
              <a:rPr lang="en-US" sz="1400" dirty="0">
                <a:solidFill>
                  <a:schemeClr val="bg1"/>
                </a:solidFill>
              </a:rPr>
              <a:t>docker images: go-api is a small fraction of the golang image.</a:t>
            </a:r>
            <a:endParaRPr lang="en-US" sz="1400" dirty="0"/>
          </a:p>
        </p:txBody>
      </p:sp>
      <p:sp>
        <p:nvSpPr>
          <p:cNvPr id="21" name="Text 19"/>
          <p:cNvSpPr txBox="1"/>
          <p:nvPr/>
        </p:nvSpPr>
        <p:spPr>
          <a:xfrm>
            <a:off x="7406640" y="4389120"/>
            <a:ext cx="406908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WHY</a:t>
            </a:r>
            <a:endParaRPr lang="en-US" sz="1100" dirty="0"/>
          </a:p>
        </p:txBody>
      </p:sp>
      <p:sp>
        <p:nvSpPr>
          <p:cNvPr id="22" name="Text 20"/>
          <p:cNvSpPr txBox="1"/>
          <p:nvPr/>
        </p:nvSpPr>
        <p:spPr>
          <a:xfrm>
            <a:off x="7406640" y="4645152"/>
            <a:ext cx="4069080" cy="539496"/>
          </a:xfrm>
          <a:prstGeom prst="rect">
            <a:avLst/>
          </a:prstGeom>
          <a:noFill/>
          <a:ln/>
        </p:spPr>
        <p:txBody>
          <a:bodyPr wrap="square" lIns="0" tIns="0" rIns="0" bIns="0" rtlCol="0" anchor="t"/>
          <a:lstStyle/>
          <a:p>
            <a:pPr marL="0" indent="0">
              <a:buNone/>
            </a:pPr>
            <a:r>
              <a:rPr lang="en-US" sz="1400" dirty="0">
                <a:solidFill>
                  <a:schemeClr val="bg1"/>
                </a:solidFill>
              </a:rPr>
              <a:t>Smaller, faster to pull, and no compiler for an attacker to use.</a:t>
            </a:r>
            <a:endParaRPr lang="en-US" sz="14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KEY TAKEAWAYS</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If you remember only five things</a:t>
            </a:r>
            <a:endParaRPr lang="en-US" sz="3000" dirty="0"/>
          </a:p>
        </p:txBody>
      </p:sp>
      <p:sp>
        <p:nvSpPr>
          <p:cNvPr id="4" name="Text 2"/>
          <p:cNvSpPr txBox="1"/>
          <p:nvPr/>
        </p:nvSpPr>
        <p:spPr>
          <a:xfrm>
            <a:off x="731520" y="1600200"/>
            <a:ext cx="548640" cy="731520"/>
          </a:xfrm>
          <a:prstGeom prst="rect">
            <a:avLst/>
          </a:prstGeom>
          <a:noFill/>
          <a:ln/>
        </p:spPr>
        <p:txBody>
          <a:bodyPr wrap="square" lIns="0" tIns="0" rIns="0" bIns="0" rtlCol="0" anchor="ctr"/>
          <a:lstStyle/>
          <a:p>
            <a:pPr marL="0" indent="0">
              <a:buNone/>
            </a:pPr>
            <a:r>
              <a:rPr lang="en-US" sz="3200" b="1" dirty="0">
                <a:solidFill>
                  <a:schemeClr val="accent1"/>
                </a:solidFill>
              </a:rPr>
              <a:t>1</a:t>
            </a:r>
            <a:endParaRPr lang="en-US" sz="3200" dirty="0"/>
          </a:p>
        </p:txBody>
      </p:sp>
      <p:sp>
        <p:nvSpPr>
          <p:cNvPr id="5" name="Text 3"/>
          <p:cNvSpPr txBox="1"/>
          <p:nvPr/>
        </p:nvSpPr>
        <p:spPr>
          <a:xfrm>
            <a:off x="1417320" y="1618488"/>
            <a:ext cx="9966960" cy="384048"/>
          </a:xfrm>
          <a:prstGeom prst="rect">
            <a:avLst/>
          </a:prstGeom>
          <a:noFill/>
          <a:ln/>
        </p:spPr>
        <p:txBody>
          <a:bodyPr wrap="square" lIns="0" tIns="0" rIns="0" bIns="0" rtlCol="0" anchor="t"/>
          <a:lstStyle/>
          <a:p>
            <a:pPr marL="0" indent="0">
              <a:buNone/>
            </a:pPr>
            <a:r>
              <a:rPr lang="en-US" sz="2000" b="1" dirty="0">
                <a:solidFill>
                  <a:schemeClr val="bg1"/>
                </a:solidFill>
              </a:rPr>
              <a:t>Containers ship the environment with the code.</a:t>
            </a:r>
            <a:endParaRPr lang="en-US" sz="2000" dirty="0"/>
          </a:p>
        </p:txBody>
      </p:sp>
      <p:sp>
        <p:nvSpPr>
          <p:cNvPr id="6" name="Text 4"/>
          <p:cNvSpPr txBox="1"/>
          <p:nvPr/>
        </p:nvSpPr>
        <p:spPr>
          <a:xfrm>
            <a:off x="1417320" y="2002536"/>
            <a:ext cx="9966960" cy="320040"/>
          </a:xfrm>
          <a:prstGeom prst="rect">
            <a:avLst/>
          </a:prstGeom>
          <a:noFill/>
          <a:ln/>
        </p:spPr>
        <p:txBody>
          <a:bodyPr wrap="square" lIns="0" tIns="0" rIns="0" bIns="0" rtlCol="0" anchor="t"/>
          <a:lstStyle/>
          <a:p>
            <a:pPr marL="0" indent="0">
              <a:buNone/>
            </a:pPr>
            <a:r>
              <a:rPr lang="en-US" sz="1500" dirty="0">
                <a:solidFill>
                  <a:schemeClr val="bg2"/>
                </a:solidFill>
              </a:rPr>
              <a:t>That ends “it works on my machine”.</a:t>
            </a:r>
            <a:endParaRPr lang="en-US" sz="1500" dirty="0"/>
          </a:p>
        </p:txBody>
      </p:sp>
      <p:sp>
        <p:nvSpPr>
          <p:cNvPr id="7" name="Text 5"/>
          <p:cNvSpPr txBox="1"/>
          <p:nvPr/>
        </p:nvSpPr>
        <p:spPr>
          <a:xfrm>
            <a:off x="731520" y="2496312"/>
            <a:ext cx="548640" cy="731520"/>
          </a:xfrm>
          <a:prstGeom prst="rect">
            <a:avLst/>
          </a:prstGeom>
          <a:noFill/>
          <a:ln/>
        </p:spPr>
        <p:txBody>
          <a:bodyPr wrap="square" lIns="0" tIns="0" rIns="0" bIns="0" rtlCol="0" anchor="ctr"/>
          <a:lstStyle/>
          <a:p>
            <a:pPr marL="0" indent="0">
              <a:buNone/>
            </a:pPr>
            <a:r>
              <a:rPr lang="en-US" sz="3200" b="1" dirty="0">
                <a:solidFill>
                  <a:schemeClr val="accent2"/>
                </a:solidFill>
              </a:rPr>
              <a:t>2</a:t>
            </a:r>
            <a:endParaRPr lang="en-US" sz="3200" dirty="0"/>
          </a:p>
        </p:txBody>
      </p:sp>
      <p:sp>
        <p:nvSpPr>
          <p:cNvPr id="8" name="Text 6"/>
          <p:cNvSpPr txBox="1"/>
          <p:nvPr/>
        </p:nvSpPr>
        <p:spPr>
          <a:xfrm>
            <a:off x="1417320" y="2514600"/>
            <a:ext cx="9966960" cy="384048"/>
          </a:xfrm>
          <a:prstGeom prst="rect">
            <a:avLst/>
          </a:prstGeom>
          <a:noFill/>
          <a:ln/>
        </p:spPr>
        <p:txBody>
          <a:bodyPr wrap="square" lIns="0" tIns="0" rIns="0" bIns="0" rtlCol="0" anchor="t"/>
          <a:lstStyle/>
          <a:p>
            <a:pPr marL="0" indent="0">
              <a:buNone/>
            </a:pPr>
            <a:r>
              <a:rPr lang="en-US" sz="2000" b="1" dirty="0">
                <a:solidFill>
                  <a:schemeClr val="bg1"/>
                </a:solidFill>
              </a:rPr>
              <a:t>Containers share the host kernel; VMs don’t.</a:t>
            </a:r>
            <a:endParaRPr lang="en-US" sz="2000" dirty="0"/>
          </a:p>
        </p:txBody>
      </p:sp>
      <p:sp>
        <p:nvSpPr>
          <p:cNvPr id="9" name="Text 7"/>
          <p:cNvSpPr txBox="1"/>
          <p:nvPr/>
        </p:nvSpPr>
        <p:spPr>
          <a:xfrm>
            <a:off x="1417320" y="2898648"/>
            <a:ext cx="9966960" cy="320040"/>
          </a:xfrm>
          <a:prstGeom prst="rect">
            <a:avLst/>
          </a:prstGeom>
          <a:noFill/>
          <a:ln/>
        </p:spPr>
        <p:txBody>
          <a:bodyPr wrap="square" lIns="0" tIns="0" rIns="0" bIns="0" rtlCol="0" anchor="t"/>
          <a:lstStyle/>
          <a:p>
            <a:pPr marL="0" indent="0">
              <a:buNone/>
            </a:pPr>
            <a:r>
              <a:rPr lang="en-US" sz="1500" dirty="0">
                <a:solidFill>
                  <a:schemeClr val="bg2"/>
                </a:solidFill>
              </a:rPr>
              <a:t>Lighter and faster, with different isolation trade-offs.</a:t>
            </a:r>
            <a:endParaRPr lang="en-US" sz="1500" dirty="0"/>
          </a:p>
        </p:txBody>
      </p:sp>
      <p:sp>
        <p:nvSpPr>
          <p:cNvPr id="10" name="Text 8"/>
          <p:cNvSpPr txBox="1"/>
          <p:nvPr/>
        </p:nvSpPr>
        <p:spPr>
          <a:xfrm>
            <a:off x="731520" y="3392424"/>
            <a:ext cx="548640" cy="731520"/>
          </a:xfrm>
          <a:prstGeom prst="rect">
            <a:avLst/>
          </a:prstGeom>
          <a:noFill/>
          <a:ln/>
        </p:spPr>
        <p:txBody>
          <a:bodyPr wrap="square" lIns="0" tIns="0" rIns="0" bIns="0" rtlCol="0" anchor="ctr"/>
          <a:lstStyle/>
          <a:p>
            <a:pPr marL="0" indent="0">
              <a:buNone/>
            </a:pPr>
            <a:r>
              <a:rPr lang="en-US" sz="3200" b="1" dirty="0">
                <a:solidFill>
                  <a:schemeClr val="accent1"/>
                </a:solidFill>
              </a:rPr>
              <a:t>3</a:t>
            </a:r>
            <a:endParaRPr lang="en-US" sz="3200" dirty="0"/>
          </a:p>
        </p:txBody>
      </p:sp>
      <p:sp>
        <p:nvSpPr>
          <p:cNvPr id="11" name="Text 9"/>
          <p:cNvSpPr txBox="1"/>
          <p:nvPr/>
        </p:nvSpPr>
        <p:spPr>
          <a:xfrm>
            <a:off x="1417320" y="3410712"/>
            <a:ext cx="9966960" cy="384048"/>
          </a:xfrm>
          <a:prstGeom prst="rect">
            <a:avLst/>
          </a:prstGeom>
          <a:noFill/>
          <a:ln/>
        </p:spPr>
        <p:txBody>
          <a:bodyPr wrap="square" lIns="0" tIns="0" rIns="0" bIns="0" rtlCol="0" anchor="t"/>
          <a:lstStyle/>
          <a:p>
            <a:pPr marL="0" indent="0">
              <a:buNone/>
            </a:pPr>
            <a:r>
              <a:rPr lang="en-US" sz="2000" b="1" dirty="0">
                <a:solidFill>
                  <a:schemeClr val="bg1"/>
                </a:solidFill>
              </a:rPr>
              <a:t>Image = template. Container = running instance.</a:t>
            </a:r>
            <a:endParaRPr lang="en-US" sz="2000" dirty="0"/>
          </a:p>
        </p:txBody>
      </p:sp>
      <p:sp>
        <p:nvSpPr>
          <p:cNvPr id="12" name="Text 10"/>
          <p:cNvSpPr txBox="1"/>
          <p:nvPr/>
        </p:nvSpPr>
        <p:spPr>
          <a:xfrm>
            <a:off x="1417320" y="3794760"/>
            <a:ext cx="9966960" cy="320040"/>
          </a:xfrm>
          <a:prstGeom prst="rect">
            <a:avLst/>
          </a:prstGeom>
          <a:noFill/>
          <a:ln/>
        </p:spPr>
        <p:txBody>
          <a:bodyPr wrap="square" lIns="0" tIns="0" rIns="0" bIns="0" rtlCol="0" anchor="t"/>
          <a:lstStyle/>
          <a:p>
            <a:pPr marL="0" indent="0">
              <a:buNone/>
            </a:pPr>
            <a:r>
              <a:rPr lang="en-US" sz="1500" dirty="0">
                <a:solidFill>
                  <a:schemeClr val="bg2"/>
                </a:solidFill>
              </a:rPr>
              <a:t>One image, many containers.</a:t>
            </a:r>
            <a:endParaRPr lang="en-US" sz="1500" dirty="0"/>
          </a:p>
        </p:txBody>
      </p:sp>
      <p:sp>
        <p:nvSpPr>
          <p:cNvPr id="13" name="Text 11"/>
          <p:cNvSpPr txBox="1"/>
          <p:nvPr/>
        </p:nvSpPr>
        <p:spPr>
          <a:xfrm>
            <a:off x="731520" y="4288536"/>
            <a:ext cx="548640" cy="731520"/>
          </a:xfrm>
          <a:prstGeom prst="rect">
            <a:avLst/>
          </a:prstGeom>
          <a:noFill/>
          <a:ln/>
        </p:spPr>
        <p:txBody>
          <a:bodyPr wrap="square" lIns="0" tIns="0" rIns="0" bIns="0" rtlCol="0" anchor="ctr"/>
          <a:lstStyle/>
          <a:p>
            <a:pPr marL="0" indent="0">
              <a:buNone/>
            </a:pPr>
            <a:r>
              <a:rPr lang="en-US" sz="3200" b="1" dirty="0">
                <a:solidFill>
                  <a:schemeClr val="accent2"/>
                </a:solidFill>
              </a:rPr>
              <a:t>4</a:t>
            </a:r>
            <a:endParaRPr lang="en-US" sz="3200" dirty="0"/>
          </a:p>
        </p:txBody>
      </p:sp>
      <p:sp>
        <p:nvSpPr>
          <p:cNvPr id="14" name="Text 12"/>
          <p:cNvSpPr txBox="1"/>
          <p:nvPr/>
        </p:nvSpPr>
        <p:spPr>
          <a:xfrm>
            <a:off x="1417320" y="4306824"/>
            <a:ext cx="9966960" cy="384048"/>
          </a:xfrm>
          <a:prstGeom prst="rect">
            <a:avLst/>
          </a:prstGeom>
          <a:noFill/>
          <a:ln/>
        </p:spPr>
        <p:txBody>
          <a:bodyPr wrap="square" lIns="0" tIns="0" rIns="0" bIns="0" rtlCol="0" anchor="t"/>
          <a:lstStyle/>
          <a:p>
            <a:pPr marL="0" indent="0">
              <a:buNone/>
            </a:pPr>
            <a:r>
              <a:rPr lang="en-US" sz="2000" b="1" dirty="0">
                <a:solidFill>
                  <a:schemeClr val="bg1"/>
                </a:solidFill>
              </a:rPr>
              <a:t>Dockerfiles beat docker commit for real work.</a:t>
            </a:r>
            <a:endParaRPr lang="en-US" sz="2000" dirty="0"/>
          </a:p>
        </p:txBody>
      </p:sp>
      <p:sp>
        <p:nvSpPr>
          <p:cNvPr id="15" name="Text 13"/>
          <p:cNvSpPr txBox="1"/>
          <p:nvPr/>
        </p:nvSpPr>
        <p:spPr>
          <a:xfrm>
            <a:off x="1417320" y="4690872"/>
            <a:ext cx="9966960" cy="320040"/>
          </a:xfrm>
          <a:prstGeom prst="rect">
            <a:avLst/>
          </a:prstGeom>
          <a:noFill/>
          <a:ln/>
        </p:spPr>
        <p:txBody>
          <a:bodyPr wrap="square" lIns="0" tIns="0" rIns="0" bIns="0" rtlCol="0" anchor="t"/>
          <a:lstStyle/>
          <a:p>
            <a:pPr marL="0" indent="0">
              <a:buNone/>
            </a:pPr>
            <a:r>
              <a:rPr lang="en-US" sz="1500" dirty="0">
                <a:solidFill>
                  <a:schemeClr val="bg2"/>
                </a:solidFill>
              </a:rPr>
              <a:t>Written down, reviewed in Git, rebuilt identically.</a:t>
            </a:r>
            <a:endParaRPr lang="en-US" sz="1500" dirty="0"/>
          </a:p>
        </p:txBody>
      </p:sp>
      <p:sp>
        <p:nvSpPr>
          <p:cNvPr id="16" name="Text 14"/>
          <p:cNvSpPr txBox="1"/>
          <p:nvPr/>
        </p:nvSpPr>
        <p:spPr>
          <a:xfrm>
            <a:off x="731520" y="5184648"/>
            <a:ext cx="548640" cy="731520"/>
          </a:xfrm>
          <a:prstGeom prst="rect">
            <a:avLst/>
          </a:prstGeom>
          <a:noFill/>
          <a:ln/>
        </p:spPr>
        <p:txBody>
          <a:bodyPr wrap="square" lIns="0" tIns="0" rIns="0" bIns="0" rtlCol="0" anchor="ctr"/>
          <a:lstStyle/>
          <a:p>
            <a:pPr marL="0" indent="0">
              <a:buNone/>
            </a:pPr>
            <a:r>
              <a:rPr lang="en-US" sz="3200" b="1" dirty="0">
                <a:solidFill>
                  <a:schemeClr val="accent1"/>
                </a:solidFill>
              </a:rPr>
              <a:t>5</a:t>
            </a:r>
            <a:endParaRPr lang="en-US" sz="3200" dirty="0"/>
          </a:p>
        </p:txBody>
      </p:sp>
      <p:sp>
        <p:nvSpPr>
          <p:cNvPr id="17" name="Text 15"/>
          <p:cNvSpPr txBox="1"/>
          <p:nvPr/>
        </p:nvSpPr>
        <p:spPr>
          <a:xfrm>
            <a:off x="1417320" y="5202936"/>
            <a:ext cx="9966960" cy="384048"/>
          </a:xfrm>
          <a:prstGeom prst="rect">
            <a:avLst/>
          </a:prstGeom>
          <a:noFill/>
          <a:ln/>
        </p:spPr>
        <p:txBody>
          <a:bodyPr wrap="square" lIns="0" tIns="0" rIns="0" bIns="0" rtlCol="0" anchor="t"/>
          <a:lstStyle/>
          <a:p>
            <a:pPr marL="0" indent="0">
              <a:buNone/>
            </a:pPr>
            <a:r>
              <a:rPr lang="en-US" sz="2000" b="1" dirty="0">
                <a:solidFill>
                  <a:schemeClr val="bg1"/>
                </a:solidFill>
              </a:rPr>
              <a:t>Small images are faster and safer.</a:t>
            </a:r>
            <a:endParaRPr lang="en-US" sz="2000" dirty="0"/>
          </a:p>
        </p:txBody>
      </p:sp>
      <p:sp>
        <p:nvSpPr>
          <p:cNvPr id="18" name="Text 16"/>
          <p:cNvSpPr txBox="1"/>
          <p:nvPr/>
        </p:nvSpPr>
        <p:spPr>
          <a:xfrm>
            <a:off x="1417320" y="5586984"/>
            <a:ext cx="9966960" cy="320040"/>
          </a:xfrm>
          <a:prstGeom prst="rect">
            <a:avLst/>
          </a:prstGeom>
          <a:noFill/>
          <a:ln/>
        </p:spPr>
        <p:txBody>
          <a:bodyPr wrap="square" lIns="0" tIns="0" rIns="0" bIns="0" rtlCol="0" anchor="t"/>
          <a:lstStyle/>
          <a:p>
            <a:pPr marL="0" indent="0">
              <a:buNone/>
            </a:pPr>
            <a:r>
              <a:rPr lang="en-US" sz="1500" dirty="0">
                <a:solidFill>
                  <a:schemeClr val="bg2"/>
                </a:solidFill>
              </a:rPr>
              <a:t>Slim bases, cache-friendly layers, multi-stage builds.</a:t>
            </a:r>
            <a:endParaRPr lang="en-US" sz="15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84048"/>
            <a:ext cx="9144000" cy="274320"/>
          </a:xfrm>
          <a:prstGeom prst="rect">
            <a:avLst/>
          </a:prstGeom>
          <a:noFill/>
          <a:ln/>
        </p:spPr>
        <p:txBody>
          <a:bodyPr wrap="square" lIns="0" tIns="0" rIns="0" bIns="0" rtlCol="0"/>
          <a:lstStyle/>
          <a:p>
            <a:pPr marL="0" indent="0">
              <a:buNone/>
            </a:pPr>
            <a:r>
              <a:rPr lang="en-US" sz="1200" b="1" kern="0" spc="300" dirty="0">
                <a:solidFill>
                  <a:schemeClr val="accent2"/>
                </a:solidFill>
              </a:rPr>
              <a:t>KNOWLEDGE CHECK</a:t>
            </a:r>
            <a:endParaRPr lang="en-US" sz="1200" dirty="0"/>
          </a:p>
        </p:txBody>
      </p:sp>
      <p:sp>
        <p:nvSpPr>
          <p:cNvPr id="3" name="Text 0"/>
          <p:cNvSpPr>
            <a:spLocks noGrp="1"/>
          </p:cNvSpPr>
          <p:nvPr>
            <p:ph type="title" idx="101" hasCustomPrompt="1"/>
          </p:nvPr>
        </p:nvSpPr>
        <p:spPr>
          <a:xfrm>
            <a:off x="640080" y="658368"/>
            <a:ext cx="10881360" cy="685800"/>
          </a:xfrm>
          <a:prstGeom prst="rect">
            <a:avLst/>
          </a:prstGeom>
          <a:noFill/>
          <a:ln/>
        </p:spPr>
        <p:txBody>
          <a:bodyPr wrap="square" lIns="0" tIns="0" rIns="0" bIns="0" rtlCol="0" anchor="t"/>
          <a:lstStyle/>
          <a:p>
            <a:pPr marL="0" indent="0" algn="l">
              <a:buNone/>
            </a:pPr>
            <a:r>
              <a:rPr lang="en-US" sz="3000" b="1" dirty="0">
                <a:solidFill>
                  <a:schemeClr val="bg1"/>
                </a:solidFill>
              </a:rPr>
              <a:t>Five quick questions</a:t>
            </a:r>
            <a:endParaRPr lang="en-US" sz="3000" dirty="0"/>
          </a:p>
        </p:txBody>
      </p:sp>
      <p:sp>
        <p:nvSpPr>
          <p:cNvPr id="4" name="Shape 2"/>
          <p:cNvSpPr/>
          <p:nvPr/>
        </p:nvSpPr>
        <p:spPr>
          <a:xfrm>
            <a:off x="731520" y="1600200"/>
            <a:ext cx="10698480" cy="731520"/>
          </a:xfrm>
          <a:prstGeom prst="roundRect">
            <a:avLst>
              <a:gd name="adj" fmla="val 12500"/>
            </a:avLst>
          </a:prstGeom>
          <a:solidFill>
            <a:schemeClr val="tx2"/>
          </a:solidFill>
          <a:ln w="12700">
            <a:solidFill>
              <a:schemeClr val="tx2"/>
            </a:solidFill>
            <a:prstDash val="solid"/>
          </a:ln>
        </p:spPr>
      </p:sp>
      <p:sp>
        <p:nvSpPr>
          <p:cNvPr id="5" name="Text 3"/>
          <p:cNvSpPr txBox="1"/>
          <p:nvPr/>
        </p:nvSpPr>
        <p:spPr>
          <a:xfrm>
            <a:off x="960120" y="1600200"/>
            <a:ext cx="731520" cy="731520"/>
          </a:xfrm>
          <a:prstGeom prst="rect">
            <a:avLst/>
          </a:prstGeom>
          <a:noFill/>
          <a:ln/>
        </p:spPr>
        <p:txBody>
          <a:bodyPr wrap="square" lIns="0" tIns="0" rIns="0" bIns="0" rtlCol="0" anchor="ctr"/>
          <a:lstStyle/>
          <a:p>
            <a:pPr marL="0" indent="0">
              <a:buNone/>
            </a:pPr>
            <a:r>
              <a:rPr lang="en-US" sz="1800" b="1" dirty="0">
                <a:solidFill>
                  <a:schemeClr val="accent2"/>
                </a:solidFill>
              </a:rPr>
              <a:t>Q1</a:t>
            </a:r>
            <a:endParaRPr lang="en-US" sz="1800" dirty="0"/>
          </a:p>
        </p:txBody>
      </p:sp>
      <p:sp>
        <p:nvSpPr>
          <p:cNvPr id="6" name="Text 4"/>
          <p:cNvSpPr txBox="1"/>
          <p:nvPr/>
        </p:nvSpPr>
        <p:spPr>
          <a:xfrm>
            <a:off x="1737360" y="1600200"/>
            <a:ext cx="9509760" cy="731520"/>
          </a:xfrm>
          <a:prstGeom prst="rect">
            <a:avLst/>
          </a:prstGeom>
          <a:noFill/>
          <a:ln/>
        </p:spPr>
        <p:txBody>
          <a:bodyPr wrap="square" lIns="0" tIns="0" rIns="0" bIns="0" rtlCol="0" anchor="ctr"/>
          <a:lstStyle/>
          <a:p>
            <a:pPr marL="0" indent="0">
              <a:buNone/>
            </a:pPr>
            <a:r>
              <a:rPr lang="en-US" sz="1900" dirty="0">
                <a:solidFill>
                  <a:schemeClr val="bg1"/>
                </a:solidFill>
              </a:rPr>
              <a:t>What is the difference between an image and a container?</a:t>
            </a:r>
            <a:endParaRPr lang="en-US" sz="1900" dirty="0"/>
          </a:p>
        </p:txBody>
      </p:sp>
      <p:sp>
        <p:nvSpPr>
          <p:cNvPr id="7" name="Shape 5"/>
          <p:cNvSpPr/>
          <p:nvPr/>
        </p:nvSpPr>
        <p:spPr>
          <a:xfrm>
            <a:off x="731520" y="2496312"/>
            <a:ext cx="10698480" cy="731520"/>
          </a:xfrm>
          <a:prstGeom prst="roundRect">
            <a:avLst>
              <a:gd name="adj" fmla="val 12500"/>
            </a:avLst>
          </a:prstGeom>
          <a:solidFill>
            <a:srgbClr val="0B1426"/>
          </a:solidFill>
          <a:ln w="12700">
            <a:solidFill>
              <a:schemeClr val="accent6"/>
            </a:solidFill>
            <a:prstDash val="solid"/>
          </a:ln>
        </p:spPr>
      </p:sp>
      <p:sp>
        <p:nvSpPr>
          <p:cNvPr id="8" name="Text 6"/>
          <p:cNvSpPr txBox="1"/>
          <p:nvPr/>
        </p:nvSpPr>
        <p:spPr>
          <a:xfrm>
            <a:off x="960120" y="2496312"/>
            <a:ext cx="731520" cy="731520"/>
          </a:xfrm>
          <a:prstGeom prst="rect">
            <a:avLst/>
          </a:prstGeom>
          <a:noFill/>
          <a:ln/>
        </p:spPr>
        <p:txBody>
          <a:bodyPr wrap="square" lIns="0" tIns="0" rIns="0" bIns="0" rtlCol="0" anchor="ctr"/>
          <a:lstStyle/>
          <a:p>
            <a:pPr marL="0" indent="0">
              <a:buNone/>
            </a:pPr>
            <a:r>
              <a:rPr lang="en-US" sz="1800" b="1" dirty="0">
                <a:solidFill>
                  <a:schemeClr val="accent2"/>
                </a:solidFill>
              </a:rPr>
              <a:t>Q2</a:t>
            </a:r>
            <a:endParaRPr lang="en-US" sz="1800" dirty="0"/>
          </a:p>
        </p:txBody>
      </p:sp>
      <p:sp>
        <p:nvSpPr>
          <p:cNvPr id="9" name="Text 7"/>
          <p:cNvSpPr txBox="1"/>
          <p:nvPr/>
        </p:nvSpPr>
        <p:spPr>
          <a:xfrm>
            <a:off x="1737360" y="2496312"/>
            <a:ext cx="9509760" cy="731520"/>
          </a:xfrm>
          <a:prstGeom prst="rect">
            <a:avLst/>
          </a:prstGeom>
          <a:noFill/>
          <a:ln/>
        </p:spPr>
        <p:txBody>
          <a:bodyPr wrap="square" lIns="0" tIns="0" rIns="0" bIns="0" rtlCol="0" anchor="ctr"/>
          <a:lstStyle/>
          <a:p>
            <a:pPr marL="0" indent="0">
              <a:buNone/>
            </a:pPr>
            <a:r>
              <a:rPr lang="en-US" sz="1900" dirty="0">
                <a:solidFill>
                  <a:schemeClr val="bg1"/>
                </a:solidFill>
              </a:rPr>
              <a:t>Why can a laptop run more containers than VMs?</a:t>
            </a:r>
            <a:endParaRPr lang="en-US" sz="1900" dirty="0"/>
          </a:p>
        </p:txBody>
      </p:sp>
      <p:sp>
        <p:nvSpPr>
          <p:cNvPr id="10" name="Shape 8"/>
          <p:cNvSpPr/>
          <p:nvPr/>
        </p:nvSpPr>
        <p:spPr>
          <a:xfrm>
            <a:off x="731520" y="3392424"/>
            <a:ext cx="10698480" cy="731520"/>
          </a:xfrm>
          <a:prstGeom prst="roundRect">
            <a:avLst>
              <a:gd name="adj" fmla="val 12500"/>
            </a:avLst>
          </a:prstGeom>
          <a:solidFill>
            <a:schemeClr val="tx2"/>
          </a:solidFill>
          <a:ln w="12700">
            <a:solidFill>
              <a:schemeClr val="tx2"/>
            </a:solidFill>
            <a:prstDash val="solid"/>
          </a:ln>
        </p:spPr>
      </p:sp>
      <p:sp>
        <p:nvSpPr>
          <p:cNvPr id="11" name="Text 9"/>
          <p:cNvSpPr txBox="1"/>
          <p:nvPr/>
        </p:nvSpPr>
        <p:spPr>
          <a:xfrm>
            <a:off x="960120" y="3392424"/>
            <a:ext cx="731520" cy="731520"/>
          </a:xfrm>
          <a:prstGeom prst="rect">
            <a:avLst/>
          </a:prstGeom>
          <a:noFill/>
          <a:ln/>
        </p:spPr>
        <p:txBody>
          <a:bodyPr wrap="square" lIns="0" tIns="0" rIns="0" bIns="0" rtlCol="0" anchor="ctr"/>
          <a:lstStyle/>
          <a:p>
            <a:pPr marL="0" indent="0">
              <a:buNone/>
            </a:pPr>
            <a:r>
              <a:rPr lang="en-US" sz="1800" b="1" dirty="0">
                <a:solidFill>
                  <a:schemeClr val="accent2"/>
                </a:solidFill>
              </a:rPr>
              <a:t>Q3</a:t>
            </a:r>
            <a:endParaRPr lang="en-US" sz="1800" dirty="0"/>
          </a:p>
        </p:txBody>
      </p:sp>
      <p:sp>
        <p:nvSpPr>
          <p:cNvPr id="12" name="Text 10"/>
          <p:cNvSpPr txBox="1"/>
          <p:nvPr/>
        </p:nvSpPr>
        <p:spPr>
          <a:xfrm>
            <a:off x="1737360" y="3392424"/>
            <a:ext cx="9509760" cy="731520"/>
          </a:xfrm>
          <a:prstGeom prst="rect">
            <a:avLst/>
          </a:prstGeom>
          <a:noFill/>
          <a:ln/>
        </p:spPr>
        <p:txBody>
          <a:bodyPr wrap="square" lIns="0" tIns="0" rIns="0" bIns="0" rtlCol="0" anchor="ctr"/>
          <a:lstStyle/>
          <a:p>
            <a:pPr marL="0" indent="0">
              <a:buNone/>
            </a:pPr>
            <a:r>
              <a:rPr lang="en-US" sz="1900" dirty="0">
                <a:solidFill>
                  <a:schemeClr val="bg1"/>
                </a:solidFill>
              </a:rPr>
              <a:t>What does docker ps -a show that docker ps doesn’t?</a:t>
            </a:r>
            <a:endParaRPr lang="en-US" sz="1900" dirty="0"/>
          </a:p>
        </p:txBody>
      </p:sp>
      <p:sp>
        <p:nvSpPr>
          <p:cNvPr id="13" name="Shape 11"/>
          <p:cNvSpPr/>
          <p:nvPr/>
        </p:nvSpPr>
        <p:spPr>
          <a:xfrm>
            <a:off x="731520" y="4288536"/>
            <a:ext cx="10698480" cy="731520"/>
          </a:xfrm>
          <a:prstGeom prst="roundRect">
            <a:avLst>
              <a:gd name="adj" fmla="val 12500"/>
            </a:avLst>
          </a:prstGeom>
          <a:solidFill>
            <a:srgbClr val="0B1426"/>
          </a:solidFill>
          <a:ln w="12700">
            <a:solidFill>
              <a:schemeClr val="accent6"/>
            </a:solidFill>
            <a:prstDash val="solid"/>
          </a:ln>
        </p:spPr>
      </p:sp>
      <p:sp>
        <p:nvSpPr>
          <p:cNvPr id="14" name="Text 12"/>
          <p:cNvSpPr txBox="1"/>
          <p:nvPr/>
        </p:nvSpPr>
        <p:spPr>
          <a:xfrm>
            <a:off x="960120" y="4288536"/>
            <a:ext cx="731520" cy="731520"/>
          </a:xfrm>
          <a:prstGeom prst="rect">
            <a:avLst/>
          </a:prstGeom>
          <a:noFill/>
          <a:ln/>
        </p:spPr>
        <p:txBody>
          <a:bodyPr wrap="square" lIns="0" tIns="0" rIns="0" bIns="0" rtlCol="0" anchor="ctr"/>
          <a:lstStyle/>
          <a:p>
            <a:pPr marL="0" indent="0">
              <a:buNone/>
            </a:pPr>
            <a:r>
              <a:rPr lang="en-US" sz="1800" b="1" dirty="0">
                <a:solidFill>
                  <a:schemeClr val="accent2"/>
                </a:solidFill>
              </a:rPr>
              <a:t>Q4</a:t>
            </a:r>
            <a:endParaRPr lang="en-US" sz="1800" dirty="0"/>
          </a:p>
        </p:txBody>
      </p:sp>
      <p:sp>
        <p:nvSpPr>
          <p:cNvPr id="15" name="Text 13"/>
          <p:cNvSpPr txBox="1"/>
          <p:nvPr/>
        </p:nvSpPr>
        <p:spPr>
          <a:xfrm>
            <a:off x="1737360" y="4288536"/>
            <a:ext cx="9509760" cy="731520"/>
          </a:xfrm>
          <a:prstGeom prst="rect">
            <a:avLst/>
          </a:prstGeom>
          <a:noFill/>
          <a:ln/>
        </p:spPr>
        <p:txBody>
          <a:bodyPr wrap="square" lIns="0" tIns="0" rIns="0" bIns="0" rtlCol="0" anchor="ctr"/>
          <a:lstStyle/>
          <a:p>
            <a:pPr marL="0" indent="0">
              <a:buNone/>
            </a:pPr>
            <a:r>
              <a:rPr lang="en-US" sz="1900" dirty="0">
                <a:solidFill>
                  <a:schemeClr val="bg1"/>
                </a:solidFill>
              </a:rPr>
              <a:t>Why is a Dockerfile better than docker commit?</a:t>
            </a:r>
            <a:endParaRPr lang="en-US" sz="1900" dirty="0"/>
          </a:p>
        </p:txBody>
      </p:sp>
      <p:sp>
        <p:nvSpPr>
          <p:cNvPr id="16" name="Shape 14"/>
          <p:cNvSpPr/>
          <p:nvPr/>
        </p:nvSpPr>
        <p:spPr>
          <a:xfrm>
            <a:off x="731520" y="5184648"/>
            <a:ext cx="10698480" cy="731520"/>
          </a:xfrm>
          <a:prstGeom prst="roundRect">
            <a:avLst>
              <a:gd name="adj" fmla="val 12500"/>
            </a:avLst>
          </a:prstGeom>
          <a:solidFill>
            <a:schemeClr val="tx2"/>
          </a:solidFill>
          <a:ln w="12700">
            <a:solidFill>
              <a:schemeClr val="tx2"/>
            </a:solidFill>
            <a:prstDash val="solid"/>
          </a:ln>
        </p:spPr>
      </p:sp>
      <p:sp>
        <p:nvSpPr>
          <p:cNvPr id="17" name="Text 15"/>
          <p:cNvSpPr txBox="1"/>
          <p:nvPr/>
        </p:nvSpPr>
        <p:spPr>
          <a:xfrm>
            <a:off x="960120" y="5184648"/>
            <a:ext cx="731520" cy="731520"/>
          </a:xfrm>
          <a:prstGeom prst="rect">
            <a:avLst/>
          </a:prstGeom>
          <a:noFill/>
          <a:ln/>
        </p:spPr>
        <p:txBody>
          <a:bodyPr wrap="square" lIns="0" tIns="0" rIns="0" bIns="0" rtlCol="0" anchor="ctr"/>
          <a:lstStyle/>
          <a:p>
            <a:pPr marL="0" indent="0">
              <a:buNone/>
            </a:pPr>
            <a:r>
              <a:rPr lang="en-US" sz="1800" b="1" dirty="0">
                <a:solidFill>
                  <a:schemeClr val="accent2"/>
                </a:solidFill>
              </a:rPr>
              <a:t>Q5</a:t>
            </a:r>
            <a:endParaRPr lang="en-US" sz="1800" dirty="0"/>
          </a:p>
        </p:txBody>
      </p:sp>
      <p:sp>
        <p:nvSpPr>
          <p:cNvPr id="18" name="Text 16"/>
          <p:cNvSpPr txBox="1"/>
          <p:nvPr/>
        </p:nvSpPr>
        <p:spPr>
          <a:xfrm>
            <a:off x="1737360" y="5184648"/>
            <a:ext cx="9509760" cy="731520"/>
          </a:xfrm>
          <a:prstGeom prst="rect">
            <a:avLst/>
          </a:prstGeom>
          <a:noFill/>
          <a:ln/>
        </p:spPr>
        <p:txBody>
          <a:bodyPr wrap="square" lIns="0" tIns="0" rIns="0" bIns="0" rtlCol="0" anchor="ctr"/>
          <a:lstStyle/>
          <a:p>
            <a:pPr marL="0" indent="0">
              <a:buNone/>
            </a:pPr>
            <a:r>
              <a:rPr lang="en-US" sz="1900" dirty="0">
                <a:solidFill>
                  <a:schemeClr val="bg1"/>
                </a:solidFill>
              </a:rPr>
              <a:t>What does COPY --from=builder do?</a:t>
            </a:r>
            <a:endParaRPr lang="en-US" sz="1900" dirty="0"/>
          </a:p>
        </p:txBody>
      </p:sp>
      <p:sp>
        <p:nvSpPr>
          <p:cNvPr id="25" name="Slide Number Placeholder 0"/>
          <p:cNvSpPr>
            <a:spLocks noGrp="1"/>
          </p:cNvSpPr>
          <p:nvPr>
            <p:ph type="sldNum" sz="quarter" idx="4294967295"/>
          </p:nvPr>
        </p:nvSpPr>
        <p:spPr>
          <a:xfrm>
            <a:off x="10972800" y="6400800"/>
            <a:ext cx="57607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80A0"/>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motif-end-0"/>
          <p:cNvSpPr/>
          <p:nvPr/>
        </p:nvSpPr>
        <p:spPr>
          <a:xfrm>
            <a:off x="8823960" y="1417320"/>
            <a:ext cx="1051560" cy="713232"/>
          </a:xfrm>
          <a:prstGeom prst="roundRect">
            <a:avLst>
              <a:gd name="adj" fmla="val 10256"/>
            </a:avLst>
          </a:prstGeom>
          <a:solidFill>
            <a:srgbClr val="0B1426"/>
          </a:solidFill>
          <a:ln w="28575">
            <a:solidFill>
              <a:schemeClr val="accent6"/>
            </a:solidFill>
            <a:prstDash val="solid"/>
          </a:ln>
        </p:spPr>
      </p:sp>
      <p:sp>
        <p:nvSpPr>
          <p:cNvPr id="3" name="motif-end-1"/>
          <p:cNvSpPr/>
          <p:nvPr/>
        </p:nvSpPr>
        <p:spPr>
          <a:xfrm>
            <a:off x="8229600" y="2286000"/>
            <a:ext cx="1051560" cy="713232"/>
          </a:xfrm>
          <a:prstGeom prst="roundRect">
            <a:avLst>
              <a:gd name="adj" fmla="val 10256"/>
            </a:avLst>
          </a:prstGeom>
          <a:solidFill>
            <a:srgbClr val="0B1426"/>
          </a:solidFill>
          <a:ln w="28575">
            <a:solidFill>
              <a:schemeClr val="accent6"/>
            </a:solidFill>
            <a:prstDash val="solid"/>
          </a:ln>
        </p:spPr>
      </p:sp>
      <p:sp>
        <p:nvSpPr>
          <p:cNvPr id="4" name="motif-end-2"/>
          <p:cNvSpPr/>
          <p:nvPr/>
        </p:nvSpPr>
        <p:spPr>
          <a:xfrm>
            <a:off x="9418320" y="2286000"/>
            <a:ext cx="1051560" cy="713232"/>
          </a:xfrm>
          <a:prstGeom prst="roundRect">
            <a:avLst>
              <a:gd name="adj" fmla="val 10256"/>
            </a:avLst>
          </a:prstGeom>
          <a:solidFill>
            <a:srgbClr val="0B1426"/>
          </a:solidFill>
          <a:ln w="28575">
            <a:solidFill>
              <a:schemeClr val="accent6"/>
            </a:solidFill>
            <a:prstDash val="solid"/>
          </a:ln>
        </p:spPr>
      </p:sp>
      <p:sp>
        <p:nvSpPr>
          <p:cNvPr id="5" name="motif-end-3"/>
          <p:cNvSpPr/>
          <p:nvPr/>
        </p:nvSpPr>
        <p:spPr>
          <a:xfrm>
            <a:off x="7635240" y="3154680"/>
            <a:ext cx="1051560" cy="713232"/>
          </a:xfrm>
          <a:prstGeom prst="roundRect">
            <a:avLst>
              <a:gd name="adj" fmla="val 10256"/>
            </a:avLst>
          </a:prstGeom>
          <a:solidFill>
            <a:schemeClr val="accent5"/>
          </a:solidFill>
          <a:ln w="28575">
            <a:solidFill>
              <a:schemeClr val="accent1"/>
            </a:solidFill>
            <a:prstDash val="solid"/>
          </a:ln>
        </p:spPr>
      </p:sp>
      <p:sp>
        <p:nvSpPr>
          <p:cNvPr id="6" name="motif-end-4"/>
          <p:cNvSpPr/>
          <p:nvPr/>
        </p:nvSpPr>
        <p:spPr>
          <a:xfrm>
            <a:off x="8823960" y="3154680"/>
            <a:ext cx="1051560" cy="713232"/>
          </a:xfrm>
          <a:prstGeom prst="roundRect">
            <a:avLst>
              <a:gd name="adj" fmla="val 10256"/>
            </a:avLst>
          </a:prstGeom>
          <a:solidFill>
            <a:srgbClr val="0B1426"/>
          </a:solidFill>
          <a:ln w="28575">
            <a:solidFill>
              <a:schemeClr val="accent2"/>
            </a:solidFill>
            <a:prstDash val="solid"/>
          </a:ln>
        </p:spPr>
      </p:sp>
      <p:sp>
        <p:nvSpPr>
          <p:cNvPr id="7" name="motif-end-5"/>
          <p:cNvSpPr/>
          <p:nvPr/>
        </p:nvSpPr>
        <p:spPr>
          <a:xfrm>
            <a:off x="10012680" y="3154680"/>
            <a:ext cx="1051560" cy="713232"/>
          </a:xfrm>
          <a:prstGeom prst="roundRect">
            <a:avLst>
              <a:gd name="adj" fmla="val 10256"/>
            </a:avLst>
          </a:prstGeom>
          <a:solidFill>
            <a:srgbClr val="0B1426"/>
          </a:solidFill>
          <a:ln w="28575">
            <a:solidFill>
              <a:schemeClr val="accent6"/>
            </a:solidFill>
            <a:prstDash val="solid"/>
          </a:ln>
        </p:spPr>
      </p:sp>
      <p:sp>
        <p:nvSpPr>
          <p:cNvPr id="8" name="Shape 6"/>
          <p:cNvSpPr/>
          <p:nvPr/>
        </p:nvSpPr>
        <p:spPr>
          <a:xfrm>
            <a:off x="7635240" y="4023360"/>
            <a:ext cx="3429000" cy="64008"/>
          </a:xfrm>
          <a:prstGeom prst="roundRect">
            <a:avLst>
              <a:gd name="adj" fmla="val 42857"/>
            </a:avLst>
          </a:prstGeom>
          <a:solidFill>
            <a:schemeClr val="accent6"/>
          </a:solidFill>
          <a:ln w="12700">
            <a:solidFill>
              <a:schemeClr val="accent6"/>
            </a:solidFill>
            <a:prstDash val="solid"/>
          </a:ln>
        </p:spPr>
      </p:sp>
      <p:sp>
        <p:nvSpPr>
          <p:cNvPr id="9" name="Text 7"/>
          <p:cNvSpPr txBox="1"/>
          <p:nvPr/>
        </p:nvSpPr>
        <p:spPr>
          <a:xfrm>
            <a:off x="731520" y="1554480"/>
            <a:ext cx="5486400" cy="365760"/>
          </a:xfrm>
          <a:prstGeom prst="rect">
            <a:avLst/>
          </a:prstGeom>
          <a:noFill/>
          <a:ln/>
        </p:spPr>
        <p:txBody>
          <a:bodyPr wrap="square" lIns="0" tIns="0" rIns="0" bIns="0" rtlCol="0" anchor="t"/>
          <a:lstStyle/>
          <a:p>
            <a:pPr marL="0" indent="0">
              <a:buNone/>
            </a:pPr>
            <a:r>
              <a:rPr lang="en-US" sz="1400" b="1" kern="0" spc="400" dirty="0">
                <a:solidFill>
                  <a:schemeClr val="accent2"/>
                </a:solidFill>
              </a:rPr>
              <a:t>DAY 1 COMPLETE</a:t>
            </a:r>
            <a:endParaRPr lang="en-US" sz="1400" dirty="0"/>
          </a:p>
        </p:txBody>
      </p:sp>
      <p:sp>
        <p:nvSpPr>
          <p:cNvPr id="10" name="Text 8"/>
          <p:cNvSpPr txBox="1"/>
          <p:nvPr/>
        </p:nvSpPr>
        <p:spPr>
          <a:xfrm>
            <a:off x="731520" y="2011680"/>
            <a:ext cx="6766560" cy="1188720"/>
          </a:xfrm>
          <a:prstGeom prst="rect">
            <a:avLst/>
          </a:prstGeom>
          <a:noFill/>
          <a:ln/>
        </p:spPr>
        <p:txBody>
          <a:bodyPr wrap="square" lIns="0" tIns="0" rIns="0" bIns="0" rtlCol="0" anchor="t"/>
          <a:lstStyle/>
          <a:p>
            <a:pPr marL="0" indent="0">
              <a:buNone/>
            </a:pPr>
            <a:r>
              <a:rPr lang="en-US" sz="6000" b="1" dirty="0">
                <a:solidFill>
                  <a:schemeClr val="bg1"/>
                </a:solidFill>
                <a:latin typeface="Segoe UI Semibold" pitchFamily="34" charset="0"/>
                <a:ea typeface="Segoe UI Semibold" pitchFamily="34" charset="-122"/>
                <a:cs typeface="Segoe UI Semibold" pitchFamily="34" charset="-120"/>
              </a:rPr>
              <a:t>Any questions?</a:t>
            </a:r>
            <a:endParaRPr lang="en-US" sz="6000" dirty="0"/>
          </a:p>
        </p:txBody>
      </p:sp>
      <p:sp>
        <p:nvSpPr>
          <p:cNvPr id="11" name="Text 9"/>
          <p:cNvSpPr txBox="1"/>
          <p:nvPr/>
        </p:nvSpPr>
        <p:spPr>
          <a:xfrm>
            <a:off x="731520" y="3429000"/>
            <a:ext cx="6309360" cy="914400"/>
          </a:xfrm>
          <a:prstGeom prst="rect">
            <a:avLst/>
          </a:prstGeom>
          <a:noFill/>
          <a:ln/>
        </p:spPr>
        <p:txBody>
          <a:bodyPr wrap="square" lIns="0" tIns="0" rIns="0" bIns="0" rtlCol="0" anchor="t"/>
          <a:lstStyle/>
          <a:p>
            <a:pPr marL="0" indent="0">
              <a:buNone/>
            </a:pPr>
            <a:r>
              <a:rPr lang="en-US" sz="1900" i="1" dirty="0">
                <a:solidFill>
                  <a:schemeClr val="bg2"/>
                </a:solidFill>
              </a:rPr>
              <a:t>“You learn it by breaking it.” Today you broke, fixed and shipped real containers.</a:t>
            </a:r>
            <a:endParaRPr lang="en-US" sz="1900" dirty="0"/>
          </a:p>
        </p:txBody>
      </p:sp>
      <p:sp>
        <p:nvSpPr>
          <p:cNvPr id="12" name="Text 10"/>
          <p:cNvSpPr txBox="1"/>
          <p:nvPr/>
        </p:nvSpPr>
        <p:spPr>
          <a:xfrm>
            <a:off x="731520" y="5349240"/>
            <a:ext cx="6400800" cy="685800"/>
          </a:xfrm>
          <a:prstGeom prst="rect">
            <a:avLst/>
          </a:prstGeom>
          <a:noFill/>
          <a:ln/>
        </p:spPr>
        <p:txBody>
          <a:bodyPr wrap="square" lIns="0" tIns="0" rIns="0" bIns="0" rtlCol="0" anchor="t"/>
          <a:lstStyle/>
          <a:p>
            <a:pPr marL="0" indent="0">
              <a:buNone/>
            </a:pPr>
            <a:r>
              <a:rPr lang="en-US" sz="1500" b="1" dirty="0">
                <a:solidFill>
                  <a:schemeClr val="bg1"/>
                </a:solidFill>
              </a:rPr>
              <a:t>Vijay Inguva</a:t>
            </a:r>
            <a:endParaRPr lang="en-US" sz="1500" dirty="0"/>
          </a:p>
          <a:p>
            <a:pPr marL="0" indent="0">
              <a:buNone/>
            </a:pPr>
            <a:r>
              <a:rPr lang="en-US" sz="1500" dirty="0">
                <a:solidFill>
                  <a:schemeClr val="bg2"/>
                </a:solidFill>
              </a:rPr>
              <a:t>IT Architect  |  DevOps Lead  |  Deployment SME</a:t>
            </a:r>
            <a:endParaRPr lang="en-US" sz="1500" dirty="0"/>
          </a:p>
        </p:txBody>
      </p:sp>
    </p:spTree>
  </p:cSld>
  <p:clrMapOvr>
    <a:masterClrMapping/>
  </p:clrMapOvr>
</p:sld>
</file>

<file path=ppt/theme/theme1.xml><?xml version="1.0" encoding="utf-8"?>
<a:theme xmlns:a="http://schemas.openxmlformats.org/drawingml/2006/main" name="Docker Day 1">
  <a:themeElements>
    <a:clrScheme name="Docker Day 1">
      <a:dk1>
        <a:srgbClr val="0B1426"/>
      </a:dk1>
      <a:lt1>
        <a:srgbClr val="F1F5FB"/>
      </a:lt1>
      <a:dk2>
        <a:srgbClr val="13203A"/>
      </a:dk2>
      <a:lt2>
        <a:srgbClr val="A9B8D0"/>
      </a:lt2>
      <a:accent1>
        <a:srgbClr val="2496ED"/>
      </a:accent1>
      <a:accent2>
        <a:srgbClr val="14C8B0"/>
      </a:accent2>
      <a:accent3>
        <a:srgbClr val="F5A524"/>
      </a:accent3>
      <a:accent4>
        <a:srgbClr val="F26D6D"/>
      </a:accent4>
      <a:accent5>
        <a:srgbClr val="1A2B4C"/>
      </a:accent5>
      <a:accent6>
        <a:srgbClr val="2A3D63"/>
      </a:accent6>
      <a:hlink>
        <a:srgbClr val="4FB3FF"/>
      </a:hlink>
      <a:folHlink>
        <a:srgbClr val="8FA8D6"/>
      </a:folHlink>
    </a:clrScheme>
    <a:fontScheme name="Docker Day 1">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8527</Words>
  <Application>Microsoft Office PowerPoint</Application>
  <PresentationFormat>Widescreen</PresentationFormat>
  <Paragraphs>1031</Paragraphs>
  <Slides>51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Consolas</vt:lpstr>
      <vt:lpstr>Segoe UI</vt:lpstr>
      <vt:lpstr>Segoe UI Semibold</vt:lpstr>
      <vt:lpstr>Docker Day 1</vt:lpstr>
      <vt:lpstr>PowerPoint Presentation</vt:lpstr>
      <vt:lpstr>About Me</vt:lpstr>
      <vt:lpstr>What do you already know?</vt:lpstr>
      <vt:lpstr>From the problem to a working, optimized container</vt:lpstr>
      <vt:lpstr>By the end of today, you will be able to…</vt:lpstr>
      <vt:lpstr>Why containers?</vt:lpstr>
      <vt:lpstr>One server, many apps, many headaches</vt:lpstr>
      <vt:lpstr>The famous line: “It works on my machine”</vt:lpstr>
      <vt:lpstr>How application deployment evolved</vt:lpstr>
      <vt:lpstr>The road to Docker</vt:lpstr>
      <vt:lpstr>Containers and virtual machines</vt:lpstr>
      <vt:lpstr>The simplest possible definition</vt:lpstr>
      <vt:lpstr>Containers share the host kernel</vt:lpstr>
      <vt:lpstr>Virtual machine vs container architecture</vt:lpstr>
      <vt:lpstr>Separate houses vs apartments in one building</vt:lpstr>
      <vt:lpstr>Side by side</vt:lpstr>
      <vt:lpstr>Docker fundamentals</vt:lpstr>
      <vt:lpstr>One box that runs the same way everywhere</vt:lpstr>
      <vt:lpstr>Containers existed. So why Docker?</vt:lpstr>
      <vt:lpstr>Five parts, one platform</vt:lpstr>
      <vt:lpstr>How the pieces talk to each other</vt:lpstr>
      <vt:lpstr>What if the Docker daemon goes down?</vt:lpstr>
      <vt:lpstr>From your laptop to any machine</vt:lpstr>
      <vt:lpstr>Ten Docker terms you will hear all day</vt:lpstr>
      <vt:lpstr>Docker’s alternatives, by the part they replace</vt:lpstr>
      <vt:lpstr>The container lifecycle</vt:lpstr>
      <vt:lpstr>The five states of a container</vt:lpstr>
      <vt:lpstr>Every state has a command</vt:lpstr>
      <vt:lpstr>Walk a web server through every state</vt:lpstr>
      <vt:lpstr>Docker images</vt:lpstr>
      <vt:lpstr>A read-only stack of layers</vt:lpstr>
      <vt:lpstr>Build → tag → push → pull → run</vt:lpstr>
      <vt:lpstr>Two ways to create an image, one way to share it</vt:lpstr>
      <vt:lpstr>Write the recipe, build the image</vt:lpstr>
      <vt:lpstr>Snapshot a container you changed by hand</vt:lpstr>
      <vt:lpstr>docker commit, step by step</vt:lpstr>
      <vt:lpstr>Four demos, four reasons industry uses Docker</vt:lpstr>
      <vt:lpstr>Git and GitHub</vt:lpstr>
      <vt:lpstr>Four places your work lives</vt:lpstr>
      <vt:lpstr>One-time setup, then start a repository</vt:lpstr>
      <vt:lpstr>Add, commit, push, pull</vt:lpstr>
      <vt:lpstr>Branch, merge, and undo safely</vt:lpstr>
      <vt:lpstr>Where Git fits in a Docker workflow</vt:lpstr>
      <vt:lpstr>Image optimization</vt:lpstr>
      <vt:lpstr>Same app, smaller box, fewer problems</vt:lpstr>
      <vt:lpstr>Change the Dockerfile, not the app</vt:lpstr>
      <vt:lpstr>Build in one stage, ship only the result</vt:lpstr>
      <vt:lpstr>The Dockerfile behind the picture</vt:lpstr>
      <vt:lpstr>If you remember only five things</vt:lpstr>
      <vt:lpstr>Five quick questions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Day 1: from Zero to Container</dc:title>
  <dc:subject>PptxGenJS Presentation</dc:subject>
  <dc:creator>Vijay Inguva</dc:creator>
  <cp:lastModifiedBy>Bhargav Adari</cp:lastModifiedBy>
  <cp:revision>3</cp:revision>
  <dcterms:created xsi:type="dcterms:W3CDTF">2026-10-25T17:06:44Z</dcterms:created>
  <dcterms:modified xsi:type="dcterms:W3CDTF">2026-10-26T01:42:05Z</dcterms:modified>
</cp:coreProperties>
</file>